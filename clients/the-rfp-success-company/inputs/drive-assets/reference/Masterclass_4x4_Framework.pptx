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entation.xml" ContentType="application/vnd.openxmlformats-officedocument.presentationml.presentation.main+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26.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256" r:id="rId2"/>
    <p:sldId id="257" r:id="rId3"/>
    <p:sldId id="361" r:id="rId4"/>
    <p:sldId id="263" r:id="rId5"/>
    <p:sldId id="273" r:id="rId6"/>
    <p:sldId id="274" r:id="rId7"/>
    <p:sldId id="360" r:id="rId8"/>
    <p:sldId id="397" r:id="rId9"/>
    <p:sldId id="399" r:id="rId10"/>
    <p:sldId id="398" r:id="rId11"/>
    <p:sldId id="400" r:id="rId12"/>
    <p:sldId id="401" r:id="rId13"/>
    <p:sldId id="402" r:id="rId14"/>
    <p:sldId id="403" r:id="rId15"/>
    <p:sldId id="258" r:id="rId16"/>
    <p:sldId id="405" r:id="rId17"/>
    <p:sldId id="406" r:id="rId18"/>
    <p:sldId id="418" r:id="rId19"/>
    <p:sldId id="278" r:id="rId20"/>
    <p:sldId id="309" r:id="rId21"/>
    <p:sldId id="310" r:id="rId22"/>
    <p:sldId id="419" r:id="rId23"/>
    <p:sldId id="420" r:id="rId24"/>
    <p:sldId id="422" r:id="rId25"/>
    <p:sldId id="423" r:id="rId26"/>
    <p:sldId id="425" r:id="rId27"/>
    <p:sldId id="404" r:id="rId28"/>
    <p:sldId id="424" r:id="rId29"/>
    <p:sldId id="365" r:id="rId30"/>
    <p:sldId id="410" r:id="rId31"/>
    <p:sldId id="430" r:id="rId32"/>
    <p:sldId id="431" r:id="rId33"/>
    <p:sldId id="432" r:id="rId34"/>
    <p:sldId id="442" r:id="rId35"/>
    <p:sldId id="428" r:id="rId36"/>
    <p:sldId id="429" r:id="rId37"/>
    <p:sldId id="368" r:id="rId38"/>
    <p:sldId id="353" r:id="rId39"/>
    <p:sldId id="433" r:id="rId40"/>
    <p:sldId id="434" r:id="rId41"/>
    <p:sldId id="435" r:id="rId42"/>
    <p:sldId id="349" r:id="rId43"/>
    <p:sldId id="394" r:id="rId44"/>
    <p:sldId id="371" r:id="rId45"/>
    <p:sldId id="355" r:id="rId46"/>
    <p:sldId id="436" r:id="rId47"/>
    <p:sldId id="437" r:id="rId48"/>
    <p:sldId id="438" r:id="rId49"/>
    <p:sldId id="395" r:id="rId50"/>
    <p:sldId id="426" r:id="rId51"/>
    <p:sldId id="374" r:id="rId52"/>
    <p:sldId id="354" r:id="rId53"/>
    <p:sldId id="439" r:id="rId54"/>
    <p:sldId id="440" r:id="rId55"/>
    <p:sldId id="441" r:id="rId56"/>
    <p:sldId id="396" r:id="rId57"/>
    <p:sldId id="427" r:id="rId58"/>
    <p:sldId id="363" r:id="rId59"/>
    <p:sldId id="411" r:id="rId60"/>
    <p:sldId id="412" r:id="rId61"/>
    <p:sldId id="413" r:id="rId62"/>
    <p:sldId id="272" r:id="rId63"/>
    <p:sldId id="415" r:id="rId64"/>
    <p:sldId id="414" r:id="rId65"/>
    <p:sldId id="416" r:id="rId66"/>
    <p:sldId id="417" r:id="rId67"/>
  </p:sldIdLst>
  <p:sldSz cx="12192000" cy="6858000"/>
  <p:notesSz cx="7077075" cy="9363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66"/>
    <a:srgbClr val="0BB2AF"/>
    <a:srgbClr val="FF440B"/>
    <a:srgbClr val="E0E0E0"/>
    <a:srgbClr val="4D4D4D"/>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7022B3-D7EF-4C40-AD81-FF4AB49C971E}" v="6" dt="2026-02-11T16:55:55.696"/>
  </p1510:revLst>
</p1510:revInfo>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2" autoAdjust="0"/>
    <p:restoredTop sz="73364" autoAdjust="0"/>
  </p:normalViewPr>
  <p:slideViewPr>
    <p:cSldViewPr snapToGrid="0" snapToObjects="1">
      <p:cViewPr varScale="1">
        <p:scale>
          <a:sx n="118" d="100"/>
          <a:sy n="118" d="100"/>
        </p:scale>
        <p:origin x="157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ustomXml" Target="../customXml/item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75"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ustomXml" Target="../customXml/item3.xml"/><Relationship Id="rId7" Type="http://schemas.openxmlformats.org/officeDocument/2006/relationships/slide" Target="slides/slide6.xml"/><Relationship Id="rId7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idx="1"/>
          </p:nvPr>
        </p:nvSpPr>
        <p:spPr>
          <a:xfrm>
            <a:off x="4008705" y="0"/>
            <a:ext cx="3066733" cy="469780"/>
          </a:xfrm>
          <a:prstGeom prst="rect">
            <a:avLst/>
          </a:prstGeom>
        </p:spPr>
        <p:txBody>
          <a:bodyPr vert="horz" lIns="93936" tIns="46968" rIns="93936" bIns="46968" rtlCol="0"/>
          <a:lstStyle>
            <a:lvl1pPr algn="r">
              <a:defRPr sz="1200"/>
            </a:lvl1pPr>
          </a:lstStyle>
          <a:p>
            <a:fld id="{5110C6FF-E285-C24B-8D13-5A4F0732E07E}" type="datetimeFigureOut">
              <a:rPr lang="en-US" smtClean="0"/>
              <a:t>2/15/2026</a:t>
            </a:fld>
            <a:endParaRPr lang="en-US" dirty="0"/>
          </a:p>
        </p:txBody>
      </p:sp>
      <p:sp>
        <p:nvSpPr>
          <p:cNvPr id="4" name="Slide Image Placeholder 3"/>
          <p:cNvSpPr>
            <a:spLocks noGrp="1" noRot="1" noChangeAspect="1"/>
          </p:cNvSpPr>
          <p:nvPr>
            <p:ph type="sldImg" idx="2"/>
          </p:nvPr>
        </p:nvSpPr>
        <p:spPr>
          <a:xfrm>
            <a:off x="728663" y="1169988"/>
            <a:ext cx="5619750" cy="3160712"/>
          </a:xfrm>
          <a:prstGeom prst="rect">
            <a:avLst/>
          </a:prstGeom>
          <a:noFill/>
          <a:ln w="12700">
            <a:solidFill>
              <a:prstClr val="black"/>
            </a:solidFill>
          </a:ln>
        </p:spPr>
        <p:txBody>
          <a:bodyPr vert="horz" lIns="93936" tIns="46968" rIns="93936" bIns="46968" rtlCol="0" anchor="ctr"/>
          <a:lstStyle/>
          <a:p>
            <a:endParaRPr lang="en-US" dirty="0"/>
          </a:p>
        </p:txBody>
      </p:sp>
      <p:sp>
        <p:nvSpPr>
          <p:cNvPr id="5" name="Notes Placeholder 4"/>
          <p:cNvSpPr>
            <a:spLocks noGrp="1"/>
          </p:cNvSpPr>
          <p:nvPr>
            <p:ph type="body" sz="quarter" idx="3"/>
          </p:nvPr>
        </p:nvSpPr>
        <p:spPr>
          <a:xfrm>
            <a:off x="707708" y="4505980"/>
            <a:ext cx="5661660" cy="3686711"/>
          </a:xfrm>
          <a:prstGeom prst="rect">
            <a:avLst/>
          </a:prstGeom>
        </p:spPr>
        <p:txBody>
          <a:bodyPr vert="horz" lIns="93936" tIns="46968" rIns="93936" bIns="469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08705" y="8893297"/>
            <a:ext cx="3066733" cy="469779"/>
          </a:xfrm>
          <a:prstGeom prst="rect">
            <a:avLst/>
          </a:prstGeom>
        </p:spPr>
        <p:txBody>
          <a:bodyPr vert="horz" lIns="93936" tIns="46968" rIns="93936" bIns="46968" rtlCol="0" anchor="b"/>
          <a:lstStyle>
            <a:lvl1pPr algn="r">
              <a:defRPr sz="1200"/>
            </a:lvl1pPr>
          </a:lstStyle>
          <a:p>
            <a:fld id="{C39C17B8-51EA-3447-9B6D-3E1865D39FBF}" type="slidenum">
              <a:rPr lang="en-US" smtClean="0"/>
              <a:t>‹#›</a:t>
            </a:fld>
            <a:endParaRPr lang="en-US" dirty="0"/>
          </a:p>
        </p:txBody>
      </p:sp>
    </p:spTree>
    <p:extLst>
      <p:ext uri="{BB962C8B-B14F-4D97-AF65-F5344CB8AC3E}">
        <p14:creationId xmlns:p14="http://schemas.microsoft.com/office/powerpoint/2010/main" val="426387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t>
            </a:r>
          </a:p>
          <a:p>
            <a:r>
              <a:rPr lang="en-US" dirty="0"/>
              <a:t>The four attributes of winning RFP teams</a:t>
            </a:r>
          </a:p>
        </p:txBody>
      </p:sp>
      <p:sp>
        <p:nvSpPr>
          <p:cNvPr id="4" name="Slide Number Placeholder 3"/>
          <p:cNvSpPr>
            <a:spLocks noGrp="1"/>
          </p:cNvSpPr>
          <p:nvPr>
            <p:ph type="sldNum" sz="quarter" idx="5"/>
          </p:nvPr>
        </p:nvSpPr>
        <p:spPr/>
        <p:txBody>
          <a:bodyPr/>
          <a:lstStyle/>
          <a:p>
            <a:fld id="{C39C17B8-51EA-3447-9B6D-3E1865D39FBF}" type="slidenum">
              <a:rPr lang="en-US" smtClean="0"/>
              <a:t>1</a:t>
            </a:fld>
            <a:endParaRPr lang="en-US" dirty="0"/>
          </a:p>
        </p:txBody>
      </p:sp>
    </p:spTree>
    <p:extLst>
      <p:ext uri="{BB962C8B-B14F-4D97-AF65-F5344CB8AC3E}">
        <p14:creationId xmlns:p14="http://schemas.microsoft.com/office/powerpoint/2010/main" val="3835146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2</a:t>
            </a:fld>
            <a:endParaRPr lang="en-US" dirty="0"/>
          </a:p>
        </p:txBody>
      </p:sp>
    </p:spTree>
    <p:extLst>
      <p:ext uri="{BB962C8B-B14F-4D97-AF65-F5344CB8AC3E}">
        <p14:creationId xmlns:p14="http://schemas.microsoft.com/office/powerpoint/2010/main" val="662036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9363">
              <a:defRPr/>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defTabSz="939363">
              <a:defRPr/>
            </a:pPr>
            <a:r>
              <a:rPr lang="en-US" sz="1800" dirty="0">
                <a:latin typeface="Calibri" panose="020F0502020204030204" pitchFamily="34" charset="0"/>
                <a:ea typeface="Calibri" panose="020F0502020204030204" pitchFamily="34" charset="0"/>
                <a:cs typeface="Times New Roman" panose="02020603050405020304" pitchFamily="18" charset="0"/>
              </a:rPr>
              <a:t>How can we win more is a bit of a loaded question, because it depends, right? So we developed something called the 4x4 framework to help make that manageable. </a:t>
            </a:r>
          </a:p>
          <a:p>
            <a:pPr marL="0" marR="0" lvl="0" indent="0" algn="l" defTabSz="939363" rtl="0" eaLnBrk="1" fontAlgn="auto" latinLnBrk="0" hangingPunct="1">
              <a:lnSpc>
                <a:spcPct val="100000"/>
              </a:lnSpc>
              <a:spcBef>
                <a:spcPts val="0"/>
              </a:spcBef>
              <a:spcAft>
                <a:spcPts val="0"/>
              </a:spcAft>
              <a:buClrTx/>
              <a:buSzTx/>
              <a:buFontTx/>
              <a:buNone/>
              <a:tabLst/>
              <a:defRPr/>
            </a:pPr>
            <a:r>
              <a:rPr lang="en-US" sz="1800" dirty="0">
                <a:latin typeface="Calibri" panose="020F0502020204030204" pitchFamily="34" charset="0"/>
                <a:ea typeface="Calibri" panose="020F0502020204030204" pitchFamily="34" charset="0"/>
                <a:cs typeface="Times New Roman" panose="02020603050405020304" pitchFamily="18" charset="0"/>
              </a:rPr>
              <a:t>This framework was born out of my desire to not only help people respond to RFPs, but to transform the way they think about the process . Because it isn’t just about the RFP itself. </a:t>
            </a:r>
          </a:p>
          <a:p>
            <a:pPr defTabSz="939363">
              <a:defRPr/>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defTabSz="939363">
              <a:defRPr/>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3</a:t>
            </a:fld>
            <a:endParaRPr lang="en-US" dirty="0"/>
          </a:p>
        </p:txBody>
      </p:sp>
    </p:spTree>
    <p:extLst>
      <p:ext uri="{BB962C8B-B14F-4D97-AF65-F5344CB8AC3E}">
        <p14:creationId xmlns:p14="http://schemas.microsoft.com/office/powerpoint/2010/main" val="3614926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few things you need to win an RFP. Let’s start with the baseline. </a:t>
            </a:r>
          </a:p>
        </p:txBody>
      </p:sp>
      <p:sp>
        <p:nvSpPr>
          <p:cNvPr id="4" name="Slide Number Placeholder 3"/>
          <p:cNvSpPr>
            <a:spLocks noGrp="1"/>
          </p:cNvSpPr>
          <p:nvPr>
            <p:ph type="sldNum" sz="quarter" idx="5"/>
          </p:nvPr>
        </p:nvSpPr>
        <p:spPr/>
        <p:txBody>
          <a:bodyPr/>
          <a:lstStyle/>
          <a:p>
            <a:fld id="{C39C17B8-51EA-3447-9B6D-3E1865D39FBF}" type="slidenum">
              <a:rPr lang="en-US" smtClean="0"/>
              <a:t>4</a:t>
            </a:fld>
            <a:endParaRPr lang="en-US" dirty="0"/>
          </a:p>
        </p:txBody>
      </p:sp>
    </p:spTree>
    <p:extLst>
      <p:ext uri="{BB962C8B-B14F-4D97-AF65-F5344CB8AC3E}">
        <p14:creationId xmlns:p14="http://schemas.microsoft.com/office/powerpoint/2010/main" val="1056328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just meet 80% of the quals (elaborate)</a:t>
            </a:r>
          </a:p>
          <a:p>
            <a:endParaRPr lang="en-US" dirty="0"/>
          </a:p>
          <a:p>
            <a:r>
              <a:rPr lang="en-US" dirty="0"/>
              <a:t>These two things are simply the BASELINE. I want you to really grasp that, because just meeting these two things is likely not enough to win the bid.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goal is to win the RFP, not just answer the questions. </a:t>
            </a:r>
          </a:p>
          <a:p>
            <a:endParaRPr lang="en-US" dirty="0"/>
          </a:p>
          <a:p>
            <a:r>
              <a:rPr lang="en-US" dirty="0"/>
              <a:t>When you meet and respond to the baseline requirements, NOW you’re good enough to be taken seriously. NOW you move to the next step</a:t>
            </a:r>
          </a:p>
        </p:txBody>
      </p:sp>
      <p:sp>
        <p:nvSpPr>
          <p:cNvPr id="4" name="Slide Number Placeholder 3"/>
          <p:cNvSpPr>
            <a:spLocks noGrp="1"/>
          </p:cNvSpPr>
          <p:nvPr>
            <p:ph type="sldNum" sz="quarter" idx="5"/>
          </p:nvPr>
        </p:nvSpPr>
        <p:spPr/>
        <p:txBody>
          <a:bodyPr/>
          <a:lstStyle/>
          <a:p>
            <a:fld id="{C39C17B8-51EA-3447-9B6D-3E1865D39FBF}" type="slidenum">
              <a:rPr lang="en-US" smtClean="0"/>
              <a:t>5</a:t>
            </a:fld>
            <a:endParaRPr lang="en-US" dirty="0"/>
          </a:p>
        </p:txBody>
      </p:sp>
    </p:spTree>
    <p:extLst>
      <p:ext uri="{BB962C8B-B14F-4D97-AF65-F5344CB8AC3E}">
        <p14:creationId xmlns:p14="http://schemas.microsoft.com/office/powerpoint/2010/main" val="936028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Peanut M&amp;M analogy</a:t>
            </a:r>
          </a:p>
        </p:txBody>
      </p:sp>
      <p:sp>
        <p:nvSpPr>
          <p:cNvPr id="4" name="Slide Number Placeholder 3"/>
          <p:cNvSpPr>
            <a:spLocks noGrp="1"/>
          </p:cNvSpPr>
          <p:nvPr>
            <p:ph type="sldNum" sz="quarter" idx="5"/>
          </p:nvPr>
        </p:nvSpPr>
        <p:spPr/>
        <p:txBody>
          <a:bodyPr/>
          <a:lstStyle/>
          <a:p>
            <a:fld id="{C39C17B8-51EA-3447-9B6D-3E1865D39FBF}" type="slidenum">
              <a:rPr lang="en-US" smtClean="0"/>
              <a:t>6</a:t>
            </a:fld>
            <a:endParaRPr lang="en-US" dirty="0"/>
          </a:p>
        </p:txBody>
      </p:sp>
    </p:spTree>
    <p:extLst>
      <p:ext uri="{BB962C8B-B14F-4D97-AF65-F5344CB8AC3E}">
        <p14:creationId xmlns:p14="http://schemas.microsoft.com/office/powerpoint/2010/main" val="150687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is my passion, as founder and CEO. We are constantly looking for more ways, and better ways, to help our clients win more. It seems obvious that’s what we do, but it truly is the core of the existence from my heart and soul, and from our team’s heart and soul.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I’ll tell you a little story. I started my career in the hospitality industry, and we had to respond to RFPs but they were relatively simplistic – availability, room type, amenities, rates. My next job was in a consulting firm that did consulting for state government Medicaid agencies. They asked if I had RFP experience, I said yes, so they put me on the task. All of the sudden I was staring down the barrel of a 100+ page RFP thinking, what the heck did I get myself into. I made sure we put together the proper format and we answered the questions, but we lost. It was heartbreaking, I had busted my hump on that and I knew we answered everything correctly. I got obsessed with what we needed to do to get the win. I studied, I read, I poured over the scoring and debrief information. That was 30 years ago. This was 30 years ago, and I haven’t stopped learning about what makes evaluators tick.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7</a:t>
            </a:fld>
            <a:endParaRPr lang="en-US" dirty="0"/>
          </a:p>
        </p:txBody>
      </p:sp>
    </p:spTree>
    <p:extLst>
      <p:ext uri="{BB962C8B-B14F-4D97-AF65-F5344CB8AC3E}">
        <p14:creationId xmlns:p14="http://schemas.microsoft.com/office/powerpoint/2010/main" val="243682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is what’s possible and what I want you to believe you can achieve as well! </a:t>
            </a:r>
          </a:p>
          <a:p>
            <a:endParaRPr lang="en-US" dirty="0"/>
          </a:p>
          <a:p>
            <a:r>
              <a:rPr lang="en-US" dirty="0"/>
              <a:t>They had a win rate of less than 10%</a:t>
            </a:r>
          </a:p>
        </p:txBody>
      </p:sp>
      <p:sp>
        <p:nvSpPr>
          <p:cNvPr id="4" name="Slide Number Placeholder 3"/>
          <p:cNvSpPr>
            <a:spLocks noGrp="1"/>
          </p:cNvSpPr>
          <p:nvPr>
            <p:ph type="sldNum" sz="quarter" idx="5"/>
          </p:nvPr>
        </p:nvSpPr>
        <p:spPr/>
        <p:txBody>
          <a:bodyPr/>
          <a:lstStyle/>
          <a:p>
            <a:fld id="{C39C17B8-51EA-3447-9B6D-3E1865D39FBF}" type="slidenum">
              <a:rPr lang="en-US" smtClean="0"/>
              <a:t>8</a:t>
            </a:fld>
            <a:endParaRPr lang="en-US" dirty="0"/>
          </a:p>
        </p:txBody>
      </p:sp>
    </p:spTree>
    <p:extLst>
      <p:ext uri="{BB962C8B-B14F-4D97-AF65-F5344CB8AC3E}">
        <p14:creationId xmlns:p14="http://schemas.microsoft.com/office/powerpoint/2010/main" val="3768314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9</a:t>
            </a:fld>
            <a:endParaRPr lang="en-US" dirty="0"/>
          </a:p>
        </p:txBody>
      </p:sp>
    </p:spTree>
    <p:extLst>
      <p:ext uri="{BB962C8B-B14F-4D97-AF65-F5344CB8AC3E}">
        <p14:creationId xmlns:p14="http://schemas.microsoft.com/office/powerpoint/2010/main" val="1660684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I think originally they were around the 50% win rate, so not horrible. But the increase in win rate brought them millions of dollars more in contracts. </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10</a:t>
            </a:fld>
            <a:endParaRPr lang="en-US" dirty="0"/>
          </a:p>
        </p:txBody>
      </p:sp>
    </p:spTree>
    <p:extLst>
      <p:ext uri="{BB962C8B-B14F-4D97-AF65-F5344CB8AC3E}">
        <p14:creationId xmlns:p14="http://schemas.microsoft.com/office/powerpoint/2010/main" val="3539045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They were able to showcase three key things: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They were able to showcase how their solution solved the buyer’s need. Not what they knew, or what they did, but specifically tied to solving the problem.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A little later in the webinar, I’m going to give you a great example that showcases how to present your solution. </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11</a:t>
            </a:fld>
            <a:endParaRPr lang="en-US" dirty="0"/>
          </a:p>
        </p:txBody>
      </p:sp>
    </p:spTree>
    <p:extLst>
      <p:ext uri="{BB962C8B-B14F-4D97-AF65-F5344CB8AC3E}">
        <p14:creationId xmlns:p14="http://schemas.microsoft.com/office/powerpoint/2010/main" val="1295404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They recognize that they need EXPERT and appropriate proposal resources. Not just “anyone”, not just a sales person, but people who understand proposals and the persuasive nature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Obviously all of those companies use us as one of their resources, but it’s because they knew they didn’t have all of the appropriate expert proposal resources internally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are huge benefits to having the right people on your team and I’ll be talking about specific benefits as we go through the presentation</a:t>
            </a:r>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12</a:t>
            </a:fld>
            <a:endParaRPr lang="en-US" dirty="0"/>
          </a:p>
        </p:txBody>
      </p:sp>
    </p:spTree>
    <p:extLst>
      <p:ext uri="{BB962C8B-B14F-4D97-AF65-F5344CB8AC3E}">
        <p14:creationId xmlns:p14="http://schemas.microsoft.com/office/powerpoint/2010/main" val="4291066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They were able to prove their credibility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I’m going to dive a little deeper into each one of these here in a couple of minutes. </a:t>
            </a:r>
          </a:p>
          <a:p>
            <a:endParaRPr lang="en-US" dirty="0"/>
          </a:p>
          <a:p>
            <a:r>
              <a:rPr lang="en-US" dirty="0"/>
              <a:t>I have a great credibility example later in the presentation. </a:t>
            </a:r>
          </a:p>
        </p:txBody>
      </p:sp>
      <p:sp>
        <p:nvSpPr>
          <p:cNvPr id="4" name="Slide Number Placeholder 3"/>
          <p:cNvSpPr>
            <a:spLocks noGrp="1"/>
          </p:cNvSpPr>
          <p:nvPr>
            <p:ph type="sldNum" sz="quarter" idx="5"/>
          </p:nvPr>
        </p:nvSpPr>
        <p:spPr/>
        <p:txBody>
          <a:bodyPr/>
          <a:lstStyle/>
          <a:p>
            <a:fld id="{C39C17B8-51EA-3447-9B6D-3E1865D39FBF}" type="slidenum">
              <a:rPr lang="en-US" smtClean="0"/>
              <a:t>13</a:t>
            </a:fld>
            <a:endParaRPr lang="en-US" dirty="0"/>
          </a:p>
        </p:txBody>
      </p:sp>
    </p:spTree>
    <p:extLst>
      <p:ext uri="{BB962C8B-B14F-4D97-AF65-F5344CB8AC3E}">
        <p14:creationId xmlns:p14="http://schemas.microsoft.com/office/powerpoint/2010/main" val="701059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Can you relate to any this?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14</a:t>
            </a:fld>
            <a:endParaRPr lang="en-US" dirty="0"/>
          </a:p>
        </p:txBody>
      </p:sp>
    </p:spTree>
    <p:extLst>
      <p:ext uri="{BB962C8B-B14F-4D97-AF65-F5344CB8AC3E}">
        <p14:creationId xmlns:p14="http://schemas.microsoft.com/office/powerpoint/2010/main" val="3903053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9363">
              <a:defRPr/>
            </a:pPr>
            <a:r>
              <a:rPr lang="en-US" dirty="0">
                <a:latin typeface="Calibri" panose="020F0502020204030204" pitchFamily="34" charset="0"/>
                <a:ea typeface="Calibri" panose="020F0502020204030204" pitchFamily="34" charset="0"/>
                <a:cs typeface="Times New Roman" panose="02020603050405020304" pitchFamily="18" charset="0"/>
              </a:rPr>
              <a:t>&lt;5%</a:t>
            </a:r>
          </a:p>
          <a:p>
            <a:pPr defTabSz="939363">
              <a:defRPr/>
            </a:pPr>
            <a:r>
              <a:rPr lang="en-US" dirty="0">
                <a:latin typeface="Calibri" panose="020F0502020204030204" pitchFamily="34" charset="0"/>
                <a:ea typeface="Calibri" panose="020F0502020204030204" pitchFamily="34" charset="0"/>
                <a:cs typeface="Times New Roman" panose="02020603050405020304" pitchFamily="18" charset="0"/>
              </a:rPr>
              <a:t>Do any of you like those odds?</a:t>
            </a:r>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15</a:t>
            </a:fld>
            <a:endParaRPr lang="en-US" dirty="0"/>
          </a:p>
        </p:txBody>
      </p:sp>
    </p:spTree>
    <p:extLst>
      <p:ext uri="{BB962C8B-B14F-4D97-AF65-F5344CB8AC3E}">
        <p14:creationId xmlns:p14="http://schemas.microsoft.com/office/powerpoint/2010/main" val="3764463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9363">
              <a:defRPr/>
            </a:pPr>
            <a:r>
              <a:rPr lang="en-US" dirty="0"/>
              <a:t>BUT….. </a:t>
            </a:r>
          </a:p>
          <a:p>
            <a:pPr defTabSz="939363">
              <a:defRPr/>
            </a:pPr>
            <a:endParaRPr lang="en-US" dirty="0"/>
          </a:p>
          <a:p>
            <a:pPr defTabSz="939363">
              <a:defRPr/>
            </a:pPr>
            <a:r>
              <a:rPr lang="en-US" dirty="0"/>
              <a:t>DQ’d: missed deadline, </a:t>
            </a:r>
          </a:p>
        </p:txBody>
      </p:sp>
      <p:sp>
        <p:nvSpPr>
          <p:cNvPr id="4" name="Slide Number Placeholder 3"/>
          <p:cNvSpPr>
            <a:spLocks noGrp="1"/>
          </p:cNvSpPr>
          <p:nvPr>
            <p:ph type="sldNum" sz="quarter" idx="5"/>
          </p:nvPr>
        </p:nvSpPr>
        <p:spPr/>
        <p:txBody>
          <a:bodyPr/>
          <a:lstStyle/>
          <a:p>
            <a:fld id="{C39C17B8-51EA-3447-9B6D-3E1865D39FBF}" type="slidenum">
              <a:rPr lang="en-US" smtClean="0"/>
              <a:t>16</a:t>
            </a:fld>
            <a:endParaRPr lang="en-US" dirty="0"/>
          </a:p>
        </p:txBody>
      </p:sp>
    </p:spTree>
    <p:extLst>
      <p:ext uri="{BB962C8B-B14F-4D97-AF65-F5344CB8AC3E}">
        <p14:creationId xmlns:p14="http://schemas.microsoft.com/office/powerpoint/2010/main" val="15498581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better way is to focus</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17</a:t>
            </a:fld>
            <a:endParaRPr lang="en-US" dirty="0"/>
          </a:p>
        </p:txBody>
      </p:sp>
    </p:spTree>
    <p:extLst>
      <p:ext uri="{BB962C8B-B14F-4D97-AF65-F5344CB8AC3E}">
        <p14:creationId xmlns:p14="http://schemas.microsoft.com/office/powerpoint/2010/main" val="1121819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things to think about when you’re presenting your solution include…..</a:t>
            </a:r>
          </a:p>
          <a:p>
            <a:endParaRPr lang="en-US" dirty="0"/>
          </a:p>
          <a:p>
            <a:r>
              <a:rPr lang="en-US" dirty="0"/>
              <a:t>The Solution is about planning, strategy, understanding the client….and then translating that in a compelling way</a:t>
            </a:r>
          </a:p>
          <a:p>
            <a:endParaRPr lang="en-US" dirty="0"/>
          </a:p>
          <a:p>
            <a:r>
              <a:rPr lang="en-US" dirty="0"/>
              <a:t>Let me give you a couple of quick examples</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18</a:t>
            </a:fld>
            <a:endParaRPr lang="en-US" dirty="0"/>
          </a:p>
        </p:txBody>
      </p:sp>
    </p:spTree>
    <p:extLst>
      <p:ext uri="{BB962C8B-B14F-4D97-AF65-F5344CB8AC3E}">
        <p14:creationId xmlns:p14="http://schemas.microsoft.com/office/powerpoint/2010/main" val="1924233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19</a:t>
            </a:fld>
            <a:endParaRPr lang="en-US" dirty="0"/>
          </a:p>
        </p:txBody>
      </p:sp>
    </p:spTree>
    <p:extLst>
      <p:ext uri="{BB962C8B-B14F-4D97-AF65-F5344CB8AC3E}">
        <p14:creationId xmlns:p14="http://schemas.microsoft.com/office/powerpoint/2010/main" val="1870720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is all about “YOU” instead of “THEM”</a:t>
            </a:r>
          </a:p>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20</a:t>
            </a:fld>
            <a:endParaRPr lang="en-US" dirty="0"/>
          </a:p>
        </p:txBody>
      </p:sp>
    </p:spTree>
    <p:extLst>
      <p:ext uri="{BB962C8B-B14F-4D97-AF65-F5344CB8AC3E}">
        <p14:creationId xmlns:p14="http://schemas.microsoft.com/office/powerpoint/2010/main" val="16071559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21</a:t>
            </a:fld>
            <a:endParaRPr lang="en-US" dirty="0"/>
          </a:p>
        </p:txBody>
      </p:sp>
    </p:spTree>
    <p:extLst>
      <p:ext uri="{BB962C8B-B14F-4D97-AF65-F5344CB8AC3E}">
        <p14:creationId xmlns:p14="http://schemas.microsoft.com/office/powerpoint/2010/main" val="1872761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realize this isn’t always feasible, but this is the GOAL. If you’re constantly pulling someone from their full-time job to respond as an “add-on”, they will never be fully engaged enough to make consistent winning responses. Don’t just use available bodies. I completely understand when you have to pull in an administrative assistant to manage the response, because you don’t have a team. But it’s not going to be a good long-term solution. Proposal professionals are in this because they LOVE responding to RFPs. And most people don’t. I can tell you, our team LOVES doing what they do. </a:t>
            </a:r>
          </a:p>
          <a:p>
            <a:endParaRPr lang="en-US" dirty="0"/>
          </a:p>
          <a:p>
            <a:r>
              <a:rPr lang="en-US" dirty="0"/>
              <a:t>You want the BEST POSSIBLE PEOPLE who are building the case to win you hundreds of thousands or even millions of dollars. Make sure they’re the right people. </a:t>
            </a:r>
          </a:p>
          <a:p>
            <a:endParaRPr lang="en-US" dirty="0"/>
          </a:p>
          <a:p>
            <a:r>
              <a:rPr lang="en-US" dirty="0"/>
              <a:t>I can use the Brooks story of the intern and the type of sales he was doing. </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22</a:t>
            </a:fld>
            <a:endParaRPr lang="en-US" dirty="0"/>
          </a:p>
        </p:txBody>
      </p:sp>
    </p:spTree>
    <p:extLst>
      <p:ext uri="{BB962C8B-B14F-4D97-AF65-F5344CB8AC3E}">
        <p14:creationId xmlns:p14="http://schemas.microsoft.com/office/powerpoint/2010/main" val="15107974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Here’s some examples</a:t>
            </a:r>
          </a:p>
          <a:p>
            <a:r>
              <a:rPr lang="en-IN" dirty="0"/>
              <a:t>It’s not enough to just “tell”; show</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23</a:t>
            </a:fld>
            <a:endParaRPr lang="en-US" dirty="0"/>
          </a:p>
        </p:txBody>
      </p:sp>
    </p:spTree>
    <p:extLst>
      <p:ext uri="{BB962C8B-B14F-4D97-AF65-F5344CB8AC3E}">
        <p14:creationId xmlns:p14="http://schemas.microsoft.com/office/powerpoint/2010/main" val="713293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1CA106-72A6-4949-A909-401AC7BB1F0B}" type="slidenum">
              <a:rPr lang="en-US" smtClean="0"/>
              <a:t>24</a:t>
            </a:fld>
            <a:endParaRPr lang="en-US" dirty="0"/>
          </a:p>
        </p:txBody>
      </p:sp>
    </p:spTree>
    <p:extLst>
      <p:ext uri="{BB962C8B-B14F-4D97-AF65-F5344CB8AC3E}">
        <p14:creationId xmlns:p14="http://schemas.microsoft.com/office/powerpoint/2010/main" val="6336802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1CA106-72A6-4949-A909-401AC7BB1F0B}" type="slidenum">
              <a:rPr lang="en-US" smtClean="0"/>
              <a:t>25</a:t>
            </a:fld>
            <a:endParaRPr lang="en-US" dirty="0"/>
          </a:p>
        </p:txBody>
      </p:sp>
    </p:spTree>
    <p:extLst>
      <p:ext uri="{BB962C8B-B14F-4D97-AF65-F5344CB8AC3E}">
        <p14:creationId xmlns:p14="http://schemas.microsoft.com/office/powerpoint/2010/main" val="11928345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just outlined for you the three winning ingredients for making your proposal stand out. </a:t>
            </a:r>
          </a:p>
          <a:p>
            <a:r>
              <a:rPr lang="en-US" dirty="0"/>
              <a:t>BUT, there’s still a lot of components that go into managing the response process and making sure you can write to Credibility and the Solution.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ea typeface="Calibri" panose="020F0502020204030204" pitchFamily="34" charset="0"/>
                <a:cs typeface="Times New Roman" panose="02020603050405020304" pitchFamily="18" charset="0"/>
              </a:rPr>
              <a:t>If you take a step back, how you are set up internally with regards to responding to RFPs will make or break your ability to get those three ingredients correct. And in order to showcase on Solution and Credibility and have the right Resources, you can’t just work haphazardly, which, frankly, most people do. And RFP responding can be chaotic and haphazard. But that’s no fun.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want to introduce something else to you as part of this webinar today that will help you think about how to organize your business around RFP responses. </a:t>
            </a:r>
          </a:p>
          <a:p>
            <a:endParaRPr lang="en-US" dirty="0"/>
          </a:p>
        </p:txBody>
      </p:sp>
      <p:sp>
        <p:nvSpPr>
          <p:cNvPr id="4" name="Slide Number Placeholder 3"/>
          <p:cNvSpPr>
            <a:spLocks noGrp="1"/>
          </p:cNvSpPr>
          <p:nvPr>
            <p:ph type="sldNum" sz="quarter" idx="5"/>
          </p:nvPr>
        </p:nvSpPr>
        <p:spPr/>
        <p:txBody>
          <a:bodyPr/>
          <a:lstStyle/>
          <a:p>
            <a:fld id="{7F1CA106-72A6-4949-A909-401AC7BB1F0B}" type="slidenum">
              <a:rPr lang="en-US" smtClean="0"/>
              <a:t>26</a:t>
            </a:fld>
            <a:endParaRPr lang="en-US" dirty="0"/>
          </a:p>
        </p:txBody>
      </p:sp>
    </p:spTree>
    <p:extLst>
      <p:ext uri="{BB962C8B-B14F-4D97-AF65-F5344CB8AC3E}">
        <p14:creationId xmlns:p14="http://schemas.microsoft.com/office/powerpoint/2010/main" val="2900462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9363">
              <a:defRPr/>
            </a:pPr>
            <a:endParaRPr lang="en-US" dirty="0">
              <a:latin typeface="Calibri" panose="020F0502020204030204" pitchFamily="34" charset="0"/>
              <a:ea typeface="Calibri" panose="020F0502020204030204" pitchFamily="34" charset="0"/>
              <a:cs typeface="Times New Roman" panose="02020603050405020304" pitchFamily="18" charset="0"/>
            </a:endParaRPr>
          </a:p>
          <a:p>
            <a:pPr defTabSz="939363">
              <a:defRPr/>
            </a:pPr>
            <a:r>
              <a:rPr lang="en-US" dirty="0">
                <a:latin typeface="Calibri" panose="020F0502020204030204" pitchFamily="34" charset="0"/>
                <a:ea typeface="Calibri" panose="020F0502020204030204" pitchFamily="34" charset="0"/>
                <a:cs typeface="Times New Roman" panose="02020603050405020304" pitchFamily="18" charset="0"/>
              </a:rPr>
              <a:t>I want to introduce you to what we call The 4x4 RFP Success Framework</a:t>
            </a:r>
          </a:p>
          <a:p>
            <a:pPr defTabSz="939363">
              <a:defRPr/>
            </a:pPr>
            <a:endParaRPr lang="en-US" dirty="0">
              <a:latin typeface="Calibri" panose="020F0502020204030204" pitchFamily="34" charset="0"/>
              <a:ea typeface="Calibri" panose="020F0502020204030204" pitchFamily="34" charset="0"/>
              <a:cs typeface="Times New Roman" panose="02020603050405020304" pitchFamily="18" charset="0"/>
            </a:endParaRPr>
          </a:p>
          <a:p>
            <a:pPr defTabSz="939363">
              <a:defRPr/>
            </a:pPr>
            <a:r>
              <a:rPr lang="en-US" dirty="0">
                <a:latin typeface="Calibri" panose="020F0502020204030204" pitchFamily="34" charset="0"/>
                <a:ea typeface="Calibri" panose="020F0502020204030204" pitchFamily="34" charset="0"/>
                <a:cs typeface="Times New Roman" panose="02020603050405020304" pitchFamily="18" charset="0"/>
              </a:rPr>
              <a:t>This framework was born out of my desire to not only help people successfully respond to RFPs, but to transform the way they think about the process to make the whole experience much more fun and less painful. Because it isn’t just about the RFP itself. It’s about embracing a winning culture that leads to win after win after win. </a:t>
            </a:r>
          </a:p>
          <a:p>
            <a:endParaRPr lang="en-US" dirty="0"/>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27</a:t>
            </a:fld>
            <a:endParaRPr lang="en-US" dirty="0"/>
          </a:p>
        </p:txBody>
      </p:sp>
    </p:spTree>
    <p:extLst>
      <p:ext uri="{BB962C8B-B14F-4D97-AF65-F5344CB8AC3E}">
        <p14:creationId xmlns:p14="http://schemas.microsoft.com/office/powerpoint/2010/main" val="18819219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9363" rtl="0" eaLnBrk="1" fontAlgn="auto" latinLnBrk="0" hangingPunct="1">
              <a:lnSpc>
                <a:spcPct val="100000"/>
              </a:lnSpc>
              <a:spcBef>
                <a:spcPts val="0"/>
              </a:spcBef>
              <a:spcAft>
                <a:spcPts val="0"/>
              </a:spcAft>
              <a:buClrTx/>
              <a:buSzTx/>
              <a:buFontTx/>
              <a:buNone/>
              <a:tabLst/>
              <a:defRPr/>
            </a:pPr>
            <a:r>
              <a:rPr lang="en-US" dirty="0"/>
              <a:t>The four elements of the framework are: Content, Strategy, People, Process. </a:t>
            </a:r>
          </a:p>
          <a:p>
            <a:pPr marL="0" marR="0" lvl="0" indent="0" algn="l" defTabSz="939363" rtl="0" eaLnBrk="1" fontAlgn="auto" latinLnBrk="0" hangingPunct="1">
              <a:lnSpc>
                <a:spcPct val="100000"/>
              </a:lnSpc>
              <a:spcBef>
                <a:spcPts val="0"/>
              </a:spcBef>
              <a:spcAft>
                <a:spcPts val="0"/>
              </a:spcAft>
              <a:buClrTx/>
              <a:buSzTx/>
              <a:buFontTx/>
              <a:buNone/>
              <a:tabLst/>
              <a:defRPr/>
            </a:pPr>
            <a:endParaRPr lang="en-US" dirty="0"/>
          </a:p>
          <a:p>
            <a:pPr marL="0" marR="0" lvl="0" indent="0" algn="l" defTabSz="939363" rtl="0" eaLnBrk="1" fontAlgn="auto" latinLnBrk="0" hangingPunct="1">
              <a:lnSpc>
                <a:spcPct val="100000"/>
              </a:lnSpc>
              <a:spcBef>
                <a:spcPts val="0"/>
              </a:spcBef>
              <a:spcAft>
                <a:spcPts val="0"/>
              </a:spcAft>
              <a:buClrTx/>
              <a:buSzTx/>
              <a:buFontTx/>
              <a:buNone/>
              <a:tabLst/>
              <a:defRPr/>
            </a:pPr>
            <a:r>
              <a:rPr lang="en-US" dirty="0"/>
              <a:t>There is a LOT that can fall under each one. In fact, some of the early learnings around RFP responding show extremely complex processes. Which is why I developed the 4x4. To simplify it for us “normal” folks (Federal to state, too complex). What the 4x4 is, is these four elements and four best practices within each area. </a:t>
            </a:r>
          </a:p>
          <a:p>
            <a:pPr marL="0" marR="0" lvl="0" indent="0" algn="l" defTabSz="939363" rtl="0" eaLnBrk="1" fontAlgn="auto" latinLnBrk="0" hangingPunct="1">
              <a:lnSpc>
                <a:spcPct val="100000"/>
              </a:lnSpc>
              <a:spcBef>
                <a:spcPts val="0"/>
              </a:spcBef>
              <a:spcAft>
                <a:spcPts val="0"/>
              </a:spcAft>
              <a:buClrTx/>
              <a:buSzTx/>
              <a:buFontTx/>
              <a:buNone/>
              <a:tabLst/>
              <a:defRPr/>
            </a:pPr>
            <a:endParaRPr lang="en-US" dirty="0"/>
          </a:p>
          <a:p>
            <a:pPr marL="0" marR="0" lvl="0" indent="0" algn="l" defTabSz="939363" rtl="0" eaLnBrk="1" fontAlgn="auto" latinLnBrk="0" hangingPunct="1">
              <a:lnSpc>
                <a:spcPct val="100000"/>
              </a:lnSpc>
              <a:spcBef>
                <a:spcPts val="0"/>
              </a:spcBef>
              <a:spcAft>
                <a:spcPts val="0"/>
              </a:spcAft>
              <a:buClrTx/>
              <a:buSzTx/>
              <a:buFontTx/>
              <a:buNone/>
              <a:tabLst/>
              <a:defRPr/>
            </a:pPr>
            <a:r>
              <a:rPr lang="en-US" dirty="0"/>
              <a:t>If you pay attention to each of these, you will increase your win rate. Each of those companies I talked about at the beginning wanted to adopt that winning culture, and this is what they have incorporated that allows them to Present their solution appropriately, have the right resources in place, and showcase their credibility. </a:t>
            </a:r>
          </a:p>
          <a:p>
            <a:pPr defTabSz="939363">
              <a:defRPr/>
            </a:pPr>
            <a:endParaRPr lang="en-US" dirty="0"/>
          </a:p>
          <a:p>
            <a:pPr defTabSz="939363">
              <a:defRPr/>
            </a:pPr>
            <a:r>
              <a:rPr lang="en-US" dirty="0"/>
              <a:t>For each of these four elements of the framework, there’s also one key question that you need to ask yourself. So let’s dive in. </a:t>
            </a:r>
          </a:p>
        </p:txBody>
      </p:sp>
      <p:sp>
        <p:nvSpPr>
          <p:cNvPr id="4" name="Slide Number Placeholder 3"/>
          <p:cNvSpPr>
            <a:spLocks noGrp="1"/>
          </p:cNvSpPr>
          <p:nvPr>
            <p:ph type="sldNum" sz="quarter" idx="5"/>
          </p:nvPr>
        </p:nvSpPr>
        <p:spPr/>
        <p:txBody>
          <a:bodyPr/>
          <a:lstStyle/>
          <a:p>
            <a:fld id="{C39C17B8-51EA-3447-9B6D-3E1865D39FBF}" type="slidenum">
              <a:rPr lang="en-US" smtClean="0"/>
              <a:t>28</a:t>
            </a:fld>
            <a:endParaRPr lang="en-US" dirty="0"/>
          </a:p>
        </p:txBody>
      </p:sp>
    </p:spTree>
    <p:extLst>
      <p:ext uri="{BB962C8B-B14F-4D97-AF65-F5344CB8AC3E}">
        <p14:creationId xmlns:p14="http://schemas.microsoft.com/office/powerpoint/2010/main" val="16588100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element is Content. </a:t>
            </a:r>
          </a:p>
          <a:p>
            <a:r>
              <a:rPr lang="en-US" dirty="0"/>
              <a:t>Question</a:t>
            </a:r>
          </a:p>
          <a:p>
            <a:r>
              <a:rPr lang="en-US" dirty="0"/>
              <a:t>Explain how the evaluators are looking at content. Very much in a silo, mostly, with their scoring tool. </a:t>
            </a:r>
          </a:p>
          <a:p>
            <a:r>
              <a:rPr lang="en-US" dirty="0"/>
              <a:t>As they are reading your response, they will create the visual in their head. Your content needs to create that visual for them. </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29</a:t>
            </a:fld>
            <a:endParaRPr lang="en-US" dirty="0"/>
          </a:p>
        </p:txBody>
      </p:sp>
    </p:spTree>
    <p:extLst>
      <p:ext uri="{BB962C8B-B14F-4D97-AF65-F5344CB8AC3E}">
        <p14:creationId xmlns:p14="http://schemas.microsoft.com/office/powerpoint/2010/main" val="11673053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30</a:t>
            </a:fld>
            <a:endParaRPr lang="en-US" dirty="0"/>
          </a:p>
        </p:txBody>
      </p:sp>
    </p:spTree>
    <p:extLst>
      <p:ext uri="{BB962C8B-B14F-4D97-AF65-F5344CB8AC3E}">
        <p14:creationId xmlns:p14="http://schemas.microsoft.com/office/powerpoint/2010/main" val="11573289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31</a:t>
            </a:fld>
            <a:endParaRPr lang="en-US" dirty="0"/>
          </a:p>
        </p:txBody>
      </p:sp>
    </p:spTree>
    <p:extLst>
      <p:ext uri="{BB962C8B-B14F-4D97-AF65-F5344CB8AC3E}">
        <p14:creationId xmlns:p14="http://schemas.microsoft.com/office/powerpoint/2010/main" val="33193928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32</a:t>
            </a:fld>
            <a:endParaRPr lang="en-US" dirty="0"/>
          </a:p>
        </p:txBody>
      </p:sp>
    </p:spTree>
    <p:extLst>
      <p:ext uri="{BB962C8B-B14F-4D97-AF65-F5344CB8AC3E}">
        <p14:creationId xmlns:p14="http://schemas.microsoft.com/office/powerpoint/2010/main" val="28195423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33</a:t>
            </a:fld>
            <a:endParaRPr lang="en-US" dirty="0"/>
          </a:p>
        </p:txBody>
      </p:sp>
    </p:spTree>
    <p:extLst>
      <p:ext uri="{BB962C8B-B14F-4D97-AF65-F5344CB8AC3E}">
        <p14:creationId xmlns:p14="http://schemas.microsoft.com/office/powerpoint/2010/main" val="22898422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21A61-5600-0BD8-452F-BAB0185C1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04705-635B-6D0E-51C0-843C719523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9E1E1B-1CCF-EB66-0D88-5B853B5984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01EDB5-5592-54AD-40FD-8B982FC14302}"/>
              </a:ext>
            </a:extLst>
          </p:cNvPr>
          <p:cNvSpPr>
            <a:spLocks noGrp="1"/>
          </p:cNvSpPr>
          <p:nvPr>
            <p:ph type="sldNum" sz="quarter" idx="5"/>
          </p:nvPr>
        </p:nvSpPr>
        <p:spPr/>
        <p:txBody>
          <a:bodyPr/>
          <a:lstStyle/>
          <a:p>
            <a:fld id="{C39C17B8-51EA-3447-9B6D-3E1865D39FBF}" type="slidenum">
              <a:rPr lang="en-US" smtClean="0"/>
              <a:t>34</a:t>
            </a:fld>
            <a:endParaRPr lang="en-US" dirty="0"/>
          </a:p>
        </p:txBody>
      </p:sp>
    </p:spTree>
    <p:extLst>
      <p:ext uri="{BB962C8B-B14F-4D97-AF65-F5344CB8AC3E}">
        <p14:creationId xmlns:p14="http://schemas.microsoft.com/office/powerpoint/2010/main" val="41055926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35</a:t>
            </a:fld>
            <a:endParaRPr lang="en-US" dirty="0"/>
          </a:p>
        </p:txBody>
      </p:sp>
    </p:spTree>
    <p:extLst>
      <p:ext uri="{BB962C8B-B14F-4D97-AF65-F5344CB8AC3E}">
        <p14:creationId xmlns:p14="http://schemas.microsoft.com/office/powerpoint/2010/main" val="177530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36</a:t>
            </a:fld>
            <a:endParaRPr lang="en-US" dirty="0"/>
          </a:p>
        </p:txBody>
      </p:sp>
    </p:spTree>
    <p:extLst>
      <p:ext uri="{BB962C8B-B14F-4D97-AF65-F5344CB8AC3E}">
        <p14:creationId xmlns:p14="http://schemas.microsoft.com/office/powerpoint/2010/main" val="41891598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is all about your ability to position yourself as the clear winner</a:t>
            </a:r>
          </a:p>
          <a:p>
            <a:endParaRPr lang="en-US" dirty="0"/>
          </a:p>
          <a:p>
            <a:r>
              <a:rPr lang="en-US" dirty="0"/>
              <a:t>If the answer to this question is NO, you haven’t done your homework and you should rethink bidding. </a:t>
            </a:r>
          </a:p>
        </p:txBody>
      </p:sp>
      <p:sp>
        <p:nvSpPr>
          <p:cNvPr id="4" name="Slide Number Placeholder 3"/>
          <p:cNvSpPr>
            <a:spLocks noGrp="1"/>
          </p:cNvSpPr>
          <p:nvPr>
            <p:ph type="sldNum" sz="quarter" idx="5"/>
          </p:nvPr>
        </p:nvSpPr>
        <p:spPr/>
        <p:txBody>
          <a:bodyPr/>
          <a:lstStyle/>
          <a:p>
            <a:fld id="{C39C17B8-51EA-3447-9B6D-3E1865D39FBF}" type="slidenum">
              <a:rPr lang="en-US" smtClean="0"/>
              <a:t>37</a:t>
            </a:fld>
            <a:endParaRPr lang="en-US" dirty="0"/>
          </a:p>
        </p:txBody>
      </p:sp>
    </p:spTree>
    <p:extLst>
      <p:ext uri="{BB962C8B-B14F-4D97-AF65-F5344CB8AC3E}">
        <p14:creationId xmlns:p14="http://schemas.microsoft.com/office/powerpoint/2010/main" val="14888457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38</a:t>
            </a:fld>
            <a:endParaRPr lang="en-US" dirty="0"/>
          </a:p>
        </p:txBody>
      </p:sp>
    </p:spTree>
    <p:extLst>
      <p:ext uri="{BB962C8B-B14F-4D97-AF65-F5344CB8AC3E}">
        <p14:creationId xmlns:p14="http://schemas.microsoft.com/office/powerpoint/2010/main" val="23930486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39</a:t>
            </a:fld>
            <a:endParaRPr lang="en-US" dirty="0"/>
          </a:p>
        </p:txBody>
      </p:sp>
    </p:spTree>
    <p:extLst>
      <p:ext uri="{BB962C8B-B14F-4D97-AF65-F5344CB8AC3E}">
        <p14:creationId xmlns:p14="http://schemas.microsoft.com/office/powerpoint/2010/main" val="18368629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40</a:t>
            </a:fld>
            <a:endParaRPr lang="en-US" dirty="0"/>
          </a:p>
        </p:txBody>
      </p:sp>
    </p:spTree>
    <p:extLst>
      <p:ext uri="{BB962C8B-B14F-4D97-AF65-F5344CB8AC3E}">
        <p14:creationId xmlns:p14="http://schemas.microsoft.com/office/powerpoint/2010/main" val="12182060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Meaning, if all you’re doing is focusing on one RFP at a time, you won’t become a winning culture. </a:t>
            </a:r>
          </a:p>
        </p:txBody>
      </p:sp>
      <p:sp>
        <p:nvSpPr>
          <p:cNvPr id="4" name="Slide Number Placeholder 3"/>
          <p:cNvSpPr>
            <a:spLocks noGrp="1"/>
          </p:cNvSpPr>
          <p:nvPr>
            <p:ph type="sldNum" sz="quarter" idx="5"/>
          </p:nvPr>
        </p:nvSpPr>
        <p:spPr/>
        <p:txBody>
          <a:bodyPr/>
          <a:lstStyle/>
          <a:p>
            <a:fld id="{CA2D21D1-52E2-420B-B491-CFF6D7BB79FB}" type="slidenum">
              <a:rPr lang="en-US" smtClean="0"/>
              <a:pPr/>
              <a:t>41</a:t>
            </a:fld>
            <a:endParaRPr lang="en-US" dirty="0"/>
          </a:p>
        </p:txBody>
      </p:sp>
    </p:spTree>
    <p:extLst>
      <p:ext uri="{BB962C8B-B14F-4D97-AF65-F5344CB8AC3E}">
        <p14:creationId xmlns:p14="http://schemas.microsoft.com/office/powerpoint/2010/main" val="38122268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1CA106-72A6-4949-A909-401AC7BB1F0B}" type="slidenum">
              <a:rPr lang="en-US" smtClean="0"/>
              <a:t>42</a:t>
            </a:fld>
            <a:endParaRPr lang="en-US" dirty="0"/>
          </a:p>
        </p:txBody>
      </p:sp>
    </p:spTree>
    <p:extLst>
      <p:ext uri="{BB962C8B-B14F-4D97-AF65-F5344CB8AC3E}">
        <p14:creationId xmlns:p14="http://schemas.microsoft.com/office/powerpoint/2010/main" val="27196924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43</a:t>
            </a:fld>
            <a:endParaRPr lang="en-US" dirty="0"/>
          </a:p>
        </p:txBody>
      </p:sp>
    </p:spTree>
    <p:extLst>
      <p:ext uri="{BB962C8B-B14F-4D97-AF65-F5344CB8AC3E}">
        <p14:creationId xmlns:p14="http://schemas.microsoft.com/office/powerpoint/2010/main" val="18962790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 #3</a:t>
            </a:r>
          </a:p>
        </p:txBody>
      </p:sp>
      <p:sp>
        <p:nvSpPr>
          <p:cNvPr id="4" name="Slide Number Placeholder 3"/>
          <p:cNvSpPr>
            <a:spLocks noGrp="1"/>
          </p:cNvSpPr>
          <p:nvPr>
            <p:ph type="sldNum" sz="quarter" idx="5"/>
          </p:nvPr>
        </p:nvSpPr>
        <p:spPr/>
        <p:txBody>
          <a:bodyPr/>
          <a:lstStyle/>
          <a:p>
            <a:fld id="{C39C17B8-51EA-3447-9B6D-3E1865D39FBF}" type="slidenum">
              <a:rPr lang="en-US" smtClean="0"/>
              <a:t>44</a:t>
            </a:fld>
            <a:endParaRPr lang="en-US" dirty="0"/>
          </a:p>
        </p:txBody>
      </p:sp>
    </p:spTree>
    <p:extLst>
      <p:ext uri="{BB962C8B-B14F-4D97-AF65-F5344CB8AC3E}">
        <p14:creationId xmlns:p14="http://schemas.microsoft.com/office/powerpoint/2010/main" val="28387005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McLaren example</a:t>
            </a:r>
          </a:p>
        </p:txBody>
      </p:sp>
      <p:sp>
        <p:nvSpPr>
          <p:cNvPr id="4" name="Slide Number Placeholder 3"/>
          <p:cNvSpPr>
            <a:spLocks noGrp="1"/>
          </p:cNvSpPr>
          <p:nvPr>
            <p:ph type="sldNum" sz="quarter" idx="5"/>
          </p:nvPr>
        </p:nvSpPr>
        <p:spPr/>
        <p:txBody>
          <a:bodyPr/>
          <a:lstStyle/>
          <a:p>
            <a:fld id="{CA2D21D1-52E2-420B-B491-CFF6D7BB79FB}" type="slidenum">
              <a:rPr lang="en-US" smtClean="0"/>
              <a:pPr/>
              <a:t>45</a:t>
            </a:fld>
            <a:endParaRPr lang="en-US" dirty="0"/>
          </a:p>
        </p:txBody>
      </p:sp>
    </p:spTree>
    <p:extLst>
      <p:ext uri="{BB962C8B-B14F-4D97-AF65-F5344CB8AC3E}">
        <p14:creationId xmlns:p14="http://schemas.microsoft.com/office/powerpoint/2010/main" val="41976151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46</a:t>
            </a:fld>
            <a:endParaRPr lang="en-US" dirty="0"/>
          </a:p>
        </p:txBody>
      </p:sp>
    </p:spTree>
    <p:extLst>
      <p:ext uri="{BB962C8B-B14F-4D97-AF65-F5344CB8AC3E}">
        <p14:creationId xmlns:p14="http://schemas.microsoft.com/office/powerpoint/2010/main" val="31699741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Continued education and training for the people that </a:t>
            </a:r>
          </a:p>
        </p:txBody>
      </p:sp>
      <p:sp>
        <p:nvSpPr>
          <p:cNvPr id="4" name="Slide Number Placeholder 3"/>
          <p:cNvSpPr>
            <a:spLocks noGrp="1"/>
          </p:cNvSpPr>
          <p:nvPr>
            <p:ph type="sldNum" sz="quarter" idx="5"/>
          </p:nvPr>
        </p:nvSpPr>
        <p:spPr/>
        <p:txBody>
          <a:bodyPr/>
          <a:lstStyle/>
          <a:p>
            <a:fld id="{CA2D21D1-52E2-420B-B491-CFF6D7BB79FB}" type="slidenum">
              <a:rPr lang="en-US" smtClean="0"/>
              <a:pPr/>
              <a:t>47</a:t>
            </a:fld>
            <a:endParaRPr lang="en-US" dirty="0"/>
          </a:p>
        </p:txBody>
      </p:sp>
    </p:spTree>
    <p:extLst>
      <p:ext uri="{BB962C8B-B14F-4D97-AF65-F5344CB8AC3E}">
        <p14:creationId xmlns:p14="http://schemas.microsoft.com/office/powerpoint/2010/main" val="32697507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Make sure the people who are driving that McClaren over the finish line are hearing what’s important, your commitment, the strategy pieces. </a:t>
            </a:r>
          </a:p>
        </p:txBody>
      </p:sp>
      <p:sp>
        <p:nvSpPr>
          <p:cNvPr id="4" name="Slide Number Placeholder 3"/>
          <p:cNvSpPr>
            <a:spLocks noGrp="1"/>
          </p:cNvSpPr>
          <p:nvPr>
            <p:ph type="sldNum" sz="quarter" idx="5"/>
          </p:nvPr>
        </p:nvSpPr>
        <p:spPr/>
        <p:txBody>
          <a:bodyPr/>
          <a:lstStyle/>
          <a:p>
            <a:fld id="{CA2D21D1-52E2-420B-B491-CFF6D7BB79FB}" type="slidenum">
              <a:rPr lang="en-US" smtClean="0"/>
              <a:pPr/>
              <a:t>48</a:t>
            </a:fld>
            <a:endParaRPr lang="en-US" dirty="0"/>
          </a:p>
        </p:txBody>
      </p:sp>
    </p:spTree>
    <p:extLst>
      <p:ext uri="{BB962C8B-B14F-4D97-AF65-F5344CB8AC3E}">
        <p14:creationId xmlns:p14="http://schemas.microsoft.com/office/powerpoint/2010/main" val="29760393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49</a:t>
            </a:fld>
            <a:endParaRPr lang="en-US" dirty="0"/>
          </a:p>
        </p:txBody>
      </p:sp>
    </p:spTree>
    <p:extLst>
      <p:ext uri="{BB962C8B-B14F-4D97-AF65-F5344CB8AC3E}">
        <p14:creationId xmlns:p14="http://schemas.microsoft.com/office/powerpoint/2010/main" val="303740333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When you’ve got the right people driving that masterful quarter-of-a-million-dollar super car</a:t>
            </a:r>
          </a:p>
        </p:txBody>
      </p:sp>
      <p:sp>
        <p:nvSpPr>
          <p:cNvPr id="4" name="Slide Number Placeholder 3"/>
          <p:cNvSpPr>
            <a:spLocks noGrp="1"/>
          </p:cNvSpPr>
          <p:nvPr>
            <p:ph type="sldNum" sz="quarter" idx="5"/>
          </p:nvPr>
        </p:nvSpPr>
        <p:spPr/>
        <p:txBody>
          <a:bodyPr/>
          <a:lstStyle/>
          <a:p>
            <a:fld id="{CA2D21D1-52E2-420B-B491-CFF6D7BB79FB}" type="slidenum">
              <a:rPr lang="en-US" smtClean="0"/>
              <a:pPr/>
              <a:t>50</a:t>
            </a:fld>
            <a:endParaRPr lang="en-US" dirty="0"/>
          </a:p>
        </p:txBody>
      </p:sp>
    </p:spTree>
    <p:extLst>
      <p:ext uri="{BB962C8B-B14F-4D97-AF65-F5344CB8AC3E}">
        <p14:creationId xmlns:p14="http://schemas.microsoft.com/office/powerpoint/2010/main" val="2885765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solidFill>
                  <a:srgbClr val="000000"/>
                </a:solidFill>
                <a:latin typeface="Calibri" panose="020F0502020204030204" pitchFamily="34" charset="0"/>
              </a:rPr>
              <a:t>If you have a solid process, it will make troubleshooting and derailments much quicker and easier. And they WILL happen. It's not a matter of "if"</a:t>
            </a:r>
            <a:r>
              <a:rPr lang="en-US" dirty="0"/>
              <a:t> </a:t>
            </a:r>
          </a:p>
          <a:p>
            <a:endParaRPr lang="en-US" sz="1800" dirty="0">
              <a:solidFill>
                <a:srgbClr val="000000"/>
              </a:solidFill>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C39C17B8-51EA-3447-9B6D-3E1865D39FBF}" type="slidenum">
              <a:rPr lang="en-US" smtClean="0"/>
              <a:t>51</a:t>
            </a:fld>
            <a:endParaRPr lang="en-US" dirty="0"/>
          </a:p>
        </p:txBody>
      </p:sp>
    </p:spTree>
    <p:extLst>
      <p:ext uri="{BB962C8B-B14F-4D97-AF65-F5344CB8AC3E}">
        <p14:creationId xmlns:p14="http://schemas.microsoft.com/office/powerpoint/2010/main" val="6412866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52</a:t>
            </a:fld>
            <a:endParaRPr lang="en-US" dirty="0"/>
          </a:p>
        </p:txBody>
      </p:sp>
    </p:spTree>
    <p:extLst>
      <p:ext uri="{BB962C8B-B14F-4D97-AF65-F5344CB8AC3E}">
        <p14:creationId xmlns:p14="http://schemas.microsoft.com/office/powerpoint/2010/main" val="6461994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Planning isn’t always sexy but if you pre-plan, you’ll be able to  better position yourself for the win. This means relationship building long before that RFP comes out. Having a bid strategy meeting to talk about key themes and differentiators. </a:t>
            </a:r>
          </a:p>
        </p:txBody>
      </p:sp>
      <p:sp>
        <p:nvSpPr>
          <p:cNvPr id="4" name="Slide Number Placeholder 3"/>
          <p:cNvSpPr>
            <a:spLocks noGrp="1"/>
          </p:cNvSpPr>
          <p:nvPr>
            <p:ph type="sldNum" sz="quarter" idx="5"/>
          </p:nvPr>
        </p:nvSpPr>
        <p:spPr/>
        <p:txBody>
          <a:bodyPr/>
          <a:lstStyle/>
          <a:p>
            <a:fld id="{CA2D21D1-52E2-420B-B491-CFF6D7BB79FB}" type="slidenum">
              <a:rPr lang="en-US" smtClean="0"/>
              <a:pPr/>
              <a:t>53</a:t>
            </a:fld>
            <a:endParaRPr lang="en-US" dirty="0"/>
          </a:p>
        </p:txBody>
      </p:sp>
    </p:spTree>
    <p:extLst>
      <p:ext uri="{BB962C8B-B14F-4D97-AF65-F5344CB8AC3E}">
        <p14:creationId xmlns:p14="http://schemas.microsoft.com/office/powerpoint/2010/main" val="31340290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Have a solid response process. Meaning, kick-off process, developing a calendar and a shell, reviews, etc. All of the things that make up getting that response over the finish line from a logistical perspective. </a:t>
            </a:r>
          </a:p>
        </p:txBody>
      </p:sp>
      <p:sp>
        <p:nvSpPr>
          <p:cNvPr id="4" name="Slide Number Placeholder 3"/>
          <p:cNvSpPr>
            <a:spLocks noGrp="1"/>
          </p:cNvSpPr>
          <p:nvPr>
            <p:ph type="sldNum" sz="quarter" idx="5"/>
          </p:nvPr>
        </p:nvSpPr>
        <p:spPr/>
        <p:txBody>
          <a:bodyPr/>
          <a:lstStyle/>
          <a:p>
            <a:fld id="{CA2D21D1-52E2-420B-B491-CFF6D7BB79FB}" type="slidenum">
              <a:rPr lang="en-US" smtClean="0"/>
              <a:pPr/>
              <a:t>54</a:t>
            </a:fld>
            <a:endParaRPr lang="en-US" dirty="0"/>
          </a:p>
        </p:txBody>
      </p:sp>
    </p:spTree>
    <p:extLst>
      <p:ext uri="{BB962C8B-B14F-4D97-AF65-F5344CB8AC3E}">
        <p14:creationId xmlns:p14="http://schemas.microsoft.com/office/powerpoint/2010/main" val="35096795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Debrief and document</a:t>
            </a:r>
          </a:p>
        </p:txBody>
      </p:sp>
      <p:sp>
        <p:nvSpPr>
          <p:cNvPr id="4" name="Slide Number Placeholder 3"/>
          <p:cNvSpPr>
            <a:spLocks noGrp="1"/>
          </p:cNvSpPr>
          <p:nvPr>
            <p:ph type="sldNum" sz="quarter" idx="5"/>
          </p:nvPr>
        </p:nvSpPr>
        <p:spPr/>
        <p:txBody>
          <a:bodyPr/>
          <a:lstStyle/>
          <a:p>
            <a:fld id="{CA2D21D1-52E2-420B-B491-CFF6D7BB79FB}" type="slidenum">
              <a:rPr lang="en-US" smtClean="0"/>
              <a:pPr/>
              <a:t>55</a:t>
            </a:fld>
            <a:endParaRPr lang="en-US" dirty="0"/>
          </a:p>
        </p:txBody>
      </p:sp>
    </p:spTree>
    <p:extLst>
      <p:ext uri="{BB962C8B-B14F-4D97-AF65-F5344CB8AC3E}">
        <p14:creationId xmlns:p14="http://schemas.microsoft.com/office/powerpoint/2010/main" val="12882232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22"/>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56</a:t>
            </a:fld>
            <a:endParaRPr lang="en-US" dirty="0"/>
          </a:p>
        </p:txBody>
      </p:sp>
    </p:spTree>
    <p:extLst>
      <p:ext uri="{BB962C8B-B14F-4D97-AF65-F5344CB8AC3E}">
        <p14:creationId xmlns:p14="http://schemas.microsoft.com/office/powerpoint/2010/main" val="2612538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22"/>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57</a:t>
            </a:fld>
            <a:endParaRPr lang="en-US" dirty="0"/>
          </a:p>
        </p:txBody>
      </p:sp>
    </p:spTree>
    <p:extLst>
      <p:ext uri="{BB962C8B-B14F-4D97-AF65-F5344CB8AC3E}">
        <p14:creationId xmlns:p14="http://schemas.microsoft.com/office/powerpoint/2010/main" val="28128375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Kollektif"/>
                <a:ea typeface="+mj-ea"/>
                <a:cs typeface="+mj-cs"/>
              </a:rPr>
              <a:t>In order for your CONTENT to be top notch – so the evaluators SEE your solution and your credibility, it’s imperative that you wrap your content with Strategy, Process, and People. Don’t leave your content hanging out there all by it’s lonesome. Give it the support it deserves. That’s when you get those high win rates and the results I showcased with just a small handful of our clients.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Kollektif"/>
              <a:ea typeface="+mj-ea"/>
              <a:cs typeface="+mj-cs"/>
            </a:endParaRPr>
          </a:p>
          <a:p>
            <a:endParaRPr lang="en-US" dirty="0"/>
          </a:p>
        </p:txBody>
      </p:sp>
      <p:sp>
        <p:nvSpPr>
          <p:cNvPr id="4" name="Slide Number Placeholder 3"/>
          <p:cNvSpPr>
            <a:spLocks noGrp="1"/>
          </p:cNvSpPr>
          <p:nvPr>
            <p:ph type="sldNum" sz="quarter" idx="5"/>
          </p:nvPr>
        </p:nvSpPr>
        <p:spPr/>
        <p:txBody>
          <a:bodyPr/>
          <a:lstStyle/>
          <a:p>
            <a:fld id="{7F1CA106-72A6-4949-A909-401AC7BB1F0B}" type="slidenum">
              <a:rPr lang="en-US" smtClean="0"/>
              <a:t>58</a:t>
            </a:fld>
            <a:endParaRPr lang="en-US" dirty="0"/>
          </a:p>
        </p:txBody>
      </p:sp>
    </p:spTree>
    <p:extLst>
      <p:ext uri="{BB962C8B-B14F-4D97-AF65-F5344CB8AC3E}">
        <p14:creationId xmlns:p14="http://schemas.microsoft.com/office/powerpoint/2010/main" val="41369493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guess is, you want some sort of a different result or you wouldn’t be here</a:t>
            </a:r>
          </a:p>
        </p:txBody>
      </p:sp>
      <p:sp>
        <p:nvSpPr>
          <p:cNvPr id="4" name="Slide Number Placeholder 3"/>
          <p:cNvSpPr>
            <a:spLocks noGrp="1"/>
          </p:cNvSpPr>
          <p:nvPr>
            <p:ph type="sldNum" sz="quarter" idx="5"/>
          </p:nvPr>
        </p:nvSpPr>
        <p:spPr/>
        <p:txBody>
          <a:bodyPr/>
          <a:lstStyle/>
          <a:p>
            <a:fld id="{C39C17B8-51EA-3447-9B6D-3E1865D39FBF}" type="slidenum">
              <a:rPr lang="en-US" smtClean="0"/>
              <a:t>59</a:t>
            </a:fld>
            <a:endParaRPr lang="en-US" dirty="0"/>
          </a:p>
        </p:txBody>
      </p:sp>
    </p:spTree>
    <p:extLst>
      <p:ext uri="{BB962C8B-B14F-4D97-AF65-F5344CB8AC3E}">
        <p14:creationId xmlns:p14="http://schemas.microsoft.com/office/powerpoint/2010/main" val="10646745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given you all of the Best Practices, and you can absolutely implement that and see results</a:t>
            </a:r>
          </a:p>
        </p:txBody>
      </p:sp>
      <p:sp>
        <p:nvSpPr>
          <p:cNvPr id="4" name="Slide Number Placeholder 3"/>
          <p:cNvSpPr>
            <a:spLocks noGrp="1"/>
          </p:cNvSpPr>
          <p:nvPr>
            <p:ph type="sldNum" sz="quarter" idx="5"/>
          </p:nvPr>
        </p:nvSpPr>
        <p:spPr/>
        <p:txBody>
          <a:bodyPr/>
          <a:lstStyle/>
          <a:p>
            <a:fld id="{C39C17B8-51EA-3447-9B6D-3E1865D39FBF}" type="slidenum">
              <a:rPr lang="en-US" smtClean="0"/>
              <a:t>60</a:t>
            </a:fld>
            <a:endParaRPr lang="en-US" dirty="0"/>
          </a:p>
        </p:txBody>
      </p:sp>
    </p:spTree>
    <p:extLst>
      <p:ext uri="{BB962C8B-B14F-4D97-AF65-F5344CB8AC3E}">
        <p14:creationId xmlns:p14="http://schemas.microsoft.com/office/powerpoint/2010/main" val="2049710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of you who want more – who know you need more expertise and seasoned team members, I’d love to offer a call with one of my team members to see how we can help. </a:t>
            </a:r>
          </a:p>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61</a:t>
            </a:fld>
            <a:endParaRPr lang="en-US" dirty="0"/>
          </a:p>
        </p:txBody>
      </p:sp>
    </p:spTree>
    <p:extLst>
      <p:ext uri="{BB962C8B-B14F-4D97-AF65-F5344CB8AC3E}">
        <p14:creationId xmlns:p14="http://schemas.microsoft.com/office/powerpoint/2010/main" val="5778194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on the call is to get you CLARITY</a:t>
            </a:r>
          </a:p>
        </p:txBody>
      </p:sp>
      <p:sp>
        <p:nvSpPr>
          <p:cNvPr id="4" name="Slide Number Placeholder 3"/>
          <p:cNvSpPr>
            <a:spLocks noGrp="1"/>
          </p:cNvSpPr>
          <p:nvPr>
            <p:ph type="sldNum" sz="quarter" idx="5"/>
          </p:nvPr>
        </p:nvSpPr>
        <p:spPr/>
        <p:txBody>
          <a:bodyPr/>
          <a:lstStyle/>
          <a:p>
            <a:fld id="{C39C17B8-51EA-3447-9B6D-3E1865D39FBF}" type="slidenum">
              <a:rPr lang="en-US" smtClean="0"/>
              <a:t>62</a:t>
            </a:fld>
            <a:endParaRPr lang="en-US" dirty="0"/>
          </a:p>
        </p:txBody>
      </p:sp>
    </p:spTree>
    <p:extLst>
      <p:ext uri="{BB962C8B-B14F-4D97-AF65-F5344CB8AC3E}">
        <p14:creationId xmlns:p14="http://schemas.microsoft.com/office/powerpoint/2010/main" val="413012145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63</a:t>
            </a:fld>
            <a:endParaRPr lang="en-US" dirty="0"/>
          </a:p>
        </p:txBody>
      </p:sp>
    </p:spTree>
    <p:extLst>
      <p:ext uri="{BB962C8B-B14F-4D97-AF65-F5344CB8AC3E}">
        <p14:creationId xmlns:p14="http://schemas.microsoft.com/office/powerpoint/2010/main" val="30230063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call, our goal will be to get you crystal clear on three things…..</a:t>
            </a:r>
          </a:p>
        </p:txBody>
      </p:sp>
      <p:sp>
        <p:nvSpPr>
          <p:cNvPr id="4" name="Slide Number Placeholder 3"/>
          <p:cNvSpPr>
            <a:spLocks noGrp="1"/>
          </p:cNvSpPr>
          <p:nvPr>
            <p:ph type="sldNum" sz="quarter" idx="5"/>
          </p:nvPr>
        </p:nvSpPr>
        <p:spPr/>
        <p:txBody>
          <a:bodyPr/>
          <a:lstStyle/>
          <a:p>
            <a:fld id="{C39C17B8-51EA-3447-9B6D-3E1865D39FBF}" type="slidenum">
              <a:rPr lang="en-US" smtClean="0"/>
              <a:t>64</a:t>
            </a:fld>
            <a:endParaRPr lang="en-US" dirty="0"/>
          </a:p>
        </p:txBody>
      </p:sp>
    </p:spTree>
    <p:extLst>
      <p:ext uri="{BB962C8B-B14F-4D97-AF65-F5344CB8AC3E}">
        <p14:creationId xmlns:p14="http://schemas.microsoft.com/office/powerpoint/2010/main" val="38895656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Before we close, I just want to share some additional results clients that have worked with us have gotten….</a:t>
            </a:r>
            <a:endParaRPr lang="en-US" dirty="0"/>
          </a:p>
        </p:txBody>
      </p:sp>
      <p:sp>
        <p:nvSpPr>
          <p:cNvPr id="4" name="Slide Number Placeholder 3"/>
          <p:cNvSpPr>
            <a:spLocks noGrp="1"/>
          </p:cNvSpPr>
          <p:nvPr>
            <p:ph type="sldNum" sz="quarter" idx="5"/>
          </p:nvPr>
        </p:nvSpPr>
        <p:spPr/>
        <p:txBody>
          <a:bodyPr/>
          <a:lstStyle/>
          <a:p>
            <a:fld id="{C39C17B8-51EA-3447-9B6D-3E1865D39FBF}" type="slidenum">
              <a:rPr lang="en-US" smtClean="0"/>
              <a:t>65</a:t>
            </a:fld>
            <a:endParaRPr lang="en-US" dirty="0"/>
          </a:p>
        </p:txBody>
      </p:sp>
    </p:spTree>
    <p:extLst>
      <p:ext uri="{BB962C8B-B14F-4D97-AF65-F5344CB8AC3E}">
        <p14:creationId xmlns:p14="http://schemas.microsoft.com/office/powerpoint/2010/main" val="22688380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on the call is to get you CLARITY</a:t>
            </a:r>
          </a:p>
        </p:txBody>
      </p:sp>
      <p:sp>
        <p:nvSpPr>
          <p:cNvPr id="4" name="Slide Number Placeholder 3"/>
          <p:cNvSpPr>
            <a:spLocks noGrp="1"/>
          </p:cNvSpPr>
          <p:nvPr>
            <p:ph type="sldNum" sz="quarter" idx="5"/>
          </p:nvPr>
        </p:nvSpPr>
        <p:spPr/>
        <p:txBody>
          <a:bodyPr/>
          <a:lstStyle/>
          <a:p>
            <a:fld id="{C39C17B8-51EA-3447-9B6D-3E1865D39FBF}" type="slidenum">
              <a:rPr lang="en-US" smtClean="0"/>
              <a:t>66</a:t>
            </a:fld>
            <a:endParaRPr lang="en-US" dirty="0"/>
          </a:p>
        </p:txBody>
      </p:sp>
    </p:spTree>
    <p:extLst>
      <p:ext uri="{BB962C8B-B14F-4D97-AF65-F5344CB8AC3E}">
        <p14:creationId xmlns:p14="http://schemas.microsoft.com/office/powerpoint/2010/main" val="2396354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EA85C-6887-8B4A-BC9B-AEC5013E8F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4181A8-E825-AD46-9553-9E132E7EB7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E8C048-9269-0645-B049-843516DFF583}"/>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5" name="Footer Placeholder 4">
            <a:extLst>
              <a:ext uri="{FF2B5EF4-FFF2-40B4-BE49-F238E27FC236}">
                <a16:creationId xmlns:a16="http://schemas.microsoft.com/office/drawing/2014/main" id="{0D416C0F-3B1E-EF40-B4FB-754BE1E95F7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F43C658-D798-8944-8F1B-65D74657877E}"/>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1532394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DAFC2-B2A4-9C4A-9136-00B43E0164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FE1338-0DEE-8A4B-9D3C-15CEB24CBC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E6F15-6E45-3E48-8B84-BBFE24F8364D}"/>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5" name="Footer Placeholder 4">
            <a:extLst>
              <a:ext uri="{FF2B5EF4-FFF2-40B4-BE49-F238E27FC236}">
                <a16:creationId xmlns:a16="http://schemas.microsoft.com/office/drawing/2014/main" id="{E90EFBD2-AB34-9441-A751-64620819CA9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F2424CA-50C6-2F4A-AC8B-2FFB3FDA3297}"/>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436740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93A67-925E-B743-9243-BD5821DC9A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E64B95-6620-0F4B-B97F-4AE66D67E9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7302C4-F565-5D49-9F04-BBFB2B440070}"/>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5" name="Footer Placeholder 4">
            <a:extLst>
              <a:ext uri="{FF2B5EF4-FFF2-40B4-BE49-F238E27FC236}">
                <a16:creationId xmlns:a16="http://schemas.microsoft.com/office/drawing/2014/main" id="{B70F54FF-F298-6A44-A306-EBA2910F43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3A148B1-2C45-3B43-B159-61D8376E4796}"/>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2274713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3EE2A-5D75-F14D-AA7B-536AB9EDC1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802F94-B865-5548-8911-4548D4C217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A16D7B-7D2A-C546-8E10-0351A80D52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EF2DE7-0E93-1641-97EA-27214A5793F4}"/>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6" name="Footer Placeholder 5">
            <a:extLst>
              <a:ext uri="{FF2B5EF4-FFF2-40B4-BE49-F238E27FC236}">
                <a16:creationId xmlns:a16="http://schemas.microsoft.com/office/drawing/2014/main" id="{42C07A13-D528-DB41-A811-9228FEBF971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3FE9443-59A2-974D-A0F9-043837B3FB7A}"/>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302217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B827A-5E76-3249-9BFD-93F6868042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DF43D2-C812-CE45-B20E-6DF7DD8D6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9B7403-0A8F-2F46-AB5B-7BE1FBAEC3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4BA2A2-66E4-E842-BFD0-906B92F35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E80EDC-A686-2948-94C5-F64568E6F2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4FA9E3-AA26-754A-9FC1-85893AD5C8C2}"/>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8" name="Footer Placeholder 7">
            <a:extLst>
              <a:ext uri="{FF2B5EF4-FFF2-40B4-BE49-F238E27FC236}">
                <a16:creationId xmlns:a16="http://schemas.microsoft.com/office/drawing/2014/main" id="{A21DD8CA-8B96-A842-844B-FE3D41226FA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F717737-AA6A-0046-BB8C-32CDB29FBA57}"/>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742524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6E0C1-8F42-C04D-AC33-B68252C578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1FBCEA-BCFD-1842-8E31-A8959D0132E8}"/>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4" name="Footer Placeholder 3">
            <a:extLst>
              <a:ext uri="{FF2B5EF4-FFF2-40B4-BE49-F238E27FC236}">
                <a16:creationId xmlns:a16="http://schemas.microsoft.com/office/drawing/2014/main" id="{97048D63-14AC-BF4F-B43A-E34BB5DCC3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1AD29D7-7239-0E46-9CC7-D4997ECA9DF0}"/>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3220418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D7B5B3-7D0C-8D4A-B894-98677BEA370C}"/>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3" name="Footer Placeholder 2">
            <a:extLst>
              <a:ext uri="{FF2B5EF4-FFF2-40B4-BE49-F238E27FC236}">
                <a16:creationId xmlns:a16="http://schemas.microsoft.com/office/drawing/2014/main" id="{AE2FBD49-7929-A142-96E3-4B1E1420AEE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16D392B-F495-4640-97B2-DC1941BA3E60}"/>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2976043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72A87-9E9F-CD4E-B056-6D45EAEFA4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01D035-EB88-CB49-B8D8-0F3422DF69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DFCF43-A082-0C4A-9C99-C07D10F84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49A71-0DEC-2048-BFFB-BEB20186774E}"/>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6" name="Footer Placeholder 5">
            <a:extLst>
              <a:ext uri="{FF2B5EF4-FFF2-40B4-BE49-F238E27FC236}">
                <a16:creationId xmlns:a16="http://schemas.microsoft.com/office/drawing/2014/main" id="{7D9D3788-79D9-D641-9E42-682AC24ACE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61391DE-EE5B-D442-A4A7-976E3EF52EA8}"/>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68940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58804-4288-AE44-AE28-321387D46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D81E84-1D72-CA49-B80F-8177A1545F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C6D2BAF-24A8-214F-9786-759CE29B97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C11E2-EF2E-2C49-88F0-90B769A4CE09}"/>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6" name="Footer Placeholder 5">
            <a:extLst>
              <a:ext uri="{FF2B5EF4-FFF2-40B4-BE49-F238E27FC236}">
                <a16:creationId xmlns:a16="http://schemas.microsoft.com/office/drawing/2014/main" id="{46914D16-22BF-C445-9C38-B594A7B9C69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04648A6-AEC8-5041-8080-0D1B1AC4C77F}"/>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262572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F7AAC-5553-B24C-B666-96D344E23E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70FF6C-8673-7B47-A55C-FD24433E78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7CA3F5-B2D5-E247-A885-7D17C38AA3B8}"/>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5" name="Footer Placeholder 4">
            <a:extLst>
              <a:ext uri="{FF2B5EF4-FFF2-40B4-BE49-F238E27FC236}">
                <a16:creationId xmlns:a16="http://schemas.microsoft.com/office/drawing/2014/main" id="{E728CBFB-F652-C642-8252-0CCD9CB3699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6F1BCD0-CC39-6C42-BC69-AAEC6E329E4C}"/>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3354996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869CE8-86EE-8A40-855D-65533BC0BB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6959C6-FA5B-3B45-807E-8A18E563D5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F56F0D-3E66-DB40-89CE-CF3A63E8366A}"/>
              </a:ext>
            </a:extLst>
          </p:cNvPr>
          <p:cNvSpPr>
            <a:spLocks noGrp="1"/>
          </p:cNvSpPr>
          <p:nvPr>
            <p:ph type="dt" sz="half" idx="10"/>
          </p:nvPr>
        </p:nvSpPr>
        <p:spPr/>
        <p:txBody>
          <a:bodyPr/>
          <a:lstStyle/>
          <a:p>
            <a:fld id="{8A980BEF-EB23-F54E-A8A4-15703FF7B4DF}" type="datetimeFigureOut">
              <a:rPr lang="en-US" smtClean="0"/>
              <a:t>2/15/2026</a:t>
            </a:fld>
            <a:endParaRPr lang="en-US" dirty="0"/>
          </a:p>
        </p:txBody>
      </p:sp>
      <p:sp>
        <p:nvSpPr>
          <p:cNvPr id="5" name="Footer Placeholder 4">
            <a:extLst>
              <a:ext uri="{FF2B5EF4-FFF2-40B4-BE49-F238E27FC236}">
                <a16:creationId xmlns:a16="http://schemas.microsoft.com/office/drawing/2014/main" id="{CA06F772-C8BA-F94E-B5BE-DE8EB03129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A44B1F-9FD6-0747-80A6-49A82342C215}"/>
              </a:ext>
            </a:extLst>
          </p:cNvPr>
          <p:cNvSpPr>
            <a:spLocks noGrp="1"/>
          </p:cNvSpPr>
          <p:nvPr>
            <p:ph type="sldNum" sz="quarter" idx="12"/>
          </p:nvPr>
        </p:nvSpPr>
        <p:spPr/>
        <p:txBody>
          <a:bodyPr/>
          <a:lstStyle/>
          <a:p>
            <a:fld id="{868B3F30-CE46-5044-BB11-EEC55354C9CE}" type="slidenum">
              <a:rPr lang="en-US" smtClean="0"/>
              <a:t>‹#›</a:t>
            </a:fld>
            <a:endParaRPr lang="en-US" dirty="0"/>
          </a:p>
        </p:txBody>
      </p:sp>
    </p:spTree>
    <p:extLst>
      <p:ext uri="{BB962C8B-B14F-4D97-AF65-F5344CB8AC3E}">
        <p14:creationId xmlns:p14="http://schemas.microsoft.com/office/powerpoint/2010/main" val="2677166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mployee Spotlight 0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F6C4A57-360E-4FD5-81BF-F9A4798CD565}"/>
              </a:ext>
            </a:extLst>
          </p:cNvPr>
          <p:cNvSpPr/>
          <p:nvPr userDrawn="1"/>
        </p:nvSpPr>
        <p:spPr>
          <a:xfrm flipV="1">
            <a:off x="8334380" y="3429000"/>
            <a:ext cx="3857619" cy="3429000"/>
          </a:xfrm>
          <a:custGeom>
            <a:avLst/>
            <a:gdLst>
              <a:gd name="connsiteX0" fmla="*/ 128598 w 5418703"/>
              <a:gd name="connsiteY0" fmla="*/ 0 h 4817888"/>
              <a:gd name="connsiteX1" fmla="*/ 5418703 w 5418703"/>
              <a:gd name="connsiteY1" fmla="*/ 0 h 4817888"/>
              <a:gd name="connsiteX2" fmla="*/ 5418703 w 5418703"/>
              <a:gd name="connsiteY2" fmla="*/ 4473842 h 4817888"/>
              <a:gd name="connsiteX3" fmla="*/ 5323821 w 5418703"/>
              <a:gd name="connsiteY3" fmla="*/ 4516737 h 4817888"/>
              <a:gd name="connsiteX4" fmla="*/ 3832168 w 5418703"/>
              <a:gd name="connsiteY4" fmla="*/ 4817888 h 4817888"/>
              <a:gd name="connsiteX5" fmla="*/ 0 w 5418703"/>
              <a:gd name="connsiteY5" fmla="*/ 985720 h 4817888"/>
              <a:gd name="connsiteX6" fmla="*/ 120647 w 5418703"/>
              <a:gd name="connsiteY6" fmla="*/ 28001 h 4817888"/>
              <a:gd name="connsiteX7" fmla="*/ 128598 w 5418703"/>
              <a:gd name="connsiteY7" fmla="*/ 0 h 481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8703" h="4817888">
                <a:moveTo>
                  <a:pt x="128598" y="0"/>
                </a:moveTo>
                <a:lnTo>
                  <a:pt x="5418703" y="0"/>
                </a:lnTo>
                <a:lnTo>
                  <a:pt x="5418703" y="4473842"/>
                </a:lnTo>
                <a:lnTo>
                  <a:pt x="5323821" y="4516737"/>
                </a:lnTo>
                <a:cubicBezTo>
                  <a:pt x="4865347" y="4710656"/>
                  <a:pt x="4361280" y="4817888"/>
                  <a:pt x="3832168" y="4817888"/>
                </a:cubicBezTo>
                <a:cubicBezTo>
                  <a:pt x="1715720" y="4817888"/>
                  <a:pt x="0" y="3102168"/>
                  <a:pt x="0" y="985720"/>
                </a:cubicBezTo>
                <a:cubicBezTo>
                  <a:pt x="0" y="655025"/>
                  <a:pt x="41887" y="334113"/>
                  <a:pt x="120647" y="28001"/>
                </a:cubicBezTo>
                <a:lnTo>
                  <a:pt x="128598"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4" name="Footer Placeholder 3"/>
          <p:cNvSpPr>
            <a:spLocks noGrp="1"/>
          </p:cNvSpPr>
          <p:nvPr>
            <p:ph type="ftr" sz="quarter" idx="11"/>
          </p:nvPr>
        </p:nvSpPr>
        <p:spPr>
          <a:xfrm>
            <a:off x="609600" y="6356352"/>
            <a:ext cx="3860800" cy="365125"/>
          </a:xfrm>
        </p:spPr>
        <p:txBody>
          <a:bodyPr/>
          <a:lstStyle>
            <a:lvl1pPr algn="l">
              <a:defRPr/>
            </a:lvl1pPr>
          </a:lstStyle>
          <a:p>
            <a:endParaRPr lang="en-US" dirty="0"/>
          </a:p>
        </p:txBody>
      </p:sp>
      <p:sp>
        <p:nvSpPr>
          <p:cNvPr id="5" name="Slide Number Placeholder 4"/>
          <p:cNvSpPr>
            <a:spLocks noGrp="1"/>
          </p:cNvSpPr>
          <p:nvPr>
            <p:ph type="sldNum" sz="quarter" idx="12"/>
          </p:nvPr>
        </p:nvSpPr>
        <p:spPr>
          <a:xfrm>
            <a:off x="9625311" y="5775736"/>
            <a:ext cx="1959480" cy="1420269"/>
          </a:xfrm>
        </p:spPr>
        <p:txBody>
          <a:bodyPr tIns="0" bIns="0" anchor="b"/>
          <a:lstStyle>
            <a:lvl1pPr>
              <a:defRPr sz="9600" b="1">
                <a:solidFill>
                  <a:schemeClr val="bg1">
                    <a:lumMod val="85000"/>
                  </a:schemeClr>
                </a:solidFill>
                <a:latin typeface="+mn-lt"/>
              </a:defRPr>
            </a:lvl1pPr>
          </a:lstStyle>
          <a:p>
            <a:fld id="{96E69268-9C8B-4EBF-A9EE-DC5DC2D48DC3}" type="slidenum">
              <a:rPr lang="en-US" smtClean="0"/>
              <a:pPr/>
              <a:t>‹#›</a:t>
            </a:fld>
            <a:endParaRPr lang="en-US" dirty="0"/>
          </a:p>
        </p:txBody>
      </p:sp>
      <p:sp>
        <p:nvSpPr>
          <p:cNvPr id="24" name="Picture Placeholder 23">
            <a:extLst>
              <a:ext uri="{FF2B5EF4-FFF2-40B4-BE49-F238E27FC236}">
                <a16:creationId xmlns:a16="http://schemas.microsoft.com/office/drawing/2014/main" id="{E4FF1206-3B90-4530-A1C8-C7A0E569215C}"/>
              </a:ext>
            </a:extLst>
          </p:cNvPr>
          <p:cNvSpPr>
            <a:spLocks noGrp="1"/>
          </p:cNvSpPr>
          <p:nvPr>
            <p:ph type="pic" sz="quarter" idx="13"/>
          </p:nvPr>
        </p:nvSpPr>
        <p:spPr>
          <a:xfrm>
            <a:off x="848243" y="692696"/>
            <a:ext cx="2376883" cy="2376264"/>
          </a:xfrm>
          <a:custGeom>
            <a:avLst/>
            <a:gdLst>
              <a:gd name="connsiteX0" fmla="*/ 816314 w 1632628"/>
              <a:gd name="connsiteY0" fmla="*/ 0 h 1632628"/>
              <a:gd name="connsiteX1" fmla="*/ 1632628 w 1632628"/>
              <a:gd name="connsiteY1" fmla="*/ 816314 h 1632628"/>
              <a:gd name="connsiteX2" fmla="*/ 816314 w 1632628"/>
              <a:gd name="connsiteY2" fmla="*/ 1632628 h 1632628"/>
              <a:gd name="connsiteX3" fmla="*/ 0 w 1632628"/>
              <a:gd name="connsiteY3" fmla="*/ 816314 h 1632628"/>
              <a:gd name="connsiteX4" fmla="*/ 816314 w 1632628"/>
              <a:gd name="connsiteY4" fmla="*/ 0 h 1632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628" h="1632628">
                <a:moveTo>
                  <a:pt x="816314" y="0"/>
                </a:moveTo>
                <a:cubicBezTo>
                  <a:pt x="1267152" y="0"/>
                  <a:pt x="1632628" y="365476"/>
                  <a:pt x="1632628" y="816314"/>
                </a:cubicBezTo>
                <a:cubicBezTo>
                  <a:pt x="1632628" y="1267152"/>
                  <a:pt x="1267152" y="1632628"/>
                  <a:pt x="816314" y="1632628"/>
                </a:cubicBezTo>
                <a:cubicBezTo>
                  <a:pt x="365476" y="1632628"/>
                  <a:pt x="0" y="1267152"/>
                  <a:pt x="0" y="816314"/>
                </a:cubicBezTo>
                <a:cubicBezTo>
                  <a:pt x="0" y="365476"/>
                  <a:pt x="365476" y="0"/>
                  <a:pt x="816314" y="0"/>
                </a:cubicBezTo>
                <a:close/>
              </a:path>
            </a:pathLst>
          </a:custGeom>
          <a:solidFill>
            <a:schemeClr val="bg1">
              <a:lumMod val="95000"/>
            </a:schemeClr>
          </a:solidFill>
          <a:effectLst/>
        </p:spPr>
        <p:txBody>
          <a:bodyPr wrap="square" anchor="ctr">
            <a:noAutofit/>
          </a:bodyPr>
          <a:lstStyle>
            <a:lvl1pPr marL="0" indent="0" algn="ctr">
              <a:buFontTx/>
              <a:buNone/>
              <a:defRPr sz="2400">
                <a:solidFill>
                  <a:schemeClr val="tx1"/>
                </a:solidFill>
                <a:latin typeface="+mn-lt"/>
              </a:defRPr>
            </a:lvl1pPr>
          </a:lstStyle>
          <a:p>
            <a:endParaRPr lang="en-IN" dirty="0"/>
          </a:p>
        </p:txBody>
      </p:sp>
    </p:spTree>
    <p:extLst>
      <p:ext uri="{BB962C8B-B14F-4D97-AF65-F5344CB8AC3E}">
        <p14:creationId xmlns:p14="http://schemas.microsoft.com/office/powerpoint/2010/main" val="3029199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E5445E-D61B-7548-8B53-33537F5C97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6AF643-3AA9-3C48-8D26-A94DE7CFD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073B97-F3A6-D745-85E1-CEDE0CB7B7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980BEF-EB23-F54E-A8A4-15703FF7B4DF}" type="datetimeFigureOut">
              <a:rPr lang="en-US" smtClean="0"/>
              <a:t>2/15/2026</a:t>
            </a:fld>
            <a:endParaRPr lang="en-US" dirty="0"/>
          </a:p>
        </p:txBody>
      </p:sp>
      <p:sp>
        <p:nvSpPr>
          <p:cNvPr id="5" name="Footer Placeholder 4">
            <a:extLst>
              <a:ext uri="{FF2B5EF4-FFF2-40B4-BE49-F238E27FC236}">
                <a16:creationId xmlns:a16="http://schemas.microsoft.com/office/drawing/2014/main" id="{05193C2C-2240-7746-9F62-830E80CFED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914629-B4A0-A346-BFBA-B712E5A082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8B3F30-CE46-5044-BB11-EEC55354C9CE}" type="slidenum">
              <a:rPr lang="en-US" smtClean="0"/>
              <a:t>‹#›</a:t>
            </a:fld>
            <a:endParaRPr lang="en-US" dirty="0"/>
          </a:p>
        </p:txBody>
      </p:sp>
    </p:spTree>
    <p:extLst>
      <p:ext uri="{BB962C8B-B14F-4D97-AF65-F5344CB8AC3E}">
        <p14:creationId xmlns:p14="http://schemas.microsoft.com/office/powerpoint/2010/main" val="1193250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5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0"/>
            <a:ext cx="7148945"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875" h="6858000">
                <a:moveTo>
                  <a:pt x="0" y="0"/>
                </a:moveTo>
                <a:lnTo>
                  <a:pt x="8143875" y="0"/>
                </a:lnTo>
                <a:lnTo>
                  <a:pt x="6096001" y="6858000"/>
                </a:lnTo>
                <a:lnTo>
                  <a:pt x="0" y="6858000"/>
                </a:lnTo>
                <a:lnTo>
                  <a:pt x="0" y="0"/>
                </a:lnTo>
                <a:close/>
              </a:path>
            </a:pathLst>
          </a:cu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FAE2E5A9-4F94-9645-A708-2E7E33446F0D}"/>
              </a:ext>
            </a:extLst>
          </p:cNvPr>
          <p:cNvPicPr>
            <a:picLocks noChangeAspect="1"/>
          </p:cNvPicPr>
          <p:nvPr/>
        </p:nvPicPr>
        <p:blipFill>
          <a:blip r:embed="rId3"/>
          <a:stretch>
            <a:fillRect/>
          </a:stretch>
        </p:blipFill>
        <p:spPr>
          <a:xfrm>
            <a:off x="568816" y="509763"/>
            <a:ext cx="1117163" cy="998526"/>
          </a:xfrm>
          <a:prstGeom prst="rect">
            <a:avLst/>
          </a:prstGeom>
        </p:spPr>
      </p:pic>
      <p:sp>
        <p:nvSpPr>
          <p:cNvPr id="7" name="TextBox 6">
            <a:extLst>
              <a:ext uri="{FF2B5EF4-FFF2-40B4-BE49-F238E27FC236}">
                <a16:creationId xmlns:a16="http://schemas.microsoft.com/office/drawing/2014/main" id="{F0AB4377-CA68-4612-A7D7-9A0B19AE6744}"/>
              </a:ext>
            </a:extLst>
          </p:cNvPr>
          <p:cNvSpPr txBox="1"/>
          <p:nvPr/>
        </p:nvSpPr>
        <p:spPr>
          <a:xfrm>
            <a:off x="702705" y="1112553"/>
            <a:ext cx="5132458" cy="383651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kern="1200" dirty="0">
                <a:solidFill>
                  <a:schemeClr val="bg1"/>
                </a:solidFill>
                <a:latin typeface="Kollektif" panose="020B0604020101010102"/>
                <a:ea typeface="+mj-ea"/>
                <a:cs typeface="+mj-cs"/>
              </a:rPr>
              <a:t>How To </a:t>
            </a:r>
          </a:p>
          <a:p>
            <a:pPr>
              <a:lnSpc>
                <a:spcPct val="90000"/>
              </a:lnSpc>
              <a:spcBef>
                <a:spcPct val="0"/>
              </a:spcBef>
              <a:spcAft>
                <a:spcPts val="600"/>
              </a:spcAft>
            </a:pPr>
            <a:r>
              <a:rPr lang="en-US" sz="6600" kern="1200" dirty="0">
                <a:solidFill>
                  <a:schemeClr val="bg1"/>
                </a:solidFill>
                <a:latin typeface="Kollektif" panose="020B0604020101010102"/>
                <a:ea typeface="+mj-ea"/>
                <a:cs typeface="+mj-cs"/>
              </a:rPr>
              <a:t>Win More </a:t>
            </a:r>
          </a:p>
          <a:p>
            <a:pPr>
              <a:lnSpc>
                <a:spcPct val="90000"/>
              </a:lnSpc>
              <a:spcBef>
                <a:spcPct val="0"/>
              </a:spcBef>
              <a:spcAft>
                <a:spcPts val="600"/>
              </a:spcAft>
            </a:pPr>
            <a:r>
              <a:rPr lang="en-US" sz="6600" kern="1200" dirty="0">
                <a:solidFill>
                  <a:schemeClr val="bg1"/>
                </a:solidFill>
                <a:latin typeface="Kollektif" panose="020B0604020101010102"/>
                <a:ea typeface="+mj-ea"/>
                <a:cs typeface="+mj-cs"/>
              </a:rPr>
              <a:t>RFPs!</a:t>
            </a:r>
          </a:p>
        </p:txBody>
      </p:sp>
      <p:pic>
        <p:nvPicPr>
          <p:cNvPr id="8" name="Picture 7">
            <a:extLst>
              <a:ext uri="{FF2B5EF4-FFF2-40B4-BE49-F238E27FC236}">
                <a16:creationId xmlns:a16="http://schemas.microsoft.com/office/drawing/2014/main" id="{11454AD6-ABE6-4897-9CDD-34CC20A832CD}"/>
              </a:ext>
            </a:extLst>
          </p:cNvPr>
          <p:cNvPicPr>
            <a:picLocks noChangeAspect="1"/>
          </p:cNvPicPr>
          <p:nvPr/>
        </p:nvPicPr>
        <p:blipFill>
          <a:blip r:embed="rId4"/>
          <a:stretch>
            <a:fillRect/>
          </a:stretch>
        </p:blipFill>
        <p:spPr>
          <a:xfrm>
            <a:off x="5835163" y="653796"/>
            <a:ext cx="5550408" cy="5550408"/>
          </a:xfrm>
          <a:prstGeom prst="rect">
            <a:avLst/>
          </a:prstGeom>
        </p:spPr>
      </p:pic>
    </p:spTree>
    <p:extLst>
      <p:ext uri="{BB962C8B-B14F-4D97-AF65-F5344CB8AC3E}">
        <p14:creationId xmlns:p14="http://schemas.microsoft.com/office/powerpoint/2010/main" val="703845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D9CCE04-755E-EC45-8C60-E83BEA58389E}"/>
              </a:ext>
            </a:extLst>
          </p:cNvPr>
          <p:cNvPicPr>
            <a:picLocks noChangeAspect="1"/>
          </p:cNvPicPr>
          <p:nvPr/>
        </p:nvPicPr>
        <p:blipFill rotWithShape="1">
          <a:blip r:embed="rId3"/>
          <a:srcRect r="19403"/>
          <a:stretch/>
        </p:blipFill>
        <p:spPr>
          <a:xfrm>
            <a:off x="3766617" y="0"/>
            <a:ext cx="8425383" cy="6858000"/>
          </a:xfrm>
          <a:prstGeom prst="rect">
            <a:avLst/>
          </a:prstGeom>
        </p:spPr>
      </p:pic>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2683407" y="1891231"/>
            <a:ext cx="7519372" cy="837473"/>
          </a:xfrm>
          <a:prstGeom prst="rect">
            <a:avLst/>
          </a:prstGeom>
          <a:noFill/>
        </p:spPr>
        <p:txBody>
          <a:bodyPr wrap="square" rtlCol="0">
            <a:spAutoFit/>
          </a:bodyPr>
          <a:lstStyle/>
          <a:p>
            <a:pPr algn="ctr">
              <a:lnSpc>
                <a:spcPct val="150000"/>
              </a:lnSpc>
            </a:pPr>
            <a:r>
              <a:rPr lang="en-US" sz="3600" dirty="0">
                <a:solidFill>
                  <a:schemeClr val="bg1"/>
                </a:solidFill>
                <a:latin typeface="Kollektif" panose="020B0604020101010102" pitchFamily="34" charset="77"/>
              </a:rPr>
              <a:t>The #1 Question We Get:</a:t>
            </a:r>
          </a:p>
        </p:txBody>
      </p:sp>
    </p:spTree>
    <p:extLst>
      <p:ext uri="{BB962C8B-B14F-4D97-AF65-F5344CB8AC3E}">
        <p14:creationId xmlns:p14="http://schemas.microsoft.com/office/powerpoint/2010/main" val="1980768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D9CCE04-755E-EC45-8C60-E83BEA58389E}"/>
              </a:ext>
            </a:extLst>
          </p:cNvPr>
          <p:cNvPicPr>
            <a:picLocks noChangeAspect="1"/>
          </p:cNvPicPr>
          <p:nvPr/>
        </p:nvPicPr>
        <p:blipFill rotWithShape="1">
          <a:blip r:embed="rId3"/>
          <a:srcRect r="19403"/>
          <a:stretch/>
        </p:blipFill>
        <p:spPr>
          <a:xfrm>
            <a:off x="3766617" y="0"/>
            <a:ext cx="8425383" cy="6858000"/>
          </a:xfrm>
          <a:prstGeom prst="rect">
            <a:avLst/>
          </a:prstGeom>
        </p:spPr>
      </p:pic>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solidFill>
            <a:srgbClr val="FF44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2683407" y="1891231"/>
            <a:ext cx="7519372" cy="1668470"/>
          </a:xfrm>
          <a:prstGeom prst="rect">
            <a:avLst/>
          </a:prstGeom>
          <a:noFill/>
        </p:spPr>
        <p:txBody>
          <a:bodyPr wrap="square" rtlCol="0">
            <a:spAutoFit/>
          </a:bodyPr>
          <a:lstStyle/>
          <a:p>
            <a:pPr algn="ctr">
              <a:lnSpc>
                <a:spcPct val="150000"/>
              </a:lnSpc>
            </a:pPr>
            <a:r>
              <a:rPr lang="en-US" sz="3600" dirty="0">
                <a:solidFill>
                  <a:schemeClr val="accent2">
                    <a:lumMod val="75000"/>
                  </a:schemeClr>
                </a:solidFill>
                <a:latin typeface="Kollektif" panose="020B0604020101010102" pitchFamily="34" charset="77"/>
              </a:rPr>
              <a:t>The #1 Question We Get:</a:t>
            </a:r>
          </a:p>
          <a:p>
            <a:pPr algn="ctr">
              <a:lnSpc>
                <a:spcPct val="150000"/>
              </a:lnSpc>
            </a:pPr>
            <a:r>
              <a:rPr lang="en-US" sz="3600" dirty="0">
                <a:solidFill>
                  <a:schemeClr val="bg1"/>
                </a:solidFill>
                <a:latin typeface="Kollektif" panose="020B0604020101010102" pitchFamily="34" charset="77"/>
              </a:rPr>
              <a:t>How can we win more? </a:t>
            </a:r>
          </a:p>
        </p:txBody>
      </p:sp>
    </p:spTree>
    <p:extLst>
      <p:ext uri="{BB962C8B-B14F-4D97-AF65-F5344CB8AC3E}">
        <p14:creationId xmlns:p14="http://schemas.microsoft.com/office/powerpoint/2010/main" val="3588124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FDFDAB9-E49C-1E4D-B594-785ABE977821}"/>
              </a:ext>
            </a:extLst>
          </p:cNvPr>
          <p:cNvSpPr txBox="1"/>
          <p:nvPr/>
        </p:nvSpPr>
        <p:spPr>
          <a:xfrm>
            <a:off x="-9273769" y="167716"/>
            <a:ext cx="2084225" cy="738664"/>
          </a:xfrm>
          <a:prstGeom prst="rect">
            <a:avLst/>
          </a:prstGeom>
          <a:noFill/>
        </p:spPr>
        <p:txBody>
          <a:bodyPr wrap="none" rtlCol="0">
            <a:spAutoFit/>
          </a:bodyPr>
          <a:lstStyle/>
          <a:p>
            <a:r>
              <a:rPr lang="en-US" sz="4200" dirty="0">
                <a:solidFill>
                  <a:schemeClr val="bg1"/>
                </a:solidFill>
                <a:latin typeface="Bebas Neue" panose="020B0606020202050201" pitchFamily="34" charset="77"/>
              </a:rPr>
              <a:t>DIAGNOSTIC</a:t>
            </a:r>
          </a:p>
        </p:txBody>
      </p:sp>
      <p:sp>
        <p:nvSpPr>
          <p:cNvPr id="18" name="TextBox 17">
            <a:extLst>
              <a:ext uri="{FF2B5EF4-FFF2-40B4-BE49-F238E27FC236}">
                <a16:creationId xmlns:a16="http://schemas.microsoft.com/office/drawing/2014/main" id="{D380E602-8854-4F45-B4F3-56959E00E500}"/>
              </a:ext>
            </a:extLst>
          </p:cNvPr>
          <p:cNvSpPr txBox="1"/>
          <p:nvPr/>
        </p:nvSpPr>
        <p:spPr>
          <a:xfrm>
            <a:off x="-9273768" y="637965"/>
            <a:ext cx="4473706" cy="456856"/>
          </a:xfrm>
          <a:prstGeom prst="rect">
            <a:avLst/>
          </a:prstGeom>
          <a:noFill/>
        </p:spPr>
        <p:txBody>
          <a:bodyPr wrap="square" rtlCol="0">
            <a:spAutoFit/>
          </a:bodyPr>
          <a:lstStyle/>
          <a:p>
            <a:pPr>
              <a:lnSpc>
                <a:spcPct val="150000"/>
              </a:lnSpc>
            </a:pPr>
            <a:r>
              <a:rPr lang="en-US" dirty="0">
                <a:solidFill>
                  <a:schemeClr val="bg1"/>
                </a:solidFill>
                <a:latin typeface="Kollektif" panose="020B0604020101010102" pitchFamily="34" charset="77"/>
              </a:rPr>
              <a:t>90-Day Process</a:t>
            </a:r>
          </a:p>
        </p:txBody>
      </p:sp>
      <p:sp>
        <p:nvSpPr>
          <p:cNvPr id="6" name="Rectangle 5">
            <a:extLst>
              <a:ext uri="{FF2B5EF4-FFF2-40B4-BE49-F238E27FC236}">
                <a16:creationId xmlns:a16="http://schemas.microsoft.com/office/drawing/2014/main" id="{543C6006-763E-4E01-97D2-E367080BD48C}"/>
              </a:ext>
            </a:extLst>
          </p:cNvPr>
          <p:cNvSpPr/>
          <p:nvPr/>
        </p:nvSpPr>
        <p:spPr>
          <a:xfrm>
            <a:off x="3588262" y="4688444"/>
            <a:ext cx="4715010" cy="814726"/>
          </a:xfrm>
          <a:prstGeom prst="rect">
            <a:avLst/>
          </a:prstGeom>
          <a:solidFill>
            <a:srgbClr val="0BB2AF"/>
          </a:solidFill>
          <a:ln>
            <a:solidFill>
              <a:srgbClr val="0BB2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rabicPeriod"/>
            </a:pPr>
            <a:r>
              <a:rPr lang="en-US" dirty="0">
                <a:latin typeface="Kollektif" panose="020B0604020101010102"/>
              </a:rPr>
              <a:t>Respond to the Requirements.</a:t>
            </a:r>
          </a:p>
        </p:txBody>
      </p:sp>
      <p:cxnSp>
        <p:nvCxnSpPr>
          <p:cNvPr id="7" name="Straight Connector 6">
            <a:extLst>
              <a:ext uri="{FF2B5EF4-FFF2-40B4-BE49-F238E27FC236}">
                <a16:creationId xmlns:a16="http://schemas.microsoft.com/office/drawing/2014/main" id="{5045EB93-336D-40FD-AF6E-19A615C82167}"/>
              </a:ext>
            </a:extLst>
          </p:cNvPr>
          <p:cNvCxnSpPr/>
          <p:nvPr/>
        </p:nvCxnSpPr>
        <p:spPr>
          <a:xfrm flipV="1">
            <a:off x="650047" y="3150563"/>
            <a:ext cx="11055140" cy="78006"/>
          </a:xfrm>
          <a:prstGeom prst="line">
            <a:avLst/>
          </a:prstGeom>
          <a:ln w="76200">
            <a:solidFill>
              <a:srgbClr val="0BB2A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0027EAB-4C72-4DFF-976C-E445AD7D4C3C}"/>
              </a:ext>
            </a:extLst>
          </p:cNvPr>
          <p:cNvSpPr txBox="1"/>
          <p:nvPr/>
        </p:nvSpPr>
        <p:spPr>
          <a:xfrm>
            <a:off x="3664316" y="2820234"/>
            <a:ext cx="4562901" cy="369332"/>
          </a:xfrm>
          <a:prstGeom prst="rect">
            <a:avLst/>
          </a:prstGeom>
          <a:noFill/>
        </p:spPr>
        <p:txBody>
          <a:bodyPr wrap="square" rtlCol="0">
            <a:spAutoFit/>
          </a:bodyPr>
          <a:lstStyle/>
          <a:p>
            <a:pPr algn="ctr"/>
            <a:r>
              <a:rPr lang="en-US" b="1" dirty="0">
                <a:solidFill>
                  <a:srgbClr val="666666"/>
                </a:solidFill>
                <a:latin typeface="Kollektif" panose="020B0604020101010102"/>
              </a:rPr>
              <a:t>Baseline</a:t>
            </a:r>
          </a:p>
        </p:txBody>
      </p:sp>
      <p:sp>
        <p:nvSpPr>
          <p:cNvPr id="10" name="TextBox 9">
            <a:extLst>
              <a:ext uri="{FF2B5EF4-FFF2-40B4-BE49-F238E27FC236}">
                <a16:creationId xmlns:a16="http://schemas.microsoft.com/office/drawing/2014/main" id="{95A94B79-695C-48A0-9D61-8F1F87D35AD0}"/>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1" name="Picture 10" descr="A picture containing text&#10;&#10;Description automatically generated">
            <a:extLst>
              <a:ext uri="{FF2B5EF4-FFF2-40B4-BE49-F238E27FC236}">
                <a16:creationId xmlns:a16="http://schemas.microsoft.com/office/drawing/2014/main" id="{CB429F62-D1C3-4E73-98F4-8D18DA081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12" name="TextBox 11">
            <a:extLst>
              <a:ext uri="{FF2B5EF4-FFF2-40B4-BE49-F238E27FC236}">
                <a16:creationId xmlns:a16="http://schemas.microsoft.com/office/drawing/2014/main" id="{8E468411-B543-49C3-9890-58E678A547F4}"/>
              </a:ext>
            </a:extLst>
          </p:cNvPr>
          <p:cNvSpPr txBox="1"/>
          <p:nvPr/>
        </p:nvSpPr>
        <p:spPr>
          <a:xfrm>
            <a:off x="371955" y="284022"/>
            <a:ext cx="4246344"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TO BE A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Winner</a:t>
            </a:r>
          </a:p>
        </p:txBody>
      </p:sp>
    </p:spTree>
    <p:extLst>
      <p:ext uri="{BB962C8B-B14F-4D97-AF65-F5344CB8AC3E}">
        <p14:creationId xmlns:p14="http://schemas.microsoft.com/office/powerpoint/2010/main" val="657937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FDFDAB9-E49C-1E4D-B594-785ABE977821}"/>
              </a:ext>
            </a:extLst>
          </p:cNvPr>
          <p:cNvSpPr txBox="1"/>
          <p:nvPr/>
        </p:nvSpPr>
        <p:spPr>
          <a:xfrm>
            <a:off x="-9273769" y="167716"/>
            <a:ext cx="2084225" cy="738664"/>
          </a:xfrm>
          <a:prstGeom prst="rect">
            <a:avLst/>
          </a:prstGeom>
          <a:noFill/>
        </p:spPr>
        <p:txBody>
          <a:bodyPr wrap="none" rtlCol="0">
            <a:spAutoFit/>
          </a:bodyPr>
          <a:lstStyle/>
          <a:p>
            <a:r>
              <a:rPr lang="en-US" sz="4200" dirty="0">
                <a:solidFill>
                  <a:schemeClr val="bg1"/>
                </a:solidFill>
                <a:latin typeface="Bebas Neue" panose="020B0606020202050201" pitchFamily="34" charset="77"/>
              </a:rPr>
              <a:t>DIAGNOSTIC</a:t>
            </a:r>
          </a:p>
        </p:txBody>
      </p:sp>
      <p:sp>
        <p:nvSpPr>
          <p:cNvPr id="18" name="TextBox 17">
            <a:extLst>
              <a:ext uri="{FF2B5EF4-FFF2-40B4-BE49-F238E27FC236}">
                <a16:creationId xmlns:a16="http://schemas.microsoft.com/office/drawing/2014/main" id="{D380E602-8854-4F45-B4F3-56959E00E500}"/>
              </a:ext>
            </a:extLst>
          </p:cNvPr>
          <p:cNvSpPr txBox="1"/>
          <p:nvPr/>
        </p:nvSpPr>
        <p:spPr>
          <a:xfrm>
            <a:off x="-9273768" y="637965"/>
            <a:ext cx="4473706" cy="456856"/>
          </a:xfrm>
          <a:prstGeom prst="rect">
            <a:avLst/>
          </a:prstGeom>
          <a:noFill/>
        </p:spPr>
        <p:txBody>
          <a:bodyPr wrap="square" rtlCol="0">
            <a:spAutoFit/>
          </a:bodyPr>
          <a:lstStyle/>
          <a:p>
            <a:pPr>
              <a:lnSpc>
                <a:spcPct val="150000"/>
              </a:lnSpc>
            </a:pPr>
            <a:r>
              <a:rPr lang="en-US" dirty="0">
                <a:solidFill>
                  <a:schemeClr val="bg1"/>
                </a:solidFill>
                <a:latin typeface="Kollektif" panose="020B0604020101010102" pitchFamily="34" charset="77"/>
              </a:rPr>
              <a:t>90-Day Process</a:t>
            </a:r>
          </a:p>
        </p:txBody>
      </p:sp>
      <p:sp>
        <p:nvSpPr>
          <p:cNvPr id="6" name="Rectangle 5">
            <a:extLst>
              <a:ext uri="{FF2B5EF4-FFF2-40B4-BE49-F238E27FC236}">
                <a16:creationId xmlns:a16="http://schemas.microsoft.com/office/drawing/2014/main" id="{543C6006-763E-4E01-97D2-E367080BD48C}"/>
              </a:ext>
            </a:extLst>
          </p:cNvPr>
          <p:cNvSpPr/>
          <p:nvPr/>
        </p:nvSpPr>
        <p:spPr>
          <a:xfrm>
            <a:off x="3588262" y="4688444"/>
            <a:ext cx="4715010" cy="814726"/>
          </a:xfrm>
          <a:prstGeom prst="rect">
            <a:avLst/>
          </a:prstGeom>
          <a:solidFill>
            <a:srgbClr val="0BB2AF">
              <a:alpha val="50000"/>
            </a:srgbClr>
          </a:solidFill>
          <a:ln>
            <a:solidFill>
              <a:srgbClr val="0BB2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rabicPeriod"/>
            </a:pPr>
            <a:r>
              <a:rPr lang="en-US" dirty="0">
                <a:latin typeface="Kollektif" panose="020B0604020101010102"/>
              </a:rPr>
              <a:t>Respond to the Requirements.</a:t>
            </a:r>
          </a:p>
        </p:txBody>
      </p:sp>
      <p:cxnSp>
        <p:nvCxnSpPr>
          <p:cNvPr id="7" name="Straight Connector 6">
            <a:extLst>
              <a:ext uri="{FF2B5EF4-FFF2-40B4-BE49-F238E27FC236}">
                <a16:creationId xmlns:a16="http://schemas.microsoft.com/office/drawing/2014/main" id="{5045EB93-336D-40FD-AF6E-19A615C82167}"/>
              </a:ext>
            </a:extLst>
          </p:cNvPr>
          <p:cNvCxnSpPr/>
          <p:nvPr/>
        </p:nvCxnSpPr>
        <p:spPr>
          <a:xfrm flipV="1">
            <a:off x="650047" y="3150563"/>
            <a:ext cx="11055140" cy="78006"/>
          </a:xfrm>
          <a:prstGeom prst="line">
            <a:avLst/>
          </a:prstGeom>
          <a:ln w="76200">
            <a:solidFill>
              <a:srgbClr val="0BB2A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0027EAB-4C72-4DFF-976C-E445AD7D4C3C}"/>
              </a:ext>
            </a:extLst>
          </p:cNvPr>
          <p:cNvSpPr txBox="1"/>
          <p:nvPr/>
        </p:nvSpPr>
        <p:spPr>
          <a:xfrm>
            <a:off x="3664316" y="2820234"/>
            <a:ext cx="4562901" cy="369332"/>
          </a:xfrm>
          <a:prstGeom prst="rect">
            <a:avLst/>
          </a:prstGeom>
          <a:noFill/>
        </p:spPr>
        <p:txBody>
          <a:bodyPr wrap="square" rtlCol="0">
            <a:spAutoFit/>
          </a:bodyPr>
          <a:lstStyle/>
          <a:p>
            <a:pPr algn="ctr"/>
            <a:r>
              <a:rPr lang="en-US" b="1" dirty="0">
                <a:solidFill>
                  <a:srgbClr val="666666"/>
                </a:solidFill>
                <a:latin typeface="Kollektif" panose="020B0604020101010102"/>
              </a:rPr>
              <a:t>Baseline</a:t>
            </a:r>
          </a:p>
        </p:txBody>
      </p:sp>
      <p:sp>
        <p:nvSpPr>
          <p:cNvPr id="10" name="Rectangle 9">
            <a:extLst>
              <a:ext uri="{FF2B5EF4-FFF2-40B4-BE49-F238E27FC236}">
                <a16:creationId xmlns:a16="http://schemas.microsoft.com/office/drawing/2014/main" id="{F0C10846-BF14-4129-9AC1-F7F6042B55C2}"/>
              </a:ext>
            </a:extLst>
          </p:cNvPr>
          <p:cNvSpPr/>
          <p:nvPr/>
        </p:nvSpPr>
        <p:spPr>
          <a:xfrm>
            <a:off x="3588262" y="3514590"/>
            <a:ext cx="4715010" cy="814726"/>
          </a:xfrm>
          <a:prstGeom prst="rect">
            <a:avLst/>
          </a:prstGeom>
          <a:solidFill>
            <a:srgbClr val="0BB2AF">
              <a:alpha val="7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rabicPeriod" startAt="2"/>
            </a:pPr>
            <a:r>
              <a:rPr lang="en-US" dirty="0"/>
              <a:t>Meet the qualifications</a:t>
            </a:r>
          </a:p>
        </p:txBody>
      </p:sp>
      <p:sp>
        <p:nvSpPr>
          <p:cNvPr id="11" name="TextBox 10">
            <a:extLst>
              <a:ext uri="{FF2B5EF4-FFF2-40B4-BE49-F238E27FC236}">
                <a16:creationId xmlns:a16="http://schemas.microsoft.com/office/drawing/2014/main" id="{116468C9-2683-4A8A-9C3B-DF62B8BB2FC5}"/>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2" name="Picture 11" descr="A picture containing text&#10;&#10;Description automatically generated">
            <a:extLst>
              <a:ext uri="{FF2B5EF4-FFF2-40B4-BE49-F238E27FC236}">
                <a16:creationId xmlns:a16="http://schemas.microsoft.com/office/drawing/2014/main" id="{55BA65DD-4C09-4DB6-A5B8-EEFD15DA92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13" name="TextBox 12">
            <a:extLst>
              <a:ext uri="{FF2B5EF4-FFF2-40B4-BE49-F238E27FC236}">
                <a16:creationId xmlns:a16="http://schemas.microsoft.com/office/drawing/2014/main" id="{F1D1A820-E266-4530-9533-EE10C4BBB78B}"/>
              </a:ext>
            </a:extLst>
          </p:cNvPr>
          <p:cNvSpPr txBox="1"/>
          <p:nvPr/>
        </p:nvSpPr>
        <p:spPr>
          <a:xfrm>
            <a:off x="524355" y="436422"/>
            <a:ext cx="4246344"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TO BE A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Winner</a:t>
            </a:r>
          </a:p>
        </p:txBody>
      </p:sp>
    </p:spTree>
    <p:extLst>
      <p:ext uri="{BB962C8B-B14F-4D97-AF65-F5344CB8AC3E}">
        <p14:creationId xmlns:p14="http://schemas.microsoft.com/office/powerpoint/2010/main" val="485357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FDFDAB9-E49C-1E4D-B594-785ABE977821}"/>
              </a:ext>
            </a:extLst>
          </p:cNvPr>
          <p:cNvSpPr txBox="1"/>
          <p:nvPr/>
        </p:nvSpPr>
        <p:spPr>
          <a:xfrm>
            <a:off x="-9273769" y="167716"/>
            <a:ext cx="2084225" cy="738664"/>
          </a:xfrm>
          <a:prstGeom prst="rect">
            <a:avLst/>
          </a:prstGeom>
          <a:noFill/>
        </p:spPr>
        <p:txBody>
          <a:bodyPr wrap="none" rtlCol="0">
            <a:spAutoFit/>
          </a:bodyPr>
          <a:lstStyle/>
          <a:p>
            <a:r>
              <a:rPr lang="en-US" sz="4200" dirty="0">
                <a:solidFill>
                  <a:schemeClr val="bg1"/>
                </a:solidFill>
                <a:latin typeface="Bebas Neue" panose="020B0606020202050201" pitchFamily="34" charset="77"/>
              </a:rPr>
              <a:t>DIAGNOSTIC</a:t>
            </a:r>
          </a:p>
        </p:txBody>
      </p:sp>
      <p:sp>
        <p:nvSpPr>
          <p:cNvPr id="18" name="TextBox 17">
            <a:extLst>
              <a:ext uri="{FF2B5EF4-FFF2-40B4-BE49-F238E27FC236}">
                <a16:creationId xmlns:a16="http://schemas.microsoft.com/office/drawing/2014/main" id="{D380E602-8854-4F45-B4F3-56959E00E500}"/>
              </a:ext>
            </a:extLst>
          </p:cNvPr>
          <p:cNvSpPr txBox="1"/>
          <p:nvPr/>
        </p:nvSpPr>
        <p:spPr>
          <a:xfrm>
            <a:off x="-9273768" y="637965"/>
            <a:ext cx="4473706" cy="456856"/>
          </a:xfrm>
          <a:prstGeom prst="rect">
            <a:avLst/>
          </a:prstGeom>
          <a:noFill/>
        </p:spPr>
        <p:txBody>
          <a:bodyPr wrap="square" rtlCol="0">
            <a:spAutoFit/>
          </a:bodyPr>
          <a:lstStyle/>
          <a:p>
            <a:pPr>
              <a:lnSpc>
                <a:spcPct val="150000"/>
              </a:lnSpc>
            </a:pPr>
            <a:r>
              <a:rPr lang="en-US" dirty="0">
                <a:solidFill>
                  <a:schemeClr val="bg1"/>
                </a:solidFill>
                <a:latin typeface="Kollektif" panose="020B0604020101010102" pitchFamily="34" charset="77"/>
              </a:rPr>
              <a:t>90-Day Process</a:t>
            </a:r>
          </a:p>
        </p:txBody>
      </p:sp>
      <p:sp>
        <p:nvSpPr>
          <p:cNvPr id="6" name="Rectangle 5">
            <a:extLst>
              <a:ext uri="{FF2B5EF4-FFF2-40B4-BE49-F238E27FC236}">
                <a16:creationId xmlns:a16="http://schemas.microsoft.com/office/drawing/2014/main" id="{543C6006-763E-4E01-97D2-E367080BD48C}"/>
              </a:ext>
            </a:extLst>
          </p:cNvPr>
          <p:cNvSpPr/>
          <p:nvPr/>
        </p:nvSpPr>
        <p:spPr>
          <a:xfrm>
            <a:off x="3588262" y="4688444"/>
            <a:ext cx="4715010" cy="814726"/>
          </a:xfrm>
          <a:prstGeom prst="rect">
            <a:avLst/>
          </a:prstGeom>
          <a:solidFill>
            <a:srgbClr val="0BB2AF">
              <a:alpha val="50000"/>
            </a:srgbClr>
          </a:solidFill>
          <a:ln>
            <a:solidFill>
              <a:srgbClr val="0BB2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rabicPeriod"/>
            </a:pPr>
            <a:r>
              <a:rPr lang="en-US" dirty="0">
                <a:latin typeface="Kollektif" panose="020B0604020101010102"/>
              </a:rPr>
              <a:t>Respond to the Requirements.</a:t>
            </a:r>
          </a:p>
        </p:txBody>
      </p:sp>
      <p:cxnSp>
        <p:nvCxnSpPr>
          <p:cNvPr id="7" name="Straight Connector 6">
            <a:extLst>
              <a:ext uri="{FF2B5EF4-FFF2-40B4-BE49-F238E27FC236}">
                <a16:creationId xmlns:a16="http://schemas.microsoft.com/office/drawing/2014/main" id="{5045EB93-336D-40FD-AF6E-19A615C82167}"/>
              </a:ext>
            </a:extLst>
          </p:cNvPr>
          <p:cNvCxnSpPr/>
          <p:nvPr/>
        </p:nvCxnSpPr>
        <p:spPr>
          <a:xfrm flipV="1">
            <a:off x="650047" y="3150563"/>
            <a:ext cx="11055140" cy="78006"/>
          </a:xfrm>
          <a:prstGeom prst="line">
            <a:avLst/>
          </a:prstGeom>
          <a:ln w="76200">
            <a:solidFill>
              <a:srgbClr val="0BB2A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0027EAB-4C72-4DFF-976C-E445AD7D4C3C}"/>
              </a:ext>
            </a:extLst>
          </p:cNvPr>
          <p:cNvSpPr txBox="1"/>
          <p:nvPr/>
        </p:nvSpPr>
        <p:spPr>
          <a:xfrm>
            <a:off x="3664316" y="2820234"/>
            <a:ext cx="4562901" cy="369332"/>
          </a:xfrm>
          <a:prstGeom prst="rect">
            <a:avLst/>
          </a:prstGeom>
          <a:noFill/>
        </p:spPr>
        <p:txBody>
          <a:bodyPr wrap="square" rtlCol="0">
            <a:spAutoFit/>
          </a:bodyPr>
          <a:lstStyle/>
          <a:p>
            <a:pPr algn="ctr"/>
            <a:r>
              <a:rPr lang="en-US" b="1" dirty="0">
                <a:solidFill>
                  <a:srgbClr val="666666"/>
                </a:solidFill>
                <a:latin typeface="Kollektif" panose="020B0604020101010102"/>
              </a:rPr>
              <a:t>Baseline</a:t>
            </a:r>
          </a:p>
        </p:txBody>
      </p:sp>
      <p:sp>
        <p:nvSpPr>
          <p:cNvPr id="9" name="TextBox 8">
            <a:extLst>
              <a:ext uri="{FF2B5EF4-FFF2-40B4-BE49-F238E27FC236}">
                <a16:creationId xmlns:a16="http://schemas.microsoft.com/office/drawing/2014/main" id="{6B228911-EAF5-4515-A563-A476DA17E3CF}"/>
              </a:ext>
            </a:extLst>
          </p:cNvPr>
          <p:cNvSpPr txBox="1"/>
          <p:nvPr/>
        </p:nvSpPr>
        <p:spPr>
          <a:xfrm>
            <a:off x="371955" y="284022"/>
            <a:ext cx="4246344"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TO BE A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Winner</a:t>
            </a:r>
          </a:p>
        </p:txBody>
      </p:sp>
      <p:sp>
        <p:nvSpPr>
          <p:cNvPr id="10" name="Rectangle 9">
            <a:extLst>
              <a:ext uri="{FF2B5EF4-FFF2-40B4-BE49-F238E27FC236}">
                <a16:creationId xmlns:a16="http://schemas.microsoft.com/office/drawing/2014/main" id="{F0C10846-BF14-4129-9AC1-F7F6042B55C2}"/>
              </a:ext>
            </a:extLst>
          </p:cNvPr>
          <p:cNvSpPr/>
          <p:nvPr/>
        </p:nvSpPr>
        <p:spPr>
          <a:xfrm>
            <a:off x="3588262" y="3514590"/>
            <a:ext cx="4715010" cy="814726"/>
          </a:xfrm>
          <a:prstGeom prst="rect">
            <a:avLst/>
          </a:prstGeom>
          <a:solidFill>
            <a:srgbClr val="0BB2AF">
              <a:alpha val="7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rabicPeriod" startAt="2"/>
            </a:pPr>
            <a:r>
              <a:rPr lang="en-US" dirty="0"/>
              <a:t>Meet the Qualifications</a:t>
            </a:r>
          </a:p>
        </p:txBody>
      </p:sp>
      <p:sp>
        <p:nvSpPr>
          <p:cNvPr id="11" name="Rectangle 10">
            <a:extLst>
              <a:ext uri="{FF2B5EF4-FFF2-40B4-BE49-F238E27FC236}">
                <a16:creationId xmlns:a16="http://schemas.microsoft.com/office/drawing/2014/main" id="{1EC797A8-65AB-4D89-B0D7-EC4A43EEA645}"/>
              </a:ext>
            </a:extLst>
          </p:cNvPr>
          <p:cNvSpPr/>
          <p:nvPr/>
        </p:nvSpPr>
        <p:spPr>
          <a:xfrm>
            <a:off x="3588262" y="1708127"/>
            <a:ext cx="4715010" cy="814726"/>
          </a:xfrm>
          <a:prstGeom prst="rect">
            <a:avLst/>
          </a:prstGeom>
          <a:solidFill>
            <a:srgbClr val="0BB2A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rabicPeriod" startAt="3"/>
            </a:pPr>
            <a:r>
              <a:rPr lang="en-US" dirty="0"/>
              <a:t>Distinction</a:t>
            </a:r>
          </a:p>
        </p:txBody>
      </p:sp>
      <p:pic>
        <p:nvPicPr>
          <p:cNvPr id="3" name="Graphic 2" descr="Star outline">
            <a:extLst>
              <a:ext uri="{FF2B5EF4-FFF2-40B4-BE49-F238E27FC236}">
                <a16:creationId xmlns:a16="http://schemas.microsoft.com/office/drawing/2014/main" id="{5C1B5863-2E46-41CC-A22E-ACA1BCD0B2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8299" y="1775117"/>
            <a:ext cx="592238" cy="592238"/>
          </a:xfrm>
          <a:prstGeom prst="rect">
            <a:avLst/>
          </a:prstGeom>
        </p:spPr>
      </p:pic>
      <p:sp>
        <p:nvSpPr>
          <p:cNvPr id="12" name="TextBox 11">
            <a:extLst>
              <a:ext uri="{FF2B5EF4-FFF2-40B4-BE49-F238E27FC236}">
                <a16:creationId xmlns:a16="http://schemas.microsoft.com/office/drawing/2014/main" id="{0732AB60-DC5C-4E10-AF47-0B66BCE2E85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3" name="Picture 12" descr="A picture containing text&#10;&#10;Description automatically generated">
            <a:extLst>
              <a:ext uri="{FF2B5EF4-FFF2-40B4-BE49-F238E27FC236}">
                <a16:creationId xmlns:a16="http://schemas.microsoft.com/office/drawing/2014/main" id="{26D1011E-4D34-4C90-98AC-BE371B5DCB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Tree>
    <p:extLst>
      <p:ext uri="{BB962C8B-B14F-4D97-AF65-F5344CB8AC3E}">
        <p14:creationId xmlns:p14="http://schemas.microsoft.com/office/powerpoint/2010/main" val="341862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D9CCE04-755E-EC45-8C60-E83BEA58389E}"/>
              </a:ext>
            </a:extLst>
          </p:cNvPr>
          <p:cNvPicPr>
            <a:picLocks noChangeAspect="1"/>
          </p:cNvPicPr>
          <p:nvPr/>
        </p:nvPicPr>
        <p:blipFill rotWithShape="1">
          <a:blip r:embed="rId3"/>
          <a:srcRect r="19403"/>
          <a:stretch/>
        </p:blipFill>
        <p:spPr>
          <a:xfrm>
            <a:off x="3766617" y="0"/>
            <a:ext cx="8425383" cy="6858000"/>
          </a:xfrm>
          <a:prstGeom prst="rect">
            <a:avLst/>
          </a:prstGeom>
        </p:spPr>
      </p:pic>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196850" y="254000"/>
            <a:ext cx="3187700" cy="6096000"/>
          </a:xfrm>
          <a:prstGeom prst="rect">
            <a:avLst/>
          </a:prstGeom>
          <a:noFill/>
        </p:spPr>
        <p:txBody>
          <a:bodyPr wrap="square" rtlCol="0">
            <a:normAutofit fontScale="92500"/>
          </a:bodyPr>
          <a:lstStyle/>
          <a:p>
            <a:pPr algn="ctr">
              <a:lnSpc>
                <a:spcPct val="150000"/>
              </a:lnSpc>
            </a:pPr>
            <a:r>
              <a:rPr lang="en-US" sz="3600" dirty="0">
                <a:latin typeface="Kollektif" panose="020B0604020101010102" pitchFamily="34" charset="77"/>
              </a:rPr>
              <a:t>The reason that The RFP Success Company exists </a:t>
            </a:r>
          </a:p>
          <a:p>
            <a:pPr algn="ctr">
              <a:lnSpc>
                <a:spcPct val="150000"/>
              </a:lnSpc>
            </a:pPr>
            <a:r>
              <a:rPr lang="en-US" sz="3600" dirty="0">
                <a:latin typeface="Kollektif" panose="020B0604020101010102" pitchFamily="34" charset="77"/>
              </a:rPr>
              <a:t>is to help businesses win more SLED opportunities. </a:t>
            </a:r>
          </a:p>
        </p:txBody>
      </p:sp>
    </p:spTree>
    <p:extLst>
      <p:ext uri="{BB962C8B-B14F-4D97-AF65-F5344CB8AC3E}">
        <p14:creationId xmlns:p14="http://schemas.microsoft.com/office/powerpoint/2010/main" val="3224919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196850" y="1292556"/>
            <a:ext cx="11546576" cy="5057444"/>
          </a:xfrm>
          <a:prstGeom prst="rect">
            <a:avLst/>
          </a:prstGeom>
          <a:noFill/>
        </p:spPr>
        <p:txBody>
          <a:bodyPr wrap="square" rtlCol="0">
            <a:normAutofit fontScale="92500"/>
          </a:bodyPr>
          <a:lstStyle/>
          <a:p>
            <a:pPr algn="ctr">
              <a:lnSpc>
                <a:spcPct val="150000"/>
              </a:lnSpc>
            </a:pPr>
            <a:r>
              <a:rPr lang="en-US" sz="3600" b="0" i="0" dirty="0">
                <a:solidFill>
                  <a:srgbClr val="1D1C1D"/>
                </a:solidFill>
                <a:effectLst/>
                <a:latin typeface="Slack-Lato"/>
              </a:rPr>
              <a:t>“We’ve been tracking over the last six months since we’ve been engaged with RFP Success and really refined this process… Our biggest win right now is we’re actually </a:t>
            </a:r>
            <a:r>
              <a:rPr lang="en-US" sz="3600" b="1" i="0" dirty="0">
                <a:solidFill>
                  <a:srgbClr val="1D1C1D"/>
                </a:solidFill>
                <a:effectLst/>
                <a:latin typeface="Slack-Lato"/>
              </a:rPr>
              <a:t>down-selected at 77%, </a:t>
            </a:r>
            <a:r>
              <a:rPr lang="en-US" sz="3600" b="0" i="0" dirty="0">
                <a:solidFill>
                  <a:srgbClr val="1D1C1D"/>
                </a:solidFill>
                <a:effectLst/>
                <a:latin typeface="Slack-Lato"/>
              </a:rPr>
              <a:t>which is huge. And our </a:t>
            </a:r>
            <a:r>
              <a:rPr lang="en-US" sz="3600" b="1" i="0" dirty="0">
                <a:solidFill>
                  <a:srgbClr val="1D1C1D"/>
                </a:solidFill>
                <a:effectLst/>
                <a:latin typeface="Slack-Lato"/>
              </a:rPr>
              <a:t>win rate</a:t>
            </a:r>
            <a:r>
              <a:rPr lang="en-US" sz="3600" b="0" i="0" dirty="0">
                <a:solidFill>
                  <a:srgbClr val="1D1C1D"/>
                </a:solidFill>
                <a:effectLst/>
                <a:latin typeface="Slack-Lato"/>
              </a:rPr>
              <a:t> is actually at </a:t>
            </a:r>
            <a:r>
              <a:rPr lang="en-US" sz="3600" b="1" i="0" dirty="0">
                <a:solidFill>
                  <a:srgbClr val="1D1C1D"/>
                </a:solidFill>
                <a:effectLst/>
                <a:latin typeface="Slack-Lato"/>
              </a:rPr>
              <a:t>43%</a:t>
            </a:r>
            <a:r>
              <a:rPr lang="en-US" sz="3600" b="0" i="0" dirty="0">
                <a:solidFill>
                  <a:srgbClr val="1D1C1D"/>
                </a:solidFill>
                <a:effectLst/>
                <a:latin typeface="Slack-Lato"/>
              </a:rPr>
              <a:t> trending toward 50% with a few more likely outstanding.”</a:t>
            </a:r>
          </a:p>
          <a:p>
            <a:pPr algn="ctr">
              <a:lnSpc>
                <a:spcPct val="150000"/>
              </a:lnSpc>
            </a:pPr>
            <a:r>
              <a:rPr lang="en-US" sz="3600" b="0" i="0" dirty="0">
                <a:solidFill>
                  <a:srgbClr val="1D1C1D"/>
                </a:solidFill>
                <a:effectLst/>
                <a:latin typeface="Slack-Lato"/>
              </a:rPr>
              <a:t> </a:t>
            </a:r>
            <a:r>
              <a:rPr lang="en-US" sz="3600" b="0" i="0" dirty="0">
                <a:solidFill>
                  <a:schemeClr val="bg1">
                    <a:lumMod val="65000"/>
                  </a:schemeClr>
                </a:solidFill>
                <a:effectLst/>
                <a:latin typeface="Slack-Lato"/>
              </a:rPr>
              <a:t>~ Josh Ezring, Highstreet IT</a:t>
            </a:r>
            <a:endParaRPr lang="en-US" sz="3600" dirty="0">
              <a:solidFill>
                <a:schemeClr val="bg1">
                  <a:lumMod val="65000"/>
                </a:schemeClr>
              </a:solidFill>
              <a:latin typeface="Kollektif" panose="020B0604020101010102" pitchFamily="34" charset="77"/>
            </a:endParaRPr>
          </a:p>
        </p:txBody>
      </p:sp>
      <p:sp>
        <p:nvSpPr>
          <p:cNvPr id="2" name="TextBox 1">
            <a:extLst>
              <a:ext uri="{FF2B5EF4-FFF2-40B4-BE49-F238E27FC236}">
                <a16:creationId xmlns:a16="http://schemas.microsoft.com/office/drawing/2014/main" id="{B8599BF4-A78C-D4C1-BD84-489E8E15916D}"/>
              </a:ext>
            </a:extLst>
          </p:cNvPr>
          <p:cNvSpPr txBox="1"/>
          <p:nvPr/>
        </p:nvSpPr>
        <p:spPr>
          <a:xfrm>
            <a:off x="371955" y="284022"/>
            <a:ext cx="5120196"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REAL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Client Results</a:t>
            </a:r>
          </a:p>
        </p:txBody>
      </p:sp>
    </p:spTree>
    <p:extLst>
      <p:ext uri="{BB962C8B-B14F-4D97-AF65-F5344CB8AC3E}">
        <p14:creationId xmlns:p14="http://schemas.microsoft.com/office/powerpoint/2010/main" val="1315384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196850" y="1292556"/>
            <a:ext cx="11546576" cy="5057444"/>
          </a:xfrm>
          <a:prstGeom prst="rect">
            <a:avLst/>
          </a:prstGeom>
          <a:noFill/>
        </p:spPr>
        <p:txBody>
          <a:bodyPr wrap="square" rtlCol="0">
            <a:normAutofit/>
          </a:bodyPr>
          <a:lstStyle/>
          <a:p>
            <a:pPr algn="ctr">
              <a:lnSpc>
                <a:spcPct val="150000"/>
              </a:lnSpc>
            </a:pPr>
            <a:r>
              <a:rPr lang="en-US" sz="3600" b="0" i="0" dirty="0">
                <a:solidFill>
                  <a:srgbClr val="1D1C1D"/>
                </a:solidFill>
                <a:effectLst/>
                <a:latin typeface="Slack-Lato"/>
              </a:rPr>
              <a:t>“I have to say I'm not sure I fully understood the value or the deliverables when I signed on...I just trusted my gut that I needed you all, and now I feel like y'all are doing all of the heavy lifting!”</a:t>
            </a:r>
          </a:p>
          <a:p>
            <a:pPr algn="ctr">
              <a:lnSpc>
                <a:spcPct val="150000"/>
              </a:lnSpc>
            </a:pPr>
            <a:r>
              <a:rPr lang="en-US" sz="3600" b="0" i="0" dirty="0">
                <a:solidFill>
                  <a:srgbClr val="1D1C1D"/>
                </a:solidFill>
                <a:effectLst/>
                <a:latin typeface="Slack-Lato"/>
              </a:rPr>
              <a:t> </a:t>
            </a:r>
            <a:r>
              <a:rPr lang="en-US" sz="3600" b="0" i="0" dirty="0">
                <a:solidFill>
                  <a:schemeClr val="bg1">
                    <a:lumMod val="65000"/>
                  </a:schemeClr>
                </a:solidFill>
                <a:effectLst/>
                <a:latin typeface="Slack-Lato"/>
              </a:rPr>
              <a:t>~ Melissa Emler, Modern Learners</a:t>
            </a:r>
            <a:endParaRPr lang="en-US" sz="3600" dirty="0">
              <a:solidFill>
                <a:schemeClr val="bg1">
                  <a:lumMod val="65000"/>
                </a:schemeClr>
              </a:solidFill>
              <a:latin typeface="Kollektif" panose="020B0604020101010102" pitchFamily="34" charset="77"/>
            </a:endParaRPr>
          </a:p>
        </p:txBody>
      </p:sp>
      <p:sp>
        <p:nvSpPr>
          <p:cNvPr id="2" name="TextBox 1">
            <a:extLst>
              <a:ext uri="{FF2B5EF4-FFF2-40B4-BE49-F238E27FC236}">
                <a16:creationId xmlns:a16="http://schemas.microsoft.com/office/drawing/2014/main" id="{B8599BF4-A78C-D4C1-BD84-489E8E15916D}"/>
              </a:ext>
            </a:extLst>
          </p:cNvPr>
          <p:cNvSpPr txBox="1"/>
          <p:nvPr/>
        </p:nvSpPr>
        <p:spPr>
          <a:xfrm>
            <a:off x="371955" y="284022"/>
            <a:ext cx="5120196"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REAL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Client Results</a:t>
            </a:r>
          </a:p>
        </p:txBody>
      </p:sp>
    </p:spTree>
    <p:extLst>
      <p:ext uri="{BB962C8B-B14F-4D97-AF65-F5344CB8AC3E}">
        <p14:creationId xmlns:p14="http://schemas.microsoft.com/office/powerpoint/2010/main" val="2189743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196850" y="1292556"/>
            <a:ext cx="11546576" cy="5057444"/>
          </a:xfrm>
          <a:prstGeom prst="rect">
            <a:avLst/>
          </a:prstGeom>
          <a:noFill/>
        </p:spPr>
        <p:txBody>
          <a:bodyPr wrap="square" rtlCol="0">
            <a:normAutofit/>
          </a:bodyPr>
          <a:lstStyle/>
          <a:p>
            <a:pPr algn="ctr">
              <a:lnSpc>
                <a:spcPct val="150000"/>
              </a:lnSpc>
            </a:pPr>
            <a:r>
              <a:rPr lang="en-US" sz="3600" b="0" i="0" dirty="0">
                <a:solidFill>
                  <a:srgbClr val="1D1C1D"/>
                </a:solidFill>
                <a:effectLst/>
                <a:latin typeface="Slack-Lato"/>
              </a:rPr>
              <a:t>“They totally dial in our strategy, our structure, and our narrative to really highlight our strengths. They were also an absolute differentiator in </a:t>
            </a:r>
            <a:r>
              <a:rPr lang="en-US" sz="3600" b="1" i="0" dirty="0">
                <a:solidFill>
                  <a:srgbClr val="1D1C1D"/>
                </a:solidFill>
                <a:effectLst/>
                <a:latin typeface="Slack-Lato"/>
              </a:rPr>
              <a:t>winning 86% </a:t>
            </a:r>
            <a:r>
              <a:rPr lang="en-US" sz="3600" b="0" i="0" dirty="0">
                <a:solidFill>
                  <a:srgbClr val="1D1C1D"/>
                </a:solidFill>
                <a:effectLst/>
                <a:latin typeface="Slack-Lato"/>
              </a:rPr>
              <a:t>of our proposals last year and deserve massive kudos. Lisa and her team are our RFP whisperers.”</a:t>
            </a:r>
          </a:p>
          <a:p>
            <a:pPr algn="ctr">
              <a:lnSpc>
                <a:spcPct val="150000"/>
              </a:lnSpc>
            </a:pPr>
            <a:r>
              <a:rPr lang="en-US" sz="3600" b="0" i="0" dirty="0">
                <a:solidFill>
                  <a:srgbClr val="1D1C1D"/>
                </a:solidFill>
                <a:effectLst/>
                <a:latin typeface="Slack-Lato"/>
              </a:rPr>
              <a:t> </a:t>
            </a:r>
            <a:r>
              <a:rPr lang="en-US" sz="3600" b="0" i="0" dirty="0">
                <a:solidFill>
                  <a:schemeClr val="bg1">
                    <a:lumMod val="65000"/>
                  </a:schemeClr>
                </a:solidFill>
                <a:effectLst/>
                <a:latin typeface="Slack-Lato"/>
              </a:rPr>
              <a:t>~ Steve Schramm, Optumas</a:t>
            </a:r>
            <a:endParaRPr lang="en-US" sz="3600" dirty="0">
              <a:solidFill>
                <a:schemeClr val="bg1">
                  <a:lumMod val="65000"/>
                </a:schemeClr>
              </a:solidFill>
              <a:latin typeface="Kollektif" panose="020B0604020101010102" pitchFamily="34" charset="77"/>
            </a:endParaRPr>
          </a:p>
        </p:txBody>
      </p:sp>
      <p:sp>
        <p:nvSpPr>
          <p:cNvPr id="2" name="TextBox 1">
            <a:extLst>
              <a:ext uri="{FF2B5EF4-FFF2-40B4-BE49-F238E27FC236}">
                <a16:creationId xmlns:a16="http://schemas.microsoft.com/office/drawing/2014/main" id="{B8599BF4-A78C-D4C1-BD84-489E8E15916D}"/>
              </a:ext>
            </a:extLst>
          </p:cNvPr>
          <p:cNvSpPr txBox="1"/>
          <p:nvPr/>
        </p:nvSpPr>
        <p:spPr>
          <a:xfrm>
            <a:off x="371955" y="284022"/>
            <a:ext cx="5120196"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REAL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Client Results</a:t>
            </a:r>
          </a:p>
        </p:txBody>
      </p:sp>
    </p:spTree>
    <p:extLst>
      <p:ext uri="{BB962C8B-B14F-4D97-AF65-F5344CB8AC3E}">
        <p14:creationId xmlns:p14="http://schemas.microsoft.com/office/powerpoint/2010/main" val="1942161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196850" y="1292556"/>
            <a:ext cx="11546576" cy="5057444"/>
          </a:xfrm>
          <a:prstGeom prst="rect">
            <a:avLst/>
          </a:prstGeom>
          <a:noFill/>
        </p:spPr>
        <p:txBody>
          <a:bodyPr wrap="square" rtlCol="0">
            <a:normAutofit/>
          </a:bodyPr>
          <a:lstStyle/>
          <a:p>
            <a:pPr algn="ctr">
              <a:lnSpc>
                <a:spcPct val="150000"/>
              </a:lnSpc>
            </a:pPr>
            <a:r>
              <a:rPr lang="en-US" sz="3600" b="0" i="0" dirty="0">
                <a:solidFill>
                  <a:srgbClr val="1D1C1D"/>
                </a:solidFill>
                <a:effectLst/>
                <a:latin typeface="Slack-Lato"/>
              </a:rPr>
              <a:t>What They Have in Common</a:t>
            </a:r>
          </a:p>
          <a:p>
            <a:pPr algn="ctr">
              <a:lnSpc>
                <a:spcPct val="150000"/>
              </a:lnSpc>
            </a:pPr>
            <a:endParaRPr lang="en-US" sz="3600" dirty="0">
              <a:solidFill>
                <a:schemeClr val="bg1">
                  <a:lumMod val="65000"/>
                </a:schemeClr>
              </a:solidFill>
              <a:latin typeface="Kollektif" panose="020B0604020101010102" pitchFamily="34" charset="77"/>
            </a:endParaRPr>
          </a:p>
        </p:txBody>
      </p:sp>
      <p:sp>
        <p:nvSpPr>
          <p:cNvPr id="2" name="TextBox 1">
            <a:extLst>
              <a:ext uri="{FF2B5EF4-FFF2-40B4-BE49-F238E27FC236}">
                <a16:creationId xmlns:a16="http://schemas.microsoft.com/office/drawing/2014/main" id="{B8599BF4-A78C-D4C1-BD84-489E8E15916D}"/>
              </a:ext>
            </a:extLst>
          </p:cNvPr>
          <p:cNvSpPr txBox="1"/>
          <p:nvPr/>
        </p:nvSpPr>
        <p:spPr>
          <a:xfrm>
            <a:off x="371955" y="284022"/>
            <a:ext cx="5120196"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REAL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Client Results</a:t>
            </a:r>
          </a:p>
        </p:txBody>
      </p:sp>
      <p:sp>
        <p:nvSpPr>
          <p:cNvPr id="3" name="Rectangle: Rounded Corners 2">
            <a:extLst>
              <a:ext uri="{FF2B5EF4-FFF2-40B4-BE49-F238E27FC236}">
                <a16:creationId xmlns:a16="http://schemas.microsoft.com/office/drawing/2014/main" id="{DF8C143B-A6BD-B5B8-2D2E-E821A7917E46}"/>
              </a:ext>
            </a:extLst>
          </p:cNvPr>
          <p:cNvSpPr/>
          <p:nvPr/>
        </p:nvSpPr>
        <p:spPr>
          <a:xfrm>
            <a:off x="1754037" y="2432648"/>
            <a:ext cx="3140015" cy="1604513"/>
          </a:xfrm>
          <a:prstGeom prst="roundRect">
            <a:avLst/>
          </a:prstGeom>
          <a:solidFill>
            <a:srgbClr val="FF440B"/>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dirty="0"/>
              <a:t>1</a:t>
            </a:r>
          </a:p>
          <a:p>
            <a:pPr algn="ctr"/>
            <a:r>
              <a:rPr lang="en-US" sz="3600" dirty="0"/>
              <a:t>Solution-Focused</a:t>
            </a:r>
          </a:p>
        </p:txBody>
      </p:sp>
    </p:spTree>
    <p:extLst>
      <p:ext uri="{BB962C8B-B14F-4D97-AF65-F5344CB8AC3E}">
        <p14:creationId xmlns:p14="http://schemas.microsoft.com/office/powerpoint/2010/main" val="21006634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196850" y="1292556"/>
            <a:ext cx="11546576" cy="5057444"/>
          </a:xfrm>
          <a:prstGeom prst="rect">
            <a:avLst/>
          </a:prstGeom>
          <a:noFill/>
        </p:spPr>
        <p:txBody>
          <a:bodyPr wrap="square" rtlCol="0">
            <a:normAutofit/>
          </a:bodyPr>
          <a:lstStyle/>
          <a:p>
            <a:pPr algn="ctr">
              <a:lnSpc>
                <a:spcPct val="150000"/>
              </a:lnSpc>
            </a:pPr>
            <a:r>
              <a:rPr lang="en-US" sz="3600" b="0" i="0" dirty="0">
                <a:solidFill>
                  <a:srgbClr val="1D1C1D"/>
                </a:solidFill>
                <a:effectLst/>
                <a:latin typeface="Slack-Lato"/>
              </a:rPr>
              <a:t>What They Have in Common</a:t>
            </a:r>
          </a:p>
          <a:p>
            <a:pPr algn="ctr">
              <a:lnSpc>
                <a:spcPct val="150000"/>
              </a:lnSpc>
            </a:pPr>
            <a:endParaRPr lang="en-US" sz="3600" dirty="0">
              <a:solidFill>
                <a:schemeClr val="bg1">
                  <a:lumMod val="65000"/>
                </a:schemeClr>
              </a:solidFill>
              <a:latin typeface="Kollektif" panose="020B0604020101010102" pitchFamily="34" charset="77"/>
            </a:endParaRPr>
          </a:p>
        </p:txBody>
      </p:sp>
      <p:sp>
        <p:nvSpPr>
          <p:cNvPr id="2" name="TextBox 1">
            <a:extLst>
              <a:ext uri="{FF2B5EF4-FFF2-40B4-BE49-F238E27FC236}">
                <a16:creationId xmlns:a16="http://schemas.microsoft.com/office/drawing/2014/main" id="{B8599BF4-A78C-D4C1-BD84-489E8E15916D}"/>
              </a:ext>
            </a:extLst>
          </p:cNvPr>
          <p:cNvSpPr txBox="1"/>
          <p:nvPr/>
        </p:nvSpPr>
        <p:spPr>
          <a:xfrm>
            <a:off x="371955" y="284022"/>
            <a:ext cx="5120196"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REAL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Client Results</a:t>
            </a:r>
          </a:p>
        </p:txBody>
      </p:sp>
      <p:sp>
        <p:nvSpPr>
          <p:cNvPr id="3" name="Rectangle: Rounded Corners 2">
            <a:extLst>
              <a:ext uri="{FF2B5EF4-FFF2-40B4-BE49-F238E27FC236}">
                <a16:creationId xmlns:a16="http://schemas.microsoft.com/office/drawing/2014/main" id="{DF8C143B-A6BD-B5B8-2D2E-E821A7917E46}"/>
              </a:ext>
            </a:extLst>
          </p:cNvPr>
          <p:cNvSpPr/>
          <p:nvPr/>
        </p:nvSpPr>
        <p:spPr>
          <a:xfrm>
            <a:off x="7303697" y="2421145"/>
            <a:ext cx="3140015" cy="1604513"/>
          </a:xfrm>
          <a:prstGeom prst="roundRect">
            <a:avLst/>
          </a:prstGeom>
          <a:solidFill>
            <a:srgbClr val="0BB2AF"/>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4400" dirty="0"/>
              <a:t>2</a:t>
            </a:r>
          </a:p>
          <a:p>
            <a:pPr algn="ctr"/>
            <a:r>
              <a:rPr lang="en-US" sz="4400" dirty="0"/>
              <a:t>Resources</a:t>
            </a:r>
          </a:p>
        </p:txBody>
      </p:sp>
      <p:sp>
        <p:nvSpPr>
          <p:cNvPr id="4" name="Rectangle: Rounded Corners 3">
            <a:extLst>
              <a:ext uri="{FF2B5EF4-FFF2-40B4-BE49-F238E27FC236}">
                <a16:creationId xmlns:a16="http://schemas.microsoft.com/office/drawing/2014/main" id="{EFEF0FE0-C34D-AFFC-57C0-92DED29264B6}"/>
              </a:ext>
            </a:extLst>
          </p:cNvPr>
          <p:cNvSpPr/>
          <p:nvPr/>
        </p:nvSpPr>
        <p:spPr>
          <a:xfrm>
            <a:off x="1754037" y="2432648"/>
            <a:ext cx="3140015" cy="1604513"/>
          </a:xfrm>
          <a:prstGeom prst="roundRect">
            <a:avLst/>
          </a:prstGeom>
          <a:solidFill>
            <a:srgbClr val="FF440B"/>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dirty="0"/>
              <a:t>1</a:t>
            </a:r>
          </a:p>
          <a:p>
            <a:pPr algn="ctr"/>
            <a:r>
              <a:rPr lang="en-US" sz="3600" dirty="0"/>
              <a:t>Solution-Focused</a:t>
            </a:r>
          </a:p>
        </p:txBody>
      </p:sp>
    </p:spTree>
    <p:extLst>
      <p:ext uri="{BB962C8B-B14F-4D97-AF65-F5344CB8AC3E}">
        <p14:creationId xmlns:p14="http://schemas.microsoft.com/office/powerpoint/2010/main" val="3385387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196850" y="1292556"/>
            <a:ext cx="11546576" cy="5057444"/>
          </a:xfrm>
          <a:prstGeom prst="rect">
            <a:avLst/>
          </a:prstGeom>
          <a:noFill/>
        </p:spPr>
        <p:txBody>
          <a:bodyPr wrap="square" rtlCol="0">
            <a:normAutofit/>
          </a:bodyPr>
          <a:lstStyle/>
          <a:p>
            <a:pPr algn="ctr">
              <a:lnSpc>
                <a:spcPct val="150000"/>
              </a:lnSpc>
            </a:pPr>
            <a:r>
              <a:rPr lang="en-US" sz="3600" b="0" i="0" dirty="0">
                <a:solidFill>
                  <a:srgbClr val="1D1C1D"/>
                </a:solidFill>
                <a:effectLst/>
                <a:latin typeface="Slack-Lato"/>
              </a:rPr>
              <a:t>What They Have in Common</a:t>
            </a:r>
          </a:p>
          <a:p>
            <a:pPr algn="ctr">
              <a:lnSpc>
                <a:spcPct val="150000"/>
              </a:lnSpc>
            </a:pPr>
            <a:endParaRPr lang="en-US" sz="3600" dirty="0">
              <a:solidFill>
                <a:schemeClr val="bg1">
                  <a:lumMod val="65000"/>
                </a:schemeClr>
              </a:solidFill>
              <a:latin typeface="Kollektif" panose="020B0604020101010102" pitchFamily="34" charset="77"/>
            </a:endParaRPr>
          </a:p>
        </p:txBody>
      </p:sp>
      <p:sp>
        <p:nvSpPr>
          <p:cNvPr id="2" name="TextBox 1">
            <a:extLst>
              <a:ext uri="{FF2B5EF4-FFF2-40B4-BE49-F238E27FC236}">
                <a16:creationId xmlns:a16="http://schemas.microsoft.com/office/drawing/2014/main" id="{B8599BF4-A78C-D4C1-BD84-489E8E15916D}"/>
              </a:ext>
            </a:extLst>
          </p:cNvPr>
          <p:cNvSpPr txBox="1"/>
          <p:nvPr/>
        </p:nvSpPr>
        <p:spPr>
          <a:xfrm>
            <a:off x="371955" y="284022"/>
            <a:ext cx="5120196"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REAL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Client Results</a:t>
            </a:r>
          </a:p>
        </p:txBody>
      </p:sp>
      <p:sp>
        <p:nvSpPr>
          <p:cNvPr id="3" name="Rectangle: Rounded Corners 2">
            <a:extLst>
              <a:ext uri="{FF2B5EF4-FFF2-40B4-BE49-F238E27FC236}">
                <a16:creationId xmlns:a16="http://schemas.microsoft.com/office/drawing/2014/main" id="{DF8C143B-A6BD-B5B8-2D2E-E821A7917E46}"/>
              </a:ext>
            </a:extLst>
          </p:cNvPr>
          <p:cNvSpPr/>
          <p:nvPr/>
        </p:nvSpPr>
        <p:spPr>
          <a:xfrm>
            <a:off x="4400130" y="4601555"/>
            <a:ext cx="3140015" cy="1604513"/>
          </a:xfrm>
          <a:prstGeom prst="roundRect">
            <a:avLst/>
          </a:prstGeom>
          <a:solidFill>
            <a:srgbClr val="666666"/>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4400" dirty="0"/>
              <a:t>3</a:t>
            </a:r>
          </a:p>
          <a:p>
            <a:pPr algn="ctr"/>
            <a:r>
              <a:rPr lang="en-US" sz="4400" dirty="0"/>
              <a:t>Credibility</a:t>
            </a:r>
          </a:p>
        </p:txBody>
      </p:sp>
      <p:sp>
        <p:nvSpPr>
          <p:cNvPr id="7" name="Rectangle: Rounded Corners 6">
            <a:extLst>
              <a:ext uri="{FF2B5EF4-FFF2-40B4-BE49-F238E27FC236}">
                <a16:creationId xmlns:a16="http://schemas.microsoft.com/office/drawing/2014/main" id="{82DF9AA0-8049-B29D-B2FC-F9347F6AB36D}"/>
              </a:ext>
            </a:extLst>
          </p:cNvPr>
          <p:cNvSpPr/>
          <p:nvPr/>
        </p:nvSpPr>
        <p:spPr>
          <a:xfrm>
            <a:off x="7303697" y="2421145"/>
            <a:ext cx="3140015" cy="1604513"/>
          </a:xfrm>
          <a:prstGeom prst="roundRect">
            <a:avLst/>
          </a:prstGeom>
          <a:solidFill>
            <a:srgbClr val="0BB2AF"/>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4400" dirty="0"/>
              <a:t>2</a:t>
            </a:r>
          </a:p>
          <a:p>
            <a:pPr algn="ctr"/>
            <a:r>
              <a:rPr lang="en-US" sz="4400" dirty="0"/>
              <a:t>Resources</a:t>
            </a:r>
          </a:p>
        </p:txBody>
      </p:sp>
      <p:sp>
        <p:nvSpPr>
          <p:cNvPr id="8" name="Rectangle: Rounded Corners 7">
            <a:extLst>
              <a:ext uri="{FF2B5EF4-FFF2-40B4-BE49-F238E27FC236}">
                <a16:creationId xmlns:a16="http://schemas.microsoft.com/office/drawing/2014/main" id="{B17105DD-EB97-0DF4-FB44-327F9CC80E5D}"/>
              </a:ext>
            </a:extLst>
          </p:cNvPr>
          <p:cNvSpPr/>
          <p:nvPr/>
        </p:nvSpPr>
        <p:spPr>
          <a:xfrm>
            <a:off x="1754037" y="2432648"/>
            <a:ext cx="3140015" cy="1604513"/>
          </a:xfrm>
          <a:prstGeom prst="roundRect">
            <a:avLst/>
          </a:prstGeom>
          <a:solidFill>
            <a:srgbClr val="FF440B"/>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dirty="0"/>
              <a:t>1</a:t>
            </a:r>
          </a:p>
          <a:p>
            <a:pPr algn="ctr"/>
            <a:r>
              <a:rPr lang="en-US" sz="3600" dirty="0"/>
              <a:t>Solution-Focused</a:t>
            </a:r>
          </a:p>
        </p:txBody>
      </p:sp>
    </p:spTree>
    <p:extLst>
      <p:ext uri="{BB962C8B-B14F-4D97-AF65-F5344CB8AC3E}">
        <p14:creationId xmlns:p14="http://schemas.microsoft.com/office/powerpoint/2010/main" val="849615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B8599BF4-A78C-D4C1-BD84-489E8E15916D}"/>
              </a:ext>
            </a:extLst>
          </p:cNvPr>
          <p:cNvSpPr txBox="1"/>
          <p:nvPr/>
        </p:nvSpPr>
        <p:spPr>
          <a:xfrm>
            <a:off x="371954" y="284022"/>
            <a:ext cx="6713207"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You Can: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Do it the hard way</a:t>
            </a:r>
          </a:p>
        </p:txBody>
      </p:sp>
      <p:sp>
        <p:nvSpPr>
          <p:cNvPr id="6" name="Content Placeholder 5">
            <a:extLst>
              <a:ext uri="{FF2B5EF4-FFF2-40B4-BE49-F238E27FC236}">
                <a16:creationId xmlns:a16="http://schemas.microsoft.com/office/drawing/2014/main" id="{FEA500DF-42F8-B361-63C6-ED90F345E4C2}"/>
              </a:ext>
            </a:extLst>
          </p:cNvPr>
          <p:cNvSpPr>
            <a:spLocks noGrp="1"/>
          </p:cNvSpPr>
          <p:nvPr>
            <p:ph sz="half" idx="1"/>
          </p:nvPr>
        </p:nvSpPr>
        <p:spPr/>
        <p:txBody>
          <a:bodyPr>
            <a:normAutofit fontScale="92500" lnSpcReduction="20000"/>
          </a:bodyPr>
          <a:lstStyle/>
          <a:p>
            <a:r>
              <a:rPr lang="en-US" dirty="0"/>
              <a:t>Get an RFP you can bid on</a:t>
            </a:r>
          </a:p>
          <a:p>
            <a:r>
              <a:rPr lang="en-US" dirty="0"/>
              <a:t>Scramble to throw together a team with availability</a:t>
            </a:r>
          </a:p>
          <a:p>
            <a:r>
              <a:rPr lang="en-US" dirty="0"/>
              <a:t>OR</a:t>
            </a:r>
          </a:p>
          <a:p>
            <a:r>
              <a:rPr lang="en-US" dirty="0"/>
              <a:t>Take it on yourself</a:t>
            </a:r>
          </a:p>
          <a:p>
            <a:r>
              <a:rPr lang="en-US" dirty="0"/>
              <a:t>Start writing</a:t>
            </a:r>
          </a:p>
          <a:p>
            <a:r>
              <a:rPr lang="en-US" dirty="0"/>
              <a:t>Get distracted</a:t>
            </a:r>
          </a:p>
          <a:p>
            <a:r>
              <a:rPr lang="en-US" dirty="0"/>
              <a:t>Find hiccup in RFP – DELAY</a:t>
            </a:r>
          </a:p>
          <a:p>
            <a:r>
              <a:rPr lang="en-US" dirty="0"/>
              <a:t>Get back to writing</a:t>
            </a:r>
          </a:p>
          <a:p>
            <a:r>
              <a:rPr lang="en-US" dirty="0"/>
              <a:t>Get distracted again</a:t>
            </a:r>
          </a:p>
          <a:p>
            <a:r>
              <a:rPr lang="en-US" dirty="0"/>
              <a:t>Realize you only have 3 days left</a:t>
            </a:r>
          </a:p>
        </p:txBody>
      </p:sp>
      <p:sp>
        <p:nvSpPr>
          <p:cNvPr id="9" name="Content Placeholder 8">
            <a:extLst>
              <a:ext uri="{FF2B5EF4-FFF2-40B4-BE49-F238E27FC236}">
                <a16:creationId xmlns:a16="http://schemas.microsoft.com/office/drawing/2014/main" id="{3A0F0817-6DAD-5857-2BDD-930A74757334}"/>
              </a:ext>
            </a:extLst>
          </p:cNvPr>
          <p:cNvSpPr>
            <a:spLocks noGrp="1"/>
          </p:cNvSpPr>
          <p:nvPr>
            <p:ph sz="half" idx="2"/>
          </p:nvPr>
        </p:nvSpPr>
        <p:spPr/>
        <p:txBody>
          <a:bodyPr>
            <a:normAutofit fontScale="92500" lnSpcReduction="20000"/>
          </a:bodyPr>
          <a:lstStyle/>
          <a:p>
            <a:r>
              <a:rPr lang="en-US" dirty="0"/>
              <a:t>Stay up all night trying to fix it</a:t>
            </a:r>
          </a:p>
          <a:p>
            <a:r>
              <a:rPr lang="en-US" dirty="0"/>
              <a:t>Pull from other proposals and just piece together answers</a:t>
            </a:r>
          </a:p>
          <a:p>
            <a:r>
              <a:rPr lang="en-US" dirty="0"/>
              <a:t>Toss in old resumes, no time to customize</a:t>
            </a:r>
          </a:p>
          <a:p>
            <a:r>
              <a:rPr lang="en-US" dirty="0"/>
              <a:t>Discard any sort of review because there isn’t enough time</a:t>
            </a:r>
          </a:p>
          <a:p>
            <a:r>
              <a:rPr lang="en-US" dirty="0"/>
              <a:t>Start pricing response the day before it’s due</a:t>
            </a:r>
          </a:p>
          <a:p>
            <a:r>
              <a:rPr lang="en-US" dirty="0"/>
              <a:t>Pray</a:t>
            </a:r>
          </a:p>
          <a:p>
            <a:r>
              <a:rPr lang="en-US" dirty="0"/>
              <a:t>Hope</a:t>
            </a:r>
          </a:p>
          <a:p>
            <a:r>
              <a:rPr lang="en-US" dirty="0"/>
              <a:t>Close your eyes and hit submit</a:t>
            </a:r>
          </a:p>
          <a:p>
            <a:endParaRPr lang="en-US" dirty="0"/>
          </a:p>
        </p:txBody>
      </p:sp>
    </p:spTree>
    <p:extLst>
      <p:ext uri="{BB962C8B-B14F-4D97-AF65-F5344CB8AC3E}">
        <p14:creationId xmlns:p14="http://schemas.microsoft.com/office/powerpoint/2010/main" val="2845280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755950" y="1434787"/>
            <a:ext cx="9638588" cy="246221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MAYBE…..</a:t>
            </a:r>
          </a:p>
          <a:p>
            <a:endParaRPr lang="en-IN" sz="4000" dirty="0">
              <a:solidFill>
                <a:srgbClr val="0BB2AF"/>
              </a:solidFill>
              <a:latin typeface="Segoe UI Black" panose="020B0A02040204020203" pitchFamily="34" charset="0"/>
              <a:ea typeface="Segoe UI Black" panose="020B0A02040204020203" pitchFamily="34" charset="0"/>
              <a:cs typeface="Segoe UI Light" panose="020B0502040204020203" pitchFamily="34" charset="0"/>
            </a:endParaRPr>
          </a:p>
          <a:p>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You’ll get lucky and get to be a finalist, or even better, you’ll win (&lt;5% chance).</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Tree>
    <p:extLst>
      <p:ext uri="{BB962C8B-B14F-4D97-AF65-F5344CB8AC3E}">
        <p14:creationId xmlns:p14="http://schemas.microsoft.com/office/powerpoint/2010/main" val="995203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807709" y="654279"/>
            <a:ext cx="9638588" cy="4862870"/>
          </a:xfrm>
          <a:prstGeom prst="rect">
            <a:avLst/>
          </a:prstGeom>
          <a:noFill/>
        </p:spPr>
        <p:txBody>
          <a:bodyPr wrap="square" lIns="0" tIns="0" rIns="0" bIns="0" rtlCol="0" anchor="ctr">
            <a:spAutoFit/>
          </a:bodyPr>
          <a:lstStyle/>
          <a:p>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It’s based on luck and hope,</a:t>
            </a:r>
          </a:p>
          <a:p>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and what happens is:</a:t>
            </a:r>
          </a:p>
          <a:p>
            <a:endPar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endParaRPr>
          </a:p>
          <a:p>
            <a:pPr marL="457200" indent="-457200">
              <a:buFont typeface="Arial" panose="020B0604020202020204" pitchFamily="34" charset="0"/>
              <a:buChar char="•"/>
            </a:pPr>
            <a:r>
              <a:rPr lang="en-IN" sz="2600" dirty="0"/>
              <a:t>Everyone is exhausted</a:t>
            </a:r>
          </a:p>
          <a:p>
            <a:pPr marL="457200" indent="-457200">
              <a:buFont typeface="Arial" panose="020B0604020202020204" pitchFamily="34" charset="0"/>
              <a:buChar char="•"/>
            </a:pPr>
            <a:r>
              <a:rPr lang="en-IN" sz="2600" dirty="0"/>
              <a:t>Other work isn’t getting done</a:t>
            </a:r>
          </a:p>
          <a:p>
            <a:pPr marL="457200" indent="-457200">
              <a:buFont typeface="Arial" panose="020B0604020202020204" pitchFamily="34" charset="0"/>
              <a:buChar char="•"/>
            </a:pPr>
            <a:r>
              <a:rPr lang="en-IN" sz="2600" dirty="0"/>
              <a:t>People have to play catch-up</a:t>
            </a:r>
          </a:p>
          <a:p>
            <a:pPr marL="457200" indent="-457200">
              <a:buFont typeface="Arial" panose="020B0604020202020204" pitchFamily="34" charset="0"/>
              <a:buChar char="•"/>
            </a:pPr>
            <a:r>
              <a:rPr lang="en-IN" sz="2600" dirty="0"/>
              <a:t>You didn’t produce a great proposal</a:t>
            </a:r>
          </a:p>
          <a:p>
            <a:pPr marL="457200" indent="-457200">
              <a:buFont typeface="Arial" panose="020B0604020202020204" pitchFamily="34" charset="0"/>
              <a:buChar char="•"/>
            </a:pPr>
            <a:r>
              <a:rPr lang="en-IN" sz="2600" dirty="0"/>
              <a:t>You got disqualified </a:t>
            </a:r>
          </a:p>
          <a:p>
            <a:pPr marL="457200" indent="-457200">
              <a:buFont typeface="Arial" panose="020B0604020202020204" pitchFamily="34" charset="0"/>
              <a:buChar char="•"/>
            </a:pPr>
            <a:r>
              <a:rPr lang="en-IN" sz="2600" dirty="0"/>
              <a:t>You missed the deadline</a:t>
            </a:r>
          </a:p>
          <a:p>
            <a:endPar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endParaRP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Tree>
    <p:extLst>
      <p:ext uri="{BB962C8B-B14F-4D97-AF65-F5344CB8AC3E}">
        <p14:creationId xmlns:p14="http://schemas.microsoft.com/office/powerpoint/2010/main" val="67477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196850" y="1292556"/>
            <a:ext cx="11546576" cy="5057444"/>
          </a:xfrm>
          <a:prstGeom prst="rect">
            <a:avLst/>
          </a:prstGeom>
          <a:noFill/>
        </p:spPr>
        <p:txBody>
          <a:bodyPr wrap="square" rtlCol="0">
            <a:normAutofit/>
          </a:bodyPr>
          <a:lstStyle/>
          <a:p>
            <a:pPr algn="ctr">
              <a:lnSpc>
                <a:spcPct val="150000"/>
              </a:lnSpc>
            </a:pPr>
            <a:r>
              <a:rPr lang="en-US" sz="3600" dirty="0">
                <a:solidFill>
                  <a:schemeClr val="bg1">
                    <a:lumMod val="65000"/>
                  </a:schemeClr>
                </a:solidFill>
                <a:latin typeface="Kollektif" panose="020B0604020101010102" pitchFamily="34" charset="77"/>
              </a:rPr>
              <a:t>Showcase….</a:t>
            </a:r>
          </a:p>
        </p:txBody>
      </p:sp>
      <p:sp>
        <p:nvSpPr>
          <p:cNvPr id="2" name="TextBox 1">
            <a:extLst>
              <a:ext uri="{FF2B5EF4-FFF2-40B4-BE49-F238E27FC236}">
                <a16:creationId xmlns:a16="http://schemas.microsoft.com/office/drawing/2014/main" id="{B8599BF4-A78C-D4C1-BD84-489E8E15916D}"/>
              </a:ext>
            </a:extLst>
          </p:cNvPr>
          <p:cNvSpPr txBox="1"/>
          <p:nvPr/>
        </p:nvSpPr>
        <p:spPr>
          <a:xfrm>
            <a:off x="371955" y="284022"/>
            <a:ext cx="7328558"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The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RFP Success Company Way</a:t>
            </a:r>
          </a:p>
        </p:txBody>
      </p:sp>
      <p:sp>
        <p:nvSpPr>
          <p:cNvPr id="3" name="Rectangle: Rounded Corners 2">
            <a:extLst>
              <a:ext uri="{FF2B5EF4-FFF2-40B4-BE49-F238E27FC236}">
                <a16:creationId xmlns:a16="http://schemas.microsoft.com/office/drawing/2014/main" id="{DF8C143B-A6BD-B5B8-2D2E-E821A7917E46}"/>
              </a:ext>
            </a:extLst>
          </p:cNvPr>
          <p:cNvSpPr/>
          <p:nvPr/>
        </p:nvSpPr>
        <p:spPr>
          <a:xfrm>
            <a:off x="4400130" y="4601555"/>
            <a:ext cx="3140015" cy="1604513"/>
          </a:xfrm>
          <a:prstGeom prst="roundRect">
            <a:avLst/>
          </a:prstGeom>
          <a:solidFill>
            <a:srgbClr val="666666"/>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4400" dirty="0"/>
              <a:t>3</a:t>
            </a:r>
          </a:p>
          <a:p>
            <a:pPr algn="ctr"/>
            <a:r>
              <a:rPr lang="en-US" sz="4400" dirty="0"/>
              <a:t>Credibility</a:t>
            </a:r>
          </a:p>
        </p:txBody>
      </p:sp>
      <p:sp>
        <p:nvSpPr>
          <p:cNvPr id="7" name="Rectangle: Rounded Corners 6">
            <a:extLst>
              <a:ext uri="{FF2B5EF4-FFF2-40B4-BE49-F238E27FC236}">
                <a16:creationId xmlns:a16="http://schemas.microsoft.com/office/drawing/2014/main" id="{82DF9AA0-8049-B29D-B2FC-F9347F6AB36D}"/>
              </a:ext>
            </a:extLst>
          </p:cNvPr>
          <p:cNvSpPr/>
          <p:nvPr/>
        </p:nvSpPr>
        <p:spPr>
          <a:xfrm>
            <a:off x="7303697" y="2421145"/>
            <a:ext cx="3140015" cy="1604513"/>
          </a:xfrm>
          <a:prstGeom prst="roundRect">
            <a:avLst/>
          </a:prstGeom>
          <a:solidFill>
            <a:srgbClr val="0BB2AF"/>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4400" dirty="0"/>
              <a:t>2</a:t>
            </a:r>
          </a:p>
          <a:p>
            <a:pPr algn="ctr"/>
            <a:r>
              <a:rPr lang="en-US" sz="4400" dirty="0"/>
              <a:t>Resources</a:t>
            </a:r>
          </a:p>
        </p:txBody>
      </p:sp>
      <p:sp>
        <p:nvSpPr>
          <p:cNvPr id="8" name="Rectangle: Rounded Corners 7">
            <a:extLst>
              <a:ext uri="{FF2B5EF4-FFF2-40B4-BE49-F238E27FC236}">
                <a16:creationId xmlns:a16="http://schemas.microsoft.com/office/drawing/2014/main" id="{B17105DD-EB97-0DF4-FB44-327F9CC80E5D}"/>
              </a:ext>
            </a:extLst>
          </p:cNvPr>
          <p:cNvSpPr/>
          <p:nvPr/>
        </p:nvSpPr>
        <p:spPr>
          <a:xfrm>
            <a:off x="1754037" y="2432648"/>
            <a:ext cx="3140015" cy="1604513"/>
          </a:xfrm>
          <a:prstGeom prst="roundRect">
            <a:avLst/>
          </a:prstGeom>
          <a:solidFill>
            <a:srgbClr val="FF440B"/>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dirty="0"/>
              <a:t>1</a:t>
            </a:r>
          </a:p>
          <a:p>
            <a:pPr algn="ctr"/>
            <a:r>
              <a:rPr lang="en-US" sz="3600" dirty="0"/>
              <a:t>Solution-Focused</a:t>
            </a:r>
          </a:p>
        </p:txBody>
      </p:sp>
    </p:spTree>
    <p:extLst>
      <p:ext uri="{BB962C8B-B14F-4D97-AF65-F5344CB8AC3E}">
        <p14:creationId xmlns:p14="http://schemas.microsoft.com/office/powerpoint/2010/main" val="38830200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1 Solution</a:t>
            </a:r>
            <a:endPar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endParaRP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7BAD72AF-CC61-4CE4-653B-2F44938C057A}"/>
              </a:ext>
            </a:extLst>
          </p:cNvPr>
          <p:cNvSpPr txBox="1">
            <a:spLocks/>
          </p:cNvSpPr>
          <p:nvPr/>
        </p:nvSpPr>
        <p:spPr>
          <a:xfrm>
            <a:off x="838199" y="1712424"/>
            <a:ext cx="6361253"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marL="457200" indent="-457200" algn="l">
              <a:buFont typeface="+mj-lt"/>
              <a:buAutoNum type="arabicPeriod"/>
            </a:pPr>
            <a:r>
              <a:rPr lang="en-US" dirty="0">
                <a:latin typeface="Kollektif"/>
              </a:rPr>
              <a:t>Meet the Requirements &amp; Qualifications</a:t>
            </a:r>
          </a:p>
          <a:p>
            <a:pPr marL="457200" indent="-457200" algn="l">
              <a:buFont typeface="+mj-lt"/>
              <a:buAutoNum type="arabicPeriod"/>
            </a:pPr>
            <a:r>
              <a:rPr lang="en-US" dirty="0">
                <a:latin typeface="Kollektif"/>
              </a:rPr>
              <a:t>Always think “Exceeds”</a:t>
            </a:r>
          </a:p>
          <a:p>
            <a:pPr marL="457200" indent="-457200" algn="l">
              <a:buFont typeface="+mj-lt"/>
              <a:buAutoNum type="arabicPeriod"/>
            </a:pPr>
            <a:r>
              <a:rPr lang="en-US" dirty="0">
                <a:latin typeface="Kollektif"/>
              </a:rPr>
              <a:t>Show some personality for stickiness</a:t>
            </a:r>
          </a:p>
          <a:p>
            <a:pPr marL="457200" indent="-457200" algn="l">
              <a:buFont typeface="+mj-lt"/>
              <a:buAutoNum type="arabicPeriod"/>
            </a:pPr>
            <a:r>
              <a:rPr lang="en-US" dirty="0">
                <a:latin typeface="Kollektif"/>
              </a:rPr>
              <a:t>Show don’t tell / they need proof</a:t>
            </a:r>
          </a:p>
          <a:p>
            <a:pPr marL="457200" indent="-457200" algn="l">
              <a:buFont typeface="+mj-lt"/>
              <a:buAutoNum type="arabicPeriod"/>
            </a:pPr>
            <a:r>
              <a:rPr lang="en-US" dirty="0">
                <a:latin typeface="Kollektif"/>
              </a:rPr>
              <a:t>Be concise, don’t be confusing</a:t>
            </a:r>
          </a:p>
          <a:p>
            <a:pPr algn="l"/>
            <a:endParaRPr lang="en-US" dirty="0">
              <a:latin typeface="Kollektif"/>
            </a:endParaRP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99322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BB614A1-79F8-4938-98EF-0A3B62265708}"/>
              </a:ext>
            </a:extLst>
          </p:cNvPr>
          <p:cNvSpPr txBox="1"/>
          <p:nvPr/>
        </p:nvSpPr>
        <p:spPr>
          <a:xfrm>
            <a:off x="678013" y="848041"/>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PRESENTING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Your Solution</a:t>
            </a:r>
          </a:p>
        </p:txBody>
      </p:sp>
      <p:sp>
        <p:nvSpPr>
          <p:cNvPr id="6" name="TextBox 5">
            <a:extLst>
              <a:ext uri="{FF2B5EF4-FFF2-40B4-BE49-F238E27FC236}">
                <a16:creationId xmlns:a16="http://schemas.microsoft.com/office/drawing/2014/main" id="{83D840EE-6B7F-4351-8C5A-5AB9C1F96750}"/>
              </a:ext>
            </a:extLst>
          </p:cNvPr>
          <p:cNvSpPr txBox="1"/>
          <p:nvPr/>
        </p:nvSpPr>
        <p:spPr>
          <a:xfrm>
            <a:off x="663935" y="1408567"/>
            <a:ext cx="5184576" cy="461665"/>
          </a:xfrm>
          <a:prstGeom prst="rect">
            <a:avLst/>
          </a:prstGeom>
          <a:noFill/>
        </p:spPr>
        <p:txBody>
          <a:bodyPr wrap="square" lIns="0" tIns="0" rIns="0" bIns="0" rtlCol="0" anchor="ctr">
            <a:spAutoFit/>
          </a:bodyPr>
          <a:lstStyle/>
          <a:p>
            <a:r>
              <a:rPr lang="en-US" sz="3000" b="1" kern="0" dirty="0">
                <a:solidFill>
                  <a:schemeClr val="tx2">
                    <a:lumMod val="50000"/>
                  </a:schemeClr>
                </a:solidFill>
                <a:latin typeface="Kollektif" panose="020B0604020101010102"/>
                <a:ea typeface="Segoe UI Black" panose="020B0A02040204020203" pitchFamily="34" charset="0"/>
                <a:cs typeface="Segoe UI" panose="020B0502040204020203" pitchFamily="34" charset="0"/>
              </a:rPr>
              <a:t>Solution Positioning</a:t>
            </a:r>
            <a:endParaRPr lang="en-US" sz="3000" b="1" dirty="0">
              <a:solidFill>
                <a:schemeClr val="tx2">
                  <a:lumMod val="50000"/>
                </a:schemeClr>
              </a:solidFill>
              <a:latin typeface="Kollektif" panose="020B0604020101010102"/>
              <a:ea typeface="Segoe UI Black" panose="020B0A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D95CCA0C-6E59-4B59-B2FD-EBC9F9AEDEC8}"/>
              </a:ext>
            </a:extLst>
          </p:cNvPr>
          <p:cNvSpPr txBox="1"/>
          <p:nvPr/>
        </p:nvSpPr>
        <p:spPr>
          <a:xfrm>
            <a:off x="1123517" y="2208197"/>
            <a:ext cx="4455480" cy="2308324"/>
          </a:xfrm>
          <a:prstGeom prst="rect">
            <a:avLst/>
          </a:prstGeom>
          <a:noFill/>
        </p:spPr>
        <p:txBody>
          <a:bodyPr wrap="square" lIns="0" tIns="0" rIns="0" bIns="0" rtlCol="0" anchor="t">
            <a:spAutoFit/>
          </a:bodyPr>
          <a:lstStyle/>
          <a:p>
            <a:pPr marL="342900" indent="-342900" fontAlgn="base">
              <a:buFont typeface="Arial" panose="020B0604020202020204" pitchFamily="34" charset="0"/>
              <a:buChar char="•"/>
            </a:pPr>
            <a:r>
              <a:rPr lang="en-US" sz="3000" dirty="0">
                <a:solidFill>
                  <a:srgbClr val="000000"/>
                </a:solidFill>
                <a:latin typeface="Kollektif" panose="020B0604020101010102"/>
              </a:rPr>
              <a:t>Speak TO them, instead of about you​</a:t>
            </a:r>
          </a:p>
          <a:p>
            <a:pPr marL="342900" indent="-342900" fontAlgn="base">
              <a:buFont typeface="Arial" panose="020B0604020202020204" pitchFamily="34" charset="0"/>
              <a:buChar char="•"/>
            </a:pPr>
            <a:r>
              <a:rPr lang="en-US" sz="3000" dirty="0">
                <a:solidFill>
                  <a:srgbClr val="000000"/>
                </a:solidFill>
                <a:latin typeface="Kollektif" panose="020B0604020101010102"/>
              </a:rPr>
              <a:t>Generally we see:</a:t>
            </a:r>
          </a:p>
          <a:p>
            <a:pPr marL="800100" lvl="1" indent="-342900" fontAlgn="base">
              <a:buFont typeface="Arial" panose="020B0604020202020204" pitchFamily="34" charset="0"/>
              <a:buChar char="•"/>
            </a:pPr>
            <a:r>
              <a:rPr lang="en-US" sz="3000" dirty="0">
                <a:solidFill>
                  <a:srgbClr val="000000"/>
                </a:solidFill>
                <a:latin typeface="Kollektif" panose="020B0604020101010102"/>
              </a:rPr>
              <a:t>“We help you….”​ </a:t>
            </a:r>
          </a:p>
          <a:p>
            <a:pPr marL="800100" lvl="1" indent="-342900" fontAlgn="base">
              <a:buFont typeface="Arial" panose="020B0604020202020204" pitchFamily="34" charset="0"/>
              <a:buChar char="•"/>
            </a:pPr>
            <a:r>
              <a:rPr lang="en-US" sz="3000" dirty="0">
                <a:solidFill>
                  <a:srgbClr val="000000"/>
                </a:solidFill>
                <a:latin typeface="Kollektif" panose="020B0604020101010102"/>
              </a:rPr>
              <a:t>Extreme focus on you</a:t>
            </a:r>
          </a:p>
        </p:txBody>
      </p:sp>
      <p:sp>
        <p:nvSpPr>
          <p:cNvPr id="8" name="TextBox 7">
            <a:extLst>
              <a:ext uri="{FF2B5EF4-FFF2-40B4-BE49-F238E27FC236}">
                <a16:creationId xmlns:a16="http://schemas.microsoft.com/office/drawing/2014/main" id="{78913F3D-672A-4DA7-A34B-ED7919967523}"/>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1" name="Picture 10" descr="A picture containing text&#10;&#10;Description automatically generated">
            <a:extLst>
              <a:ext uri="{FF2B5EF4-FFF2-40B4-BE49-F238E27FC236}">
                <a16:creationId xmlns:a16="http://schemas.microsoft.com/office/drawing/2014/main" id="{025AE8EA-AA8F-4525-8C4A-9B8C86F200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Tree>
    <p:extLst>
      <p:ext uri="{BB962C8B-B14F-4D97-AF65-F5344CB8AC3E}">
        <p14:creationId xmlns:p14="http://schemas.microsoft.com/office/powerpoint/2010/main" val="328836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20</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8" name="TextBox 7">
            <a:extLst>
              <a:ext uri="{FF2B5EF4-FFF2-40B4-BE49-F238E27FC236}">
                <a16:creationId xmlns:a16="http://schemas.microsoft.com/office/drawing/2014/main" id="{21101C0C-9EAB-49B0-A865-9F95BF0BD2CB}"/>
              </a:ext>
            </a:extLst>
          </p:cNvPr>
          <p:cNvSpPr txBox="1"/>
          <p:nvPr/>
        </p:nvSpPr>
        <p:spPr>
          <a:xfrm>
            <a:off x="911424" y="1297931"/>
            <a:ext cx="5184576" cy="492443"/>
          </a:xfrm>
          <a:prstGeom prst="rect">
            <a:avLst/>
          </a:prstGeom>
          <a:noFill/>
        </p:spPr>
        <p:txBody>
          <a:bodyPr wrap="square" lIns="0" tIns="0" rIns="0" bIns="0" rtlCol="0" anchor="ctr">
            <a:spAutoFit/>
          </a:bodyPr>
          <a:lstStyle/>
          <a:p>
            <a:r>
              <a:rPr lang="en-US" sz="3200" b="1" kern="0" dirty="0">
                <a:solidFill>
                  <a:schemeClr val="tx2">
                    <a:lumMod val="50000"/>
                  </a:schemeClr>
                </a:solidFill>
                <a:latin typeface="Kollektif" panose="020B0604020101010102"/>
                <a:ea typeface="Segoe UI Black" panose="020B0A02040204020203" pitchFamily="34" charset="0"/>
                <a:cs typeface="Segoe UI" panose="020B0502040204020203" pitchFamily="34" charset="0"/>
              </a:rPr>
              <a:t>Introductory Language</a:t>
            </a:r>
            <a:endParaRPr lang="en-US" sz="3200" b="1" dirty="0">
              <a:solidFill>
                <a:schemeClr val="tx2">
                  <a:lumMod val="50000"/>
                </a:schemeClr>
              </a:solidFill>
              <a:latin typeface="Kollektif" panose="020B0604020101010102"/>
              <a:ea typeface="Segoe UI Black" panose="020B0A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PRESENTING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Your Solution</a:t>
            </a:r>
          </a:p>
        </p:txBody>
      </p:sp>
      <p:sp>
        <p:nvSpPr>
          <p:cNvPr id="10" name="TextBox 9">
            <a:extLst>
              <a:ext uri="{FF2B5EF4-FFF2-40B4-BE49-F238E27FC236}">
                <a16:creationId xmlns:a16="http://schemas.microsoft.com/office/drawing/2014/main" id="{227A633A-95A1-4504-8199-0A8AD94B4F54}"/>
              </a:ext>
            </a:extLst>
          </p:cNvPr>
          <p:cNvSpPr txBox="1"/>
          <p:nvPr/>
        </p:nvSpPr>
        <p:spPr>
          <a:xfrm>
            <a:off x="939940" y="2128726"/>
            <a:ext cx="9865096" cy="2954655"/>
          </a:xfrm>
          <a:prstGeom prst="rect">
            <a:avLst/>
          </a:prstGeom>
          <a:noFill/>
        </p:spPr>
        <p:txBody>
          <a:bodyPr wrap="square" lIns="0" tIns="0" rIns="0" bIns="0" rtlCol="0" anchor="t">
            <a:spAutoFit/>
          </a:bodyPr>
          <a:lstStyle/>
          <a:p>
            <a:pPr algn="l" rtl="0" fontAlgn="base"/>
            <a:r>
              <a:rPr lang="en-US" sz="3200" dirty="0">
                <a:solidFill>
                  <a:srgbClr val="000000"/>
                </a:solidFill>
                <a:latin typeface="Kollektif"/>
              </a:rPr>
              <a:t>Before:</a:t>
            </a:r>
          </a:p>
          <a:p>
            <a:pPr marL="342900" indent="-342900" fontAlgn="base">
              <a:buFont typeface="Arial" panose="020B0604020202020204" pitchFamily="34" charset="0"/>
              <a:buChar char="•"/>
            </a:pPr>
            <a:r>
              <a:rPr lang="en-US" sz="3200" dirty="0">
                <a:solidFill>
                  <a:srgbClr val="000000"/>
                </a:solidFill>
                <a:latin typeface="Kollektif"/>
              </a:rPr>
              <a:t>100% US-based vendor agnostic IT services firm ​</a:t>
            </a:r>
          </a:p>
          <a:p>
            <a:pPr marL="342900" indent="-342900" fontAlgn="base">
              <a:buFont typeface="Arial" panose="020B0604020202020204" pitchFamily="34" charset="0"/>
              <a:buChar char="•"/>
            </a:pPr>
            <a:r>
              <a:rPr lang="en-US" sz="3200" dirty="0">
                <a:solidFill>
                  <a:srgbClr val="000000"/>
                </a:solidFill>
                <a:latin typeface="Kollektif"/>
              </a:rPr>
              <a:t>Founded: 2001 - HQ: Virginia​</a:t>
            </a:r>
          </a:p>
          <a:p>
            <a:pPr marL="342900" indent="-342900" fontAlgn="base">
              <a:buFont typeface="Arial" panose="020B0604020202020204" pitchFamily="34" charset="0"/>
              <a:buChar char="•"/>
            </a:pPr>
            <a:r>
              <a:rPr lang="en-US" sz="3200" dirty="0">
                <a:solidFill>
                  <a:srgbClr val="000000"/>
                </a:solidFill>
                <a:latin typeface="Kollektif"/>
              </a:rPr>
              <a:t>75+ multi-cloud + cybersecurity experts serving 30+ clients across 10 states ​</a:t>
            </a:r>
          </a:p>
          <a:p>
            <a:pPr algn="l" rtl="0" fontAlgn="base">
              <a:buFont typeface="Arial" panose="020B0604020202020204" pitchFamily="34" charset="0"/>
              <a:buChar char="•"/>
            </a:pPr>
            <a:endParaRPr lang="en-US" sz="3200" dirty="0">
              <a:solidFill>
                <a:srgbClr val="000000"/>
              </a:solidFill>
              <a:latin typeface="Kollektif"/>
            </a:endParaRPr>
          </a:p>
        </p:txBody>
      </p:sp>
    </p:spTree>
    <p:extLst>
      <p:ext uri="{BB962C8B-B14F-4D97-AF65-F5344CB8AC3E}">
        <p14:creationId xmlns:p14="http://schemas.microsoft.com/office/powerpoint/2010/main" val="3211516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21</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8" name="TextBox 7">
            <a:extLst>
              <a:ext uri="{FF2B5EF4-FFF2-40B4-BE49-F238E27FC236}">
                <a16:creationId xmlns:a16="http://schemas.microsoft.com/office/drawing/2014/main" id="{21101C0C-9EAB-49B0-A865-9F95BF0BD2CB}"/>
              </a:ext>
            </a:extLst>
          </p:cNvPr>
          <p:cNvSpPr txBox="1"/>
          <p:nvPr/>
        </p:nvSpPr>
        <p:spPr>
          <a:xfrm>
            <a:off x="911424" y="1297931"/>
            <a:ext cx="5184576" cy="492443"/>
          </a:xfrm>
          <a:prstGeom prst="rect">
            <a:avLst/>
          </a:prstGeom>
          <a:noFill/>
        </p:spPr>
        <p:txBody>
          <a:bodyPr wrap="square" lIns="0" tIns="0" rIns="0" bIns="0" rtlCol="0" anchor="ctr">
            <a:spAutoFit/>
          </a:bodyPr>
          <a:lstStyle/>
          <a:p>
            <a:r>
              <a:rPr lang="en-US" sz="3200" b="1" kern="0" dirty="0">
                <a:solidFill>
                  <a:schemeClr val="tx2">
                    <a:lumMod val="50000"/>
                  </a:schemeClr>
                </a:solidFill>
                <a:ea typeface="Segoe UI Black" panose="020B0A02040204020203" pitchFamily="34" charset="0"/>
                <a:cs typeface="Segoe UI" panose="020B0502040204020203" pitchFamily="34" charset="0"/>
              </a:rPr>
              <a:t>Introductory Language</a:t>
            </a:r>
            <a:endParaRPr lang="en-US" sz="3200" b="1" dirty="0">
              <a:solidFill>
                <a:schemeClr val="tx2">
                  <a:lumMod val="50000"/>
                </a:schemeClr>
              </a:solidFill>
              <a:ea typeface="Segoe UI Black" panose="020B0A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227A633A-95A1-4504-8199-0A8AD94B4F54}"/>
              </a:ext>
            </a:extLst>
          </p:cNvPr>
          <p:cNvSpPr txBox="1"/>
          <p:nvPr/>
        </p:nvSpPr>
        <p:spPr>
          <a:xfrm>
            <a:off x="1163452" y="1913483"/>
            <a:ext cx="9865096" cy="1231106"/>
          </a:xfrm>
          <a:prstGeom prst="rect">
            <a:avLst/>
          </a:prstGeom>
          <a:noFill/>
        </p:spPr>
        <p:txBody>
          <a:bodyPr wrap="square" lIns="0" tIns="0" rIns="0" bIns="0" rtlCol="0" anchor="t">
            <a:spAutoFit/>
          </a:bodyPr>
          <a:lstStyle/>
          <a:p>
            <a:pPr algn="l" rtl="0" fontAlgn="base"/>
            <a:r>
              <a:rPr lang="en-US" sz="2000" i="1" dirty="0">
                <a:solidFill>
                  <a:schemeClr val="tx1">
                    <a:lumMod val="50000"/>
                    <a:lumOff val="50000"/>
                  </a:schemeClr>
                </a:solidFill>
                <a:latin typeface="+mj-lt"/>
              </a:rPr>
              <a:t>Before:</a:t>
            </a:r>
          </a:p>
          <a:p>
            <a:pPr marL="342900" indent="-342900" fontAlgn="base">
              <a:buFont typeface="Arial" panose="020B0604020202020204" pitchFamily="34" charset="0"/>
              <a:buChar char="•"/>
            </a:pPr>
            <a:r>
              <a:rPr lang="en-US" sz="2000" i="1" dirty="0">
                <a:solidFill>
                  <a:schemeClr val="tx1">
                    <a:lumMod val="50000"/>
                    <a:lumOff val="50000"/>
                  </a:schemeClr>
                </a:solidFill>
                <a:latin typeface="+mj-lt"/>
              </a:rPr>
              <a:t>100% US-based vendor agnostic IT services firm ​</a:t>
            </a:r>
          </a:p>
          <a:p>
            <a:pPr marL="342900" indent="-342900" fontAlgn="base">
              <a:buFont typeface="Arial" panose="020B0604020202020204" pitchFamily="34" charset="0"/>
              <a:buChar char="•"/>
            </a:pPr>
            <a:r>
              <a:rPr lang="en-US" sz="2000" i="1" dirty="0">
                <a:solidFill>
                  <a:schemeClr val="tx1">
                    <a:lumMod val="50000"/>
                    <a:lumOff val="50000"/>
                  </a:schemeClr>
                </a:solidFill>
                <a:latin typeface="+mj-lt"/>
              </a:rPr>
              <a:t>Founded: 2001 - HQ: Virginia​</a:t>
            </a:r>
          </a:p>
          <a:p>
            <a:pPr marL="342900" indent="-342900" fontAlgn="base">
              <a:buFont typeface="Arial" panose="020B0604020202020204" pitchFamily="34" charset="0"/>
              <a:buChar char="•"/>
            </a:pPr>
            <a:r>
              <a:rPr lang="en-US" sz="2000" i="1" dirty="0">
                <a:solidFill>
                  <a:schemeClr val="tx1">
                    <a:lumMod val="50000"/>
                    <a:lumOff val="50000"/>
                  </a:schemeClr>
                </a:solidFill>
                <a:latin typeface="+mj-lt"/>
              </a:rPr>
              <a:t>75+ multi-cloud + cybersecurity experts serving 30+ clients across 10 states</a:t>
            </a:r>
          </a:p>
        </p:txBody>
      </p:sp>
      <p:sp>
        <p:nvSpPr>
          <p:cNvPr id="12" name="TextBox 11">
            <a:extLst>
              <a:ext uri="{FF2B5EF4-FFF2-40B4-BE49-F238E27FC236}">
                <a16:creationId xmlns:a16="http://schemas.microsoft.com/office/drawing/2014/main" id="{1EBEE2C1-4F84-413B-A691-16E5E46FF9BC}"/>
              </a:ext>
            </a:extLst>
          </p:cNvPr>
          <p:cNvSpPr txBox="1"/>
          <p:nvPr/>
        </p:nvSpPr>
        <p:spPr>
          <a:xfrm>
            <a:off x="1163453" y="3355993"/>
            <a:ext cx="10172821" cy="2308324"/>
          </a:xfrm>
          <a:prstGeom prst="rect">
            <a:avLst/>
          </a:prstGeom>
          <a:noFill/>
        </p:spPr>
        <p:txBody>
          <a:bodyPr wrap="square" lIns="0" tIns="0" rIns="0" bIns="0" rtlCol="0" anchor="t">
            <a:spAutoFit/>
          </a:bodyPr>
          <a:lstStyle/>
          <a:p>
            <a:pPr algn="l" rtl="0" fontAlgn="base"/>
            <a:r>
              <a:rPr lang="en-US" sz="2500" b="1" dirty="0">
                <a:solidFill>
                  <a:schemeClr val="accent2"/>
                </a:solidFill>
                <a:latin typeface="Kollektif"/>
              </a:rPr>
              <a:t>After:</a:t>
            </a:r>
          </a:p>
          <a:p>
            <a:pPr algn="l" rtl="0" fontAlgn="base"/>
            <a:r>
              <a:rPr lang="en-US" sz="2500" dirty="0">
                <a:solidFill>
                  <a:srgbClr val="000000"/>
                </a:solidFill>
                <a:latin typeface="Kollektif"/>
              </a:rPr>
              <a:t>If you are in a critical environment where system downtime costs you immediate and significant money, our track record will put you at ease. </a:t>
            </a:r>
          </a:p>
          <a:p>
            <a:pPr marL="342900" indent="-342900" fontAlgn="base">
              <a:buFont typeface="Arial" panose="020B0604020202020204" pitchFamily="34" charset="0"/>
              <a:buChar char="•"/>
            </a:pPr>
            <a:r>
              <a:rPr lang="en-US" sz="2500" dirty="0">
                <a:solidFill>
                  <a:srgbClr val="000000"/>
                </a:solidFill>
                <a:latin typeface="Kollektif"/>
              </a:rPr>
              <a:t>24/7 access to a team of cloud + cybersecurity experts​</a:t>
            </a:r>
          </a:p>
          <a:p>
            <a:pPr marL="342900" indent="-342900" fontAlgn="base">
              <a:buFont typeface="Arial" panose="020B0604020202020204" pitchFamily="34" charset="0"/>
              <a:buChar char="•"/>
            </a:pPr>
            <a:r>
              <a:rPr lang="en-US" sz="2500" dirty="0">
                <a:solidFill>
                  <a:srgbClr val="000000"/>
                </a:solidFill>
                <a:latin typeface="Kollektif"/>
              </a:rPr>
              <a:t>99.7% uptime​</a:t>
            </a:r>
          </a:p>
          <a:p>
            <a:pPr marL="342900" indent="-342900" fontAlgn="base">
              <a:buFont typeface="Arial" panose="020B0604020202020204" pitchFamily="34" charset="0"/>
              <a:buChar char="•"/>
            </a:pPr>
            <a:r>
              <a:rPr lang="en-US" sz="2500" dirty="0">
                <a:solidFill>
                  <a:srgbClr val="000000"/>
                </a:solidFill>
                <a:latin typeface="Kollektif"/>
              </a:rPr>
              <a:t>&lt; 5-minute response time</a:t>
            </a:r>
          </a:p>
        </p:txBody>
      </p:sp>
      <p:sp>
        <p:nvSpPr>
          <p:cNvPr id="13" name="TextBox 12">
            <a:extLst>
              <a:ext uri="{FF2B5EF4-FFF2-40B4-BE49-F238E27FC236}">
                <a16:creationId xmlns:a16="http://schemas.microsoft.com/office/drawing/2014/main" id="{61D940A0-69B6-4036-BEA4-2B0198F24ED4}"/>
              </a:ext>
            </a:extLst>
          </p:cNvPr>
          <p:cNvSpPr txBox="1"/>
          <p:nvPr/>
        </p:nvSpPr>
        <p:spPr>
          <a:xfrm>
            <a:off x="911424" y="81325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PRESENTING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Your Solution</a:t>
            </a:r>
          </a:p>
        </p:txBody>
      </p:sp>
    </p:spTree>
    <p:extLst>
      <p:ext uri="{BB962C8B-B14F-4D97-AF65-F5344CB8AC3E}">
        <p14:creationId xmlns:p14="http://schemas.microsoft.com/office/powerpoint/2010/main" val="4168633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2 Resources</a:t>
            </a:r>
            <a:endPar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endParaRP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7BAD72AF-CC61-4CE4-653B-2F44938C057A}"/>
              </a:ext>
            </a:extLst>
          </p:cNvPr>
          <p:cNvSpPr txBox="1">
            <a:spLocks/>
          </p:cNvSpPr>
          <p:nvPr/>
        </p:nvSpPr>
        <p:spPr>
          <a:xfrm>
            <a:off x="838199" y="1712424"/>
            <a:ext cx="7414405"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marL="457200" indent="-457200" algn="l">
              <a:buFont typeface="+mj-lt"/>
              <a:buAutoNum type="arabicPeriod"/>
            </a:pPr>
            <a:r>
              <a:rPr lang="en-US" dirty="0">
                <a:latin typeface="Kollektif"/>
              </a:rPr>
              <a:t>Have the right people in the right seats on the bus</a:t>
            </a:r>
          </a:p>
          <a:p>
            <a:pPr marL="457200" indent="-457200" algn="l">
              <a:buFont typeface="+mj-lt"/>
              <a:buAutoNum type="arabicPeriod"/>
            </a:pPr>
            <a:r>
              <a:rPr lang="en-US" dirty="0">
                <a:latin typeface="Kollektif"/>
              </a:rPr>
              <a:t>Know how to manage, motivate, and mentor</a:t>
            </a:r>
          </a:p>
          <a:p>
            <a:pPr marL="457200" indent="-457200" algn="l">
              <a:buFont typeface="+mj-lt"/>
              <a:buAutoNum type="arabicPeriod"/>
            </a:pPr>
            <a:r>
              <a:rPr lang="en-US" dirty="0">
                <a:latin typeface="Kollektif"/>
              </a:rPr>
              <a:t>Give them a seat at the table</a:t>
            </a:r>
          </a:p>
          <a:p>
            <a:pPr marL="457200" indent="-457200" algn="l">
              <a:buFont typeface="+mj-lt"/>
              <a:buAutoNum type="arabicPeriod"/>
            </a:pPr>
            <a:r>
              <a:rPr lang="en-US" dirty="0">
                <a:latin typeface="Kollektif"/>
              </a:rPr>
              <a:t>Keep them trained</a:t>
            </a:r>
          </a:p>
          <a:p>
            <a:pPr marL="457200" indent="-457200" algn="l">
              <a:buFont typeface="+mj-lt"/>
              <a:buAutoNum type="arabicPeriod"/>
            </a:pPr>
            <a:endParaRPr lang="en-US" dirty="0">
              <a:latin typeface="Kollektif"/>
            </a:endParaRPr>
          </a:p>
          <a:p>
            <a:pPr algn="l"/>
            <a:endParaRPr lang="en-US" dirty="0">
              <a:latin typeface="Kollektif"/>
            </a:endParaRP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1601515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666666"/>
                </a:solidFill>
                <a:latin typeface="Segoe UI Black" panose="020B0A02040204020203" pitchFamily="34" charset="0"/>
                <a:ea typeface="Segoe UI Black" panose="020B0A02040204020203" pitchFamily="34" charset="0"/>
              </a:rPr>
              <a:t>3 Credibility</a:t>
            </a:r>
            <a:endParaRPr lang="en-IN" sz="4000" dirty="0">
              <a:solidFill>
                <a:srgbClr val="666666"/>
              </a:solidFill>
              <a:latin typeface="Segoe UI Light" panose="020B0502040204020203" pitchFamily="34" charset="0"/>
              <a:ea typeface="Segoe UI Black" panose="020B0A02040204020203" pitchFamily="34" charset="0"/>
              <a:cs typeface="Segoe UI Light" panose="020B0502040204020203" pitchFamily="34" charset="0"/>
            </a:endParaRP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7BAD72AF-CC61-4CE4-653B-2F44938C057A}"/>
              </a:ext>
            </a:extLst>
          </p:cNvPr>
          <p:cNvSpPr txBox="1">
            <a:spLocks/>
          </p:cNvSpPr>
          <p:nvPr/>
        </p:nvSpPr>
        <p:spPr>
          <a:xfrm>
            <a:off x="838199" y="1712424"/>
            <a:ext cx="6361253"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marL="457200" indent="-457200" algn="l">
              <a:buFont typeface="+mj-lt"/>
              <a:buAutoNum type="arabicPeriod"/>
            </a:pPr>
            <a:r>
              <a:rPr lang="en-US" dirty="0">
                <a:latin typeface="Kollektif"/>
              </a:rPr>
              <a:t>Show vs Tell</a:t>
            </a:r>
          </a:p>
          <a:p>
            <a:pPr marL="914400" lvl="1" indent="-457200" algn="l" fontAlgn="base">
              <a:buFont typeface="Arial" panose="020B0604020202020204" pitchFamily="34" charset="0"/>
              <a:buChar char="•"/>
            </a:pPr>
            <a:r>
              <a:rPr lang="en-US" dirty="0">
                <a:solidFill>
                  <a:srgbClr val="0F1419"/>
                </a:solidFill>
                <a:latin typeface="Kollektif"/>
              </a:rPr>
              <a:t>Accomplishments</a:t>
            </a:r>
          </a:p>
          <a:p>
            <a:pPr marL="914400" lvl="1" indent="-457200" algn="l" fontAlgn="base">
              <a:buFont typeface="Arial" panose="020B0604020202020204" pitchFamily="34" charset="0"/>
              <a:buChar char="•"/>
            </a:pPr>
            <a:r>
              <a:rPr lang="en-US" dirty="0">
                <a:solidFill>
                  <a:srgbClr val="0F1419"/>
                </a:solidFill>
                <a:latin typeface="Kollektif"/>
              </a:rPr>
              <a:t>Statistics</a:t>
            </a:r>
          </a:p>
          <a:p>
            <a:pPr marL="914400" lvl="1" indent="-457200" algn="l" fontAlgn="base">
              <a:buFont typeface="Arial" panose="020B0604020202020204" pitchFamily="34" charset="0"/>
              <a:buChar char="•"/>
            </a:pPr>
            <a:r>
              <a:rPr lang="en-US" dirty="0">
                <a:solidFill>
                  <a:srgbClr val="0F1419"/>
                </a:solidFill>
                <a:latin typeface="Kollektif"/>
              </a:rPr>
              <a:t>Credibility statements</a:t>
            </a:r>
            <a:endParaRPr lang="en-US" dirty="0">
              <a:solidFill>
                <a:srgbClr val="000000"/>
              </a:solidFill>
              <a:latin typeface="Kollektif"/>
            </a:endParaRPr>
          </a:p>
          <a:p>
            <a:pPr marL="457200" indent="-457200" algn="l">
              <a:buFont typeface="+mj-lt"/>
              <a:buAutoNum type="arabicPeriod"/>
            </a:pPr>
            <a:endParaRPr lang="en-US" dirty="0">
              <a:latin typeface="Kollektif"/>
            </a:endParaRPr>
          </a:p>
          <a:p>
            <a:pPr algn="l"/>
            <a:endParaRPr lang="en-US" dirty="0">
              <a:latin typeface="Kollektif"/>
            </a:endParaRP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1250512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62068C-741D-47DC-974D-73F2244E4E0C}"/>
              </a:ext>
            </a:extLst>
          </p:cNvPr>
          <p:cNvSpPr>
            <a:spLocks noGrp="1"/>
          </p:cNvSpPr>
          <p:nvPr>
            <p:ph idx="1"/>
          </p:nvPr>
        </p:nvSpPr>
        <p:spPr/>
        <p:txBody>
          <a:bodyPr/>
          <a:lstStyle/>
          <a:p>
            <a:pPr marL="0" indent="0">
              <a:buNone/>
            </a:pPr>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D3EE81D9-F584-4A76-9F98-25FD59CD1B37}"/>
              </a:ext>
            </a:extLst>
          </p:cNvPr>
          <p:cNvPicPr>
            <a:picLocks noChangeAspect="1"/>
          </p:cNvPicPr>
          <p:nvPr/>
        </p:nvPicPr>
        <p:blipFill rotWithShape="1">
          <a:blip r:embed="rId3"/>
          <a:srcRect l="10431" t="37898" r="58359" b="21459"/>
          <a:stretch/>
        </p:blipFill>
        <p:spPr>
          <a:xfrm>
            <a:off x="2710067" y="2079529"/>
            <a:ext cx="6115880" cy="3374961"/>
          </a:xfrm>
          <a:prstGeom prst="rect">
            <a:avLst/>
          </a:prstGeom>
        </p:spPr>
      </p:pic>
      <p:sp>
        <p:nvSpPr>
          <p:cNvPr id="7" name="TextBox 6">
            <a:extLst>
              <a:ext uri="{FF2B5EF4-FFF2-40B4-BE49-F238E27FC236}">
                <a16:creationId xmlns:a16="http://schemas.microsoft.com/office/drawing/2014/main" id="{D753E546-D22A-4B48-A9F0-E33FDC8208A3}"/>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666666"/>
                </a:solidFill>
                <a:latin typeface="Segoe UI Black" panose="020B0A02040204020203" pitchFamily="34" charset="0"/>
                <a:ea typeface="Segoe UI Black" panose="020B0A02040204020203" pitchFamily="34" charset="0"/>
              </a:rPr>
              <a:t>PROVE </a:t>
            </a:r>
            <a:r>
              <a:rPr lang="en-IN" sz="4000" dirty="0">
                <a:solidFill>
                  <a:srgbClr val="666666"/>
                </a:solidFill>
                <a:latin typeface="Segoe UI Light" panose="020B0502040204020203" pitchFamily="34" charset="0"/>
                <a:ea typeface="Segoe UI Black" panose="020B0A02040204020203" pitchFamily="34" charset="0"/>
                <a:cs typeface="Segoe UI Light" panose="020B0502040204020203" pitchFamily="34" charset="0"/>
              </a:rPr>
              <a:t>You’re</a:t>
            </a:r>
            <a:r>
              <a:rPr lang="en-IN" sz="4000" dirty="0">
                <a:solidFill>
                  <a:srgbClr val="666666"/>
                </a:solidFill>
                <a:latin typeface="Segoe UI Black" panose="020B0A02040204020203" pitchFamily="34" charset="0"/>
                <a:ea typeface="Segoe UI Black" panose="020B0A02040204020203" pitchFamily="34" charset="0"/>
              </a:rPr>
              <a:t> </a:t>
            </a:r>
            <a:r>
              <a:rPr lang="en-IN" sz="4000" dirty="0">
                <a:solidFill>
                  <a:srgbClr val="666666"/>
                </a:solidFill>
                <a:latin typeface="Segoe UI Light" panose="020B0502040204020203" pitchFamily="34" charset="0"/>
                <a:ea typeface="Segoe UI Black" panose="020B0A02040204020203" pitchFamily="34" charset="0"/>
                <a:cs typeface="Segoe UI Light" panose="020B0502040204020203" pitchFamily="34" charset="0"/>
              </a:rPr>
              <a:t>Credible &amp; Trustworthy</a:t>
            </a:r>
          </a:p>
        </p:txBody>
      </p:sp>
      <p:sp>
        <p:nvSpPr>
          <p:cNvPr id="6" name="TextBox 5">
            <a:extLst>
              <a:ext uri="{FF2B5EF4-FFF2-40B4-BE49-F238E27FC236}">
                <a16:creationId xmlns:a16="http://schemas.microsoft.com/office/drawing/2014/main" id="{CD01F9CC-7E2F-40F7-9464-6F74445FD882}"/>
              </a:ext>
            </a:extLst>
          </p:cNvPr>
          <p:cNvSpPr txBox="1"/>
          <p:nvPr/>
        </p:nvSpPr>
        <p:spPr>
          <a:xfrm>
            <a:off x="847161" y="1308866"/>
            <a:ext cx="7260303" cy="492443"/>
          </a:xfrm>
          <a:prstGeom prst="rect">
            <a:avLst/>
          </a:prstGeom>
          <a:noFill/>
        </p:spPr>
        <p:txBody>
          <a:bodyPr wrap="square" lIns="0" tIns="0" rIns="0" bIns="0" rtlCol="0" anchor="ctr">
            <a:spAutoFit/>
          </a:bodyPr>
          <a:lstStyle/>
          <a:p>
            <a:r>
              <a:rPr lang="en-US" sz="3200" b="1" kern="0" dirty="0">
                <a:solidFill>
                  <a:schemeClr val="tx2">
                    <a:lumMod val="50000"/>
                  </a:schemeClr>
                </a:solidFill>
                <a:ea typeface="Segoe UI Black" panose="020B0A02040204020203" pitchFamily="34" charset="0"/>
                <a:cs typeface="Segoe UI" panose="020B0502040204020203" pitchFamily="34" charset="0"/>
              </a:rPr>
              <a:t>Credibility Statement </a:t>
            </a:r>
            <a:r>
              <a:rPr lang="en-US" sz="3200" b="1" strike="sngStrike" kern="0" dirty="0">
                <a:solidFill>
                  <a:schemeClr val="tx2">
                    <a:lumMod val="50000"/>
                  </a:schemeClr>
                </a:solidFill>
                <a:ea typeface="Segoe UI Black" panose="020B0A02040204020203" pitchFamily="34" charset="0"/>
                <a:cs typeface="Segoe UI" panose="020B0502040204020203" pitchFamily="34" charset="0"/>
              </a:rPr>
              <a:t>Example</a:t>
            </a:r>
          </a:p>
        </p:txBody>
      </p:sp>
      <p:sp>
        <p:nvSpPr>
          <p:cNvPr id="2" name="TextBox 1">
            <a:extLst>
              <a:ext uri="{FF2B5EF4-FFF2-40B4-BE49-F238E27FC236}">
                <a16:creationId xmlns:a16="http://schemas.microsoft.com/office/drawing/2014/main" id="{C9C80962-0625-4C5A-ADB8-4265C162EC8A}"/>
              </a:ext>
            </a:extLst>
          </p:cNvPr>
          <p:cNvSpPr txBox="1"/>
          <p:nvPr/>
        </p:nvSpPr>
        <p:spPr>
          <a:xfrm>
            <a:off x="711200" y="6238240"/>
            <a:ext cx="5897880" cy="230832"/>
          </a:xfrm>
          <a:prstGeom prst="rect">
            <a:avLst/>
          </a:prstGeom>
          <a:noFill/>
        </p:spPr>
        <p:txBody>
          <a:bodyPr wrap="square" rtlCol="0">
            <a:spAutoFit/>
          </a:bodyPr>
          <a:lstStyle/>
          <a:p>
            <a:r>
              <a:rPr lang="en-US" sz="900" dirty="0"/>
              <a:t>Source: Bold Haus 2021</a:t>
            </a:r>
          </a:p>
        </p:txBody>
      </p:sp>
    </p:spTree>
    <p:extLst>
      <p:ext uri="{BB962C8B-B14F-4D97-AF65-F5344CB8AC3E}">
        <p14:creationId xmlns:p14="http://schemas.microsoft.com/office/powerpoint/2010/main" val="1587610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62068C-741D-47DC-974D-73F2244E4E0C}"/>
              </a:ext>
            </a:extLst>
          </p:cNvPr>
          <p:cNvSpPr>
            <a:spLocks noGrp="1"/>
          </p:cNvSpPr>
          <p:nvPr>
            <p:ph idx="1"/>
          </p:nvPr>
        </p:nvSpPr>
        <p:spPr/>
        <p:txBody>
          <a:bodyPr/>
          <a:lstStyle/>
          <a:p>
            <a:pPr marL="0" indent="0">
              <a:buNone/>
            </a:pPr>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D3EE81D9-F584-4A76-9F98-25FD59CD1B37}"/>
              </a:ext>
            </a:extLst>
          </p:cNvPr>
          <p:cNvPicPr>
            <a:picLocks noChangeAspect="1"/>
          </p:cNvPicPr>
          <p:nvPr/>
        </p:nvPicPr>
        <p:blipFill rotWithShape="1">
          <a:blip r:embed="rId3"/>
          <a:srcRect l="47436" t="20797"/>
          <a:stretch/>
        </p:blipFill>
        <p:spPr>
          <a:xfrm>
            <a:off x="2411895" y="1924419"/>
            <a:ext cx="6858001" cy="4378784"/>
          </a:xfrm>
          <a:prstGeom prst="rect">
            <a:avLst/>
          </a:prstGeom>
        </p:spPr>
      </p:pic>
      <p:sp>
        <p:nvSpPr>
          <p:cNvPr id="7" name="TextBox 6">
            <a:extLst>
              <a:ext uri="{FF2B5EF4-FFF2-40B4-BE49-F238E27FC236}">
                <a16:creationId xmlns:a16="http://schemas.microsoft.com/office/drawing/2014/main" id="{D753E546-D22A-4B48-A9F0-E33FDC8208A3}"/>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666666"/>
                </a:solidFill>
                <a:latin typeface="Segoe UI Black" panose="020B0A02040204020203" pitchFamily="34" charset="0"/>
                <a:ea typeface="Segoe UI Black" panose="020B0A02040204020203" pitchFamily="34" charset="0"/>
              </a:rPr>
              <a:t>PROVE </a:t>
            </a:r>
            <a:r>
              <a:rPr lang="en-IN" sz="4000" dirty="0">
                <a:solidFill>
                  <a:srgbClr val="666666"/>
                </a:solidFill>
                <a:latin typeface="Segoe UI Light" panose="020B0502040204020203" pitchFamily="34" charset="0"/>
                <a:ea typeface="Segoe UI Black" panose="020B0A02040204020203" pitchFamily="34" charset="0"/>
                <a:cs typeface="Segoe UI Light" panose="020B0502040204020203" pitchFamily="34" charset="0"/>
              </a:rPr>
              <a:t>You’re</a:t>
            </a:r>
            <a:r>
              <a:rPr lang="en-IN" sz="4000" dirty="0">
                <a:solidFill>
                  <a:srgbClr val="666666"/>
                </a:solidFill>
                <a:latin typeface="Segoe UI Black" panose="020B0A02040204020203" pitchFamily="34" charset="0"/>
                <a:ea typeface="Segoe UI Black" panose="020B0A02040204020203" pitchFamily="34" charset="0"/>
              </a:rPr>
              <a:t> </a:t>
            </a:r>
            <a:r>
              <a:rPr lang="en-IN" sz="4000" dirty="0">
                <a:solidFill>
                  <a:srgbClr val="666666"/>
                </a:solidFill>
                <a:latin typeface="Segoe UI Light" panose="020B0502040204020203" pitchFamily="34" charset="0"/>
                <a:ea typeface="Segoe UI Black" panose="020B0A02040204020203" pitchFamily="34" charset="0"/>
                <a:cs typeface="Segoe UI Light" panose="020B0502040204020203" pitchFamily="34" charset="0"/>
              </a:rPr>
              <a:t>Credible &amp; Trustworthy</a:t>
            </a:r>
          </a:p>
        </p:txBody>
      </p:sp>
      <p:sp>
        <p:nvSpPr>
          <p:cNvPr id="6" name="TextBox 5">
            <a:extLst>
              <a:ext uri="{FF2B5EF4-FFF2-40B4-BE49-F238E27FC236}">
                <a16:creationId xmlns:a16="http://schemas.microsoft.com/office/drawing/2014/main" id="{CD01F9CC-7E2F-40F7-9464-6F74445FD882}"/>
              </a:ext>
            </a:extLst>
          </p:cNvPr>
          <p:cNvSpPr txBox="1"/>
          <p:nvPr/>
        </p:nvSpPr>
        <p:spPr>
          <a:xfrm>
            <a:off x="847161" y="1308866"/>
            <a:ext cx="7260303" cy="492443"/>
          </a:xfrm>
          <a:prstGeom prst="rect">
            <a:avLst/>
          </a:prstGeom>
          <a:noFill/>
        </p:spPr>
        <p:txBody>
          <a:bodyPr wrap="square" lIns="0" tIns="0" rIns="0" bIns="0" rtlCol="0" anchor="ctr">
            <a:spAutoFit/>
          </a:bodyPr>
          <a:lstStyle/>
          <a:p>
            <a:r>
              <a:rPr lang="en-US" sz="3200" b="1" kern="0" dirty="0">
                <a:solidFill>
                  <a:schemeClr val="tx2">
                    <a:lumMod val="50000"/>
                  </a:schemeClr>
                </a:solidFill>
                <a:ea typeface="Segoe UI Black" panose="020B0A02040204020203" pitchFamily="34" charset="0"/>
                <a:cs typeface="Segoe UI" panose="020B0502040204020203" pitchFamily="34" charset="0"/>
              </a:rPr>
              <a:t>Credibility Statement Example</a:t>
            </a:r>
          </a:p>
        </p:txBody>
      </p:sp>
      <p:sp>
        <p:nvSpPr>
          <p:cNvPr id="2" name="TextBox 1">
            <a:extLst>
              <a:ext uri="{FF2B5EF4-FFF2-40B4-BE49-F238E27FC236}">
                <a16:creationId xmlns:a16="http://schemas.microsoft.com/office/drawing/2014/main" id="{C9C80962-0625-4C5A-ADB8-4265C162EC8A}"/>
              </a:ext>
            </a:extLst>
          </p:cNvPr>
          <p:cNvSpPr txBox="1"/>
          <p:nvPr/>
        </p:nvSpPr>
        <p:spPr>
          <a:xfrm>
            <a:off x="711200" y="6238240"/>
            <a:ext cx="5897880" cy="230832"/>
          </a:xfrm>
          <a:prstGeom prst="rect">
            <a:avLst/>
          </a:prstGeom>
          <a:noFill/>
        </p:spPr>
        <p:txBody>
          <a:bodyPr wrap="square" rtlCol="0">
            <a:spAutoFit/>
          </a:bodyPr>
          <a:lstStyle/>
          <a:p>
            <a:r>
              <a:rPr lang="en-US" sz="900" dirty="0"/>
              <a:t>Source: Bold Haus 2021</a:t>
            </a:r>
          </a:p>
        </p:txBody>
      </p:sp>
    </p:spTree>
    <p:extLst>
      <p:ext uri="{BB962C8B-B14F-4D97-AF65-F5344CB8AC3E}">
        <p14:creationId xmlns:p14="http://schemas.microsoft.com/office/powerpoint/2010/main" val="2705195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colorfulness, blue, line, electric blue&#10;&#10;Description automatically generated">
            <a:extLst>
              <a:ext uri="{FF2B5EF4-FFF2-40B4-BE49-F238E27FC236}">
                <a16:creationId xmlns:a16="http://schemas.microsoft.com/office/drawing/2014/main" id="{22D4CF93-F4D0-0C23-57D8-A17A3528814D}"/>
              </a:ext>
            </a:extLst>
          </p:cNvPr>
          <p:cNvPicPr>
            <a:picLocks noChangeAspect="1"/>
          </p:cNvPicPr>
          <p:nvPr/>
        </p:nvPicPr>
        <p:blipFill rotWithShape="1">
          <a:blip r:embed="rId3"/>
          <a:srcRect r="29618" b="9091"/>
          <a:stretch/>
        </p:blipFill>
        <p:spPr>
          <a:xfrm>
            <a:off x="3523488" y="10"/>
            <a:ext cx="8668512" cy="6857990"/>
          </a:xfrm>
          <a:prstGeom prst="rect">
            <a:avLst/>
          </a:prstGeom>
        </p:spPr>
      </p:pic>
      <p:sp>
        <p:nvSpPr>
          <p:cNvPr id="28" name="Rectangle 2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D753E546-D22A-4B48-A9F0-E33FDC8208A3}"/>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a:latin typeface="+mj-lt"/>
                <a:ea typeface="+mj-ea"/>
                <a:cs typeface="+mj-cs"/>
              </a:rPr>
              <a:t>HOW To Integrate It All</a:t>
            </a:r>
          </a:p>
        </p:txBody>
      </p:sp>
      <p:sp>
        <p:nvSpPr>
          <p:cNvPr id="30" name="Rectangle 2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2" name="Rectangle 3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8543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AED380-57E6-4848-8189-5E7B71054423}"/>
              </a:ext>
            </a:extLst>
          </p:cNvPr>
          <p:cNvPicPr>
            <a:picLocks noChangeAspect="1"/>
          </p:cNvPicPr>
          <p:nvPr/>
        </p:nvPicPr>
        <p:blipFill>
          <a:blip r:embed="rId3"/>
          <a:stretch>
            <a:fillRect/>
          </a:stretch>
        </p:blipFill>
        <p:spPr>
          <a:xfrm>
            <a:off x="6708772" y="794238"/>
            <a:ext cx="4674578" cy="4674578"/>
          </a:xfrm>
          <a:prstGeom prst="rect">
            <a:avLst/>
          </a:prstGeom>
        </p:spPr>
      </p:pic>
      <p:sp>
        <p:nvSpPr>
          <p:cNvPr id="7" name="TextBox 6">
            <a:extLst>
              <a:ext uri="{FF2B5EF4-FFF2-40B4-BE49-F238E27FC236}">
                <a16:creationId xmlns:a16="http://schemas.microsoft.com/office/drawing/2014/main" id="{B93C03D6-2FCC-4A5E-B738-B8FE3EE1CC83}"/>
              </a:ext>
            </a:extLst>
          </p:cNvPr>
          <p:cNvSpPr txBox="1"/>
          <p:nvPr/>
        </p:nvSpPr>
        <p:spPr>
          <a:xfrm>
            <a:off x="732946" y="1319770"/>
            <a:ext cx="9638588" cy="2462213"/>
          </a:xfrm>
          <a:prstGeom prst="rect">
            <a:avLst/>
          </a:prstGeom>
          <a:noFill/>
        </p:spPr>
        <p:txBody>
          <a:bodyPr wrap="square" lIns="0" tIns="0" rIns="0" bIns="0" rtlCol="0" anchor="ctr">
            <a:spAutoFit/>
          </a:bodyPr>
          <a:lstStyle/>
          <a:p>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Introducing the</a:t>
            </a:r>
          </a:p>
          <a:p>
            <a:r>
              <a:rPr lang="en-IN" sz="4000" dirty="0">
                <a:solidFill>
                  <a:srgbClr val="0BB2AF"/>
                </a:solidFill>
                <a:latin typeface="Segoe UI Black" panose="020B0A02040204020203" pitchFamily="34" charset="0"/>
                <a:ea typeface="Segoe UI Black" panose="020B0A02040204020203" pitchFamily="34" charset="0"/>
              </a:rPr>
              <a:t>4x4 RFP Success </a:t>
            </a:r>
          </a:p>
          <a:p>
            <a:r>
              <a:rPr lang="en-IN" sz="4000" dirty="0">
                <a:solidFill>
                  <a:srgbClr val="0BB2AF"/>
                </a:solidFill>
                <a:latin typeface="Segoe UI Black" panose="020B0A02040204020203" pitchFamily="34" charset="0"/>
                <a:ea typeface="Segoe UI Black" panose="020B0A02040204020203" pitchFamily="34" charset="0"/>
              </a:rPr>
              <a:t>Framework</a:t>
            </a:r>
          </a:p>
          <a:p>
            <a:endParaRPr lang="en-IN" sz="4000" dirty="0">
              <a:solidFill>
                <a:srgbClr val="0BB2AF"/>
              </a:solidFill>
              <a:latin typeface="Segoe UI Black" panose="020B0A02040204020203" pitchFamily="34" charset="0"/>
              <a:ea typeface="Segoe UI Black" panose="020B0A02040204020203" pitchFamily="34" charset="0"/>
              <a:cs typeface="Segoe UI Light" panose="020B0502040204020203" pitchFamily="34" charset="0"/>
            </a:endParaRP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Tree>
    <p:extLst>
      <p:ext uri="{BB962C8B-B14F-4D97-AF65-F5344CB8AC3E}">
        <p14:creationId xmlns:p14="http://schemas.microsoft.com/office/powerpoint/2010/main" val="2735583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AED380-57E6-4848-8189-5E7B71054423}"/>
              </a:ext>
            </a:extLst>
          </p:cNvPr>
          <p:cNvPicPr>
            <a:picLocks noChangeAspect="1"/>
          </p:cNvPicPr>
          <p:nvPr/>
        </p:nvPicPr>
        <p:blipFill>
          <a:blip r:embed="rId3"/>
          <a:stretch>
            <a:fillRect/>
          </a:stretch>
        </p:blipFill>
        <p:spPr>
          <a:xfrm>
            <a:off x="6708772" y="794238"/>
            <a:ext cx="4674578" cy="4674578"/>
          </a:xfrm>
          <a:prstGeom prst="rect">
            <a:avLst/>
          </a:prstGeom>
        </p:spPr>
      </p:pic>
      <p:sp>
        <p:nvSpPr>
          <p:cNvPr id="7" name="TextBox 6">
            <a:extLst>
              <a:ext uri="{FF2B5EF4-FFF2-40B4-BE49-F238E27FC236}">
                <a16:creationId xmlns:a16="http://schemas.microsoft.com/office/drawing/2014/main" id="{B93C03D6-2FCC-4A5E-B738-B8FE3EE1CC83}"/>
              </a:ext>
            </a:extLst>
          </p:cNvPr>
          <p:cNvSpPr txBox="1"/>
          <p:nvPr/>
        </p:nvSpPr>
        <p:spPr>
          <a:xfrm>
            <a:off x="732946" y="396441"/>
            <a:ext cx="9638588" cy="4308872"/>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4x4 RFP Success </a:t>
            </a:r>
          </a:p>
          <a:p>
            <a:r>
              <a:rPr lang="en-IN" sz="4000" dirty="0">
                <a:solidFill>
                  <a:srgbClr val="0BB2AF"/>
                </a:solidFill>
                <a:latin typeface="Segoe UI Black" panose="020B0A02040204020203" pitchFamily="34" charset="0"/>
                <a:ea typeface="Segoe UI Black" panose="020B0A02040204020203" pitchFamily="34" charset="0"/>
              </a:rPr>
              <a:t>Framework</a:t>
            </a:r>
          </a:p>
          <a:p>
            <a:endParaRPr lang="en-IN" sz="4000" dirty="0">
              <a:solidFill>
                <a:srgbClr val="0BB2AF"/>
              </a:solidFill>
              <a:latin typeface="Segoe UI Black" panose="020B0A02040204020203" pitchFamily="34" charset="0"/>
              <a:ea typeface="Segoe UI Black" panose="020B0A02040204020203" pitchFamily="34" charset="0"/>
              <a:cs typeface="Segoe UI Light" panose="020B0502040204020203" pitchFamily="34" charset="0"/>
            </a:endParaRPr>
          </a:p>
          <a:p>
            <a:pPr marL="742950" indent="-742950">
              <a:buAutoNum type="arabicPeriod"/>
            </a:pP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Content</a:t>
            </a:r>
          </a:p>
          <a:p>
            <a:pPr marL="742950" indent="-742950">
              <a:buAutoNum type="arabicPeriod"/>
            </a:pP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Strategy</a:t>
            </a:r>
          </a:p>
          <a:p>
            <a:pPr marL="742950" indent="-742950">
              <a:buAutoNum type="arabicPeriod"/>
            </a:pP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People</a:t>
            </a:r>
          </a:p>
          <a:p>
            <a:pPr marL="742950" indent="-742950">
              <a:buAutoNum type="arabicPeriod"/>
            </a:pP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Process</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Tree>
    <p:extLst>
      <p:ext uri="{BB962C8B-B14F-4D97-AF65-F5344CB8AC3E}">
        <p14:creationId xmlns:p14="http://schemas.microsoft.com/office/powerpoint/2010/main" val="3440284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081407"/>
            <a:ext cx="9638588" cy="61555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1 Content</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2DEB4F4A-24D8-30CF-41E1-11A33D6ACF95}"/>
              </a:ext>
            </a:extLst>
          </p:cNvPr>
          <p:cNvSpPr txBox="1">
            <a:spLocks/>
          </p:cNvSpPr>
          <p:nvPr/>
        </p:nvSpPr>
        <p:spPr>
          <a:xfrm>
            <a:off x="838200" y="1712424"/>
            <a:ext cx="5780572"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algn="l"/>
            <a:endParaRPr lang="en-US" dirty="0">
              <a:latin typeface="Kollektif"/>
            </a:endParaRPr>
          </a:p>
          <a:p>
            <a:pPr algn="l"/>
            <a:r>
              <a:rPr lang="en-US" dirty="0">
                <a:latin typeface="Kollektif"/>
              </a:rPr>
              <a:t>Are you confident that your content compels the evaluator to give you an exceeds expectations?</a:t>
            </a:r>
          </a:p>
          <a:p>
            <a:pPr algn="l"/>
            <a:endParaRPr lang="en-US" dirty="0">
              <a:latin typeface="Kollektif"/>
            </a:endParaRPr>
          </a:p>
          <a:p>
            <a:pPr algn="l"/>
            <a:r>
              <a:rPr lang="en-US" dirty="0">
                <a:latin typeface="Kollektif"/>
              </a:rPr>
              <a:t>Introducing the DARE Methodology </a:t>
            </a:r>
            <a:endParaRPr lang="en-US" sz="2400" dirty="0">
              <a:latin typeface="Kollektif"/>
            </a:endParaRPr>
          </a:p>
        </p:txBody>
      </p:sp>
    </p:spTree>
    <p:extLst>
      <p:ext uri="{BB962C8B-B14F-4D97-AF65-F5344CB8AC3E}">
        <p14:creationId xmlns:p14="http://schemas.microsoft.com/office/powerpoint/2010/main" val="3504046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Content </a:t>
            </a: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7BAD72AF-CC61-4CE4-653B-2F44938C057A}"/>
              </a:ext>
            </a:extLst>
          </p:cNvPr>
          <p:cNvSpPr txBox="1">
            <a:spLocks/>
          </p:cNvSpPr>
          <p:nvPr/>
        </p:nvSpPr>
        <p:spPr>
          <a:xfrm>
            <a:off x="838199" y="1712424"/>
            <a:ext cx="6361253"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algn="l"/>
            <a:r>
              <a:rPr lang="en-US" b="1" dirty="0">
                <a:latin typeface="Kollektif"/>
              </a:rPr>
              <a:t>D </a:t>
            </a:r>
            <a:r>
              <a:rPr lang="en-US" dirty="0">
                <a:latin typeface="Kollektif"/>
              </a:rPr>
              <a:t>= Distinction</a:t>
            </a:r>
          </a:p>
          <a:p>
            <a:pPr algn="l"/>
            <a:endParaRPr lang="en-US" dirty="0">
              <a:latin typeface="Kollektif"/>
            </a:endParaRP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37248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Content </a:t>
            </a: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7BAD72AF-CC61-4CE4-653B-2F44938C057A}"/>
              </a:ext>
            </a:extLst>
          </p:cNvPr>
          <p:cNvSpPr txBox="1">
            <a:spLocks/>
          </p:cNvSpPr>
          <p:nvPr/>
        </p:nvSpPr>
        <p:spPr>
          <a:xfrm>
            <a:off x="838199" y="1712424"/>
            <a:ext cx="6361253"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algn="l"/>
            <a:r>
              <a:rPr lang="en-US" b="1" dirty="0">
                <a:solidFill>
                  <a:schemeClr val="bg1">
                    <a:lumMod val="85000"/>
                  </a:schemeClr>
                </a:solidFill>
                <a:latin typeface="Kollektif"/>
              </a:rPr>
              <a:t>D </a:t>
            </a:r>
            <a:r>
              <a:rPr lang="en-US" dirty="0">
                <a:solidFill>
                  <a:schemeClr val="bg1">
                    <a:lumMod val="85000"/>
                  </a:schemeClr>
                </a:solidFill>
                <a:latin typeface="Kollektif"/>
              </a:rPr>
              <a:t>= Distinction</a:t>
            </a:r>
          </a:p>
          <a:p>
            <a:pPr algn="l"/>
            <a:r>
              <a:rPr lang="en-US" b="1" dirty="0">
                <a:latin typeface="Kollektif"/>
              </a:rPr>
              <a:t>A</a:t>
            </a:r>
            <a:r>
              <a:rPr lang="en-US" dirty="0">
                <a:latin typeface="Kollektif"/>
              </a:rPr>
              <a:t> = Answering the Questions for the Win</a:t>
            </a:r>
          </a:p>
          <a:p>
            <a:pPr algn="l"/>
            <a:endParaRPr lang="en-US" dirty="0">
              <a:latin typeface="Kollektif"/>
            </a:endParaRP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106190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Content </a:t>
            </a: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7BAD72AF-CC61-4CE4-653B-2F44938C057A}"/>
              </a:ext>
            </a:extLst>
          </p:cNvPr>
          <p:cNvSpPr txBox="1">
            <a:spLocks/>
          </p:cNvSpPr>
          <p:nvPr/>
        </p:nvSpPr>
        <p:spPr>
          <a:xfrm>
            <a:off x="838199" y="1712424"/>
            <a:ext cx="6361253"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algn="l"/>
            <a:r>
              <a:rPr lang="en-US" b="1" dirty="0">
                <a:solidFill>
                  <a:schemeClr val="bg1">
                    <a:lumMod val="85000"/>
                  </a:schemeClr>
                </a:solidFill>
                <a:latin typeface="Kollektif"/>
              </a:rPr>
              <a:t>D </a:t>
            </a:r>
            <a:r>
              <a:rPr lang="en-US" dirty="0">
                <a:solidFill>
                  <a:schemeClr val="bg1">
                    <a:lumMod val="85000"/>
                  </a:schemeClr>
                </a:solidFill>
                <a:latin typeface="Kollektif"/>
              </a:rPr>
              <a:t>= Distinction</a:t>
            </a:r>
          </a:p>
          <a:p>
            <a:pPr algn="l"/>
            <a:r>
              <a:rPr lang="en-US" b="1" dirty="0">
                <a:solidFill>
                  <a:schemeClr val="bg1">
                    <a:lumMod val="85000"/>
                  </a:schemeClr>
                </a:solidFill>
                <a:latin typeface="Kollektif"/>
              </a:rPr>
              <a:t>A</a:t>
            </a:r>
            <a:r>
              <a:rPr lang="en-US" dirty="0">
                <a:solidFill>
                  <a:schemeClr val="bg1">
                    <a:lumMod val="85000"/>
                  </a:schemeClr>
                </a:solidFill>
                <a:latin typeface="Kollektif"/>
              </a:rPr>
              <a:t> = Answering the Questions for the Win</a:t>
            </a:r>
          </a:p>
          <a:p>
            <a:pPr algn="l"/>
            <a:r>
              <a:rPr lang="en-US" b="1" dirty="0">
                <a:latin typeface="Kollektif"/>
              </a:rPr>
              <a:t>R</a:t>
            </a:r>
            <a:r>
              <a:rPr lang="en-US" dirty="0">
                <a:latin typeface="Kollektif"/>
              </a:rPr>
              <a:t> = Readability</a:t>
            </a:r>
          </a:p>
          <a:p>
            <a:pPr algn="l"/>
            <a:endParaRPr lang="en-US" dirty="0">
              <a:latin typeface="Kollektif"/>
            </a:endParaRP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4085163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Content </a:t>
            </a: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7BAD72AF-CC61-4CE4-653B-2F44938C057A}"/>
              </a:ext>
            </a:extLst>
          </p:cNvPr>
          <p:cNvSpPr txBox="1">
            <a:spLocks/>
          </p:cNvSpPr>
          <p:nvPr/>
        </p:nvSpPr>
        <p:spPr>
          <a:xfrm>
            <a:off x="838199" y="1712424"/>
            <a:ext cx="6361253"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algn="l"/>
            <a:r>
              <a:rPr lang="en-US" b="1" dirty="0">
                <a:solidFill>
                  <a:schemeClr val="bg1">
                    <a:lumMod val="85000"/>
                  </a:schemeClr>
                </a:solidFill>
                <a:latin typeface="Kollektif"/>
              </a:rPr>
              <a:t>D </a:t>
            </a:r>
            <a:r>
              <a:rPr lang="en-US" dirty="0">
                <a:solidFill>
                  <a:schemeClr val="bg1">
                    <a:lumMod val="85000"/>
                  </a:schemeClr>
                </a:solidFill>
                <a:latin typeface="Kollektif"/>
              </a:rPr>
              <a:t>= Distinction</a:t>
            </a:r>
          </a:p>
          <a:p>
            <a:pPr algn="l"/>
            <a:r>
              <a:rPr lang="en-US" b="1" dirty="0">
                <a:solidFill>
                  <a:schemeClr val="bg1">
                    <a:lumMod val="85000"/>
                  </a:schemeClr>
                </a:solidFill>
                <a:latin typeface="Kollektif"/>
              </a:rPr>
              <a:t>A</a:t>
            </a:r>
            <a:r>
              <a:rPr lang="en-US" dirty="0">
                <a:solidFill>
                  <a:schemeClr val="bg1">
                    <a:lumMod val="85000"/>
                  </a:schemeClr>
                </a:solidFill>
                <a:latin typeface="Kollektif"/>
              </a:rPr>
              <a:t> = Answering the Questions for the Win</a:t>
            </a:r>
          </a:p>
          <a:p>
            <a:pPr algn="l"/>
            <a:r>
              <a:rPr lang="en-US" b="1" dirty="0">
                <a:solidFill>
                  <a:schemeClr val="bg1">
                    <a:lumMod val="85000"/>
                  </a:schemeClr>
                </a:solidFill>
                <a:latin typeface="Kollektif"/>
              </a:rPr>
              <a:t>R</a:t>
            </a:r>
            <a:r>
              <a:rPr lang="en-US" dirty="0">
                <a:solidFill>
                  <a:schemeClr val="bg1">
                    <a:lumMod val="85000"/>
                  </a:schemeClr>
                </a:solidFill>
                <a:latin typeface="Kollektif"/>
              </a:rPr>
              <a:t> = Readability</a:t>
            </a:r>
          </a:p>
          <a:p>
            <a:pPr algn="l"/>
            <a:r>
              <a:rPr lang="en-US" b="1" dirty="0">
                <a:latin typeface="Kollektif"/>
              </a:rPr>
              <a:t>E</a:t>
            </a:r>
            <a:r>
              <a:rPr lang="en-US" dirty="0">
                <a:latin typeface="Kollektif"/>
              </a:rPr>
              <a:t> = Evidence &amp; Authority</a:t>
            </a: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327359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704B0-CB1F-D5AE-FE5E-EA3657286B0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877EF0A-6AC8-2422-2C0D-1BD44E6B1EB1}"/>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Content </a:t>
            </a: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9" name="TextBox 8">
            <a:extLst>
              <a:ext uri="{FF2B5EF4-FFF2-40B4-BE49-F238E27FC236}">
                <a16:creationId xmlns:a16="http://schemas.microsoft.com/office/drawing/2014/main" id="{FBB1C57B-4A1F-8E2E-D7C6-EF626510A9EC}"/>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8617228A-7329-02B5-69AA-2A6871755D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68B7F79E-AFA0-132E-7D59-CAFE62FD7AD6}"/>
              </a:ext>
            </a:extLst>
          </p:cNvPr>
          <p:cNvSpPr txBox="1">
            <a:spLocks/>
          </p:cNvSpPr>
          <p:nvPr/>
        </p:nvSpPr>
        <p:spPr>
          <a:xfrm>
            <a:off x="838199" y="1712424"/>
            <a:ext cx="6361253"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algn="l"/>
            <a:r>
              <a:rPr lang="en-US" b="1" dirty="0">
                <a:latin typeface="Kollektif"/>
              </a:rPr>
              <a:t>D </a:t>
            </a:r>
            <a:r>
              <a:rPr lang="en-US" dirty="0">
                <a:latin typeface="Kollektif"/>
              </a:rPr>
              <a:t>= Distinction</a:t>
            </a:r>
          </a:p>
          <a:p>
            <a:pPr algn="l"/>
            <a:r>
              <a:rPr lang="en-US" b="1" dirty="0">
                <a:latin typeface="Kollektif"/>
              </a:rPr>
              <a:t>A</a:t>
            </a:r>
            <a:r>
              <a:rPr lang="en-US" dirty="0">
                <a:latin typeface="Kollektif"/>
              </a:rPr>
              <a:t> = Answering the Questions for the Win</a:t>
            </a:r>
          </a:p>
          <a:p>
            <a:pPr algn="l"/>
            <a:r>
              <a:rPr lang="en-US" b="1" dirty="0">
                <a:latin typeface="Kollektif"/>
              </a:rPr>
              <a:t>R</a:t>
            </a:r>
            <a:r>
              <a:rPr lang="en-US" dirty="0">
                <a:latin typeface="Kollektif"/>
              </a:rPr>
              <a:t> = Readability</a:t>
            </a:r>
          </a:p>
          <a:p>
            <a:pPr algn="l"/>
            <a:r>
              <a:rPr lang="en-US" b="1" dirty="0">
                <a:latin typeface="Kollektif"/>
              </a:rPr>
              <a:t>E</a:t>
            </a:r>
            <a:r>
              <a:rPr lang="en-US" dirty="0">
                <a:latin typeface="Kollektif"/>
              </a:rPr>
              <a:t> = Evidence &amp; Authority</a:t>
            </a: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73362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Content </a:t>
            </a: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Deficiency</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7BAD72AF-CC61-4CE4-653B-2F44938C057A}"/>
              </a:ext>
            </a:extLst>
          </p:cNvPr>
          <p:cNvSpPr txBox="1">
            <a:spLocks/>
          </p:cNvSpPr>
          <p:nvPr/>
        </p:nvSpPr>
        <p:spPr>
          <a:xfrm>
            <a:off x="838199" y="1712424"/>
            <a:ext cx="6361253"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marL="457200" indent="-457200" algn="l">
              <a:buFont typeface="+mj-lt"/>
              <a:buAutoNum type="arabicPeriod"/>
            </a:pPr>
            <a:r>
              <a:rPr lang="en-US" dirty="0">
                <a:latin typeface="Kollektif"/>
              </a:rPr>
              <a:t>You’ll blend in with other bidders</a:t>
            </a:r>
          </a:p>
          <a:p>
            <a:pPr marL="457200" indent="-457200" algn="l">
              <a:buFont typeface="+mj-lt"/>
              <a:buAutoNum type="arabicPeriod"/>
            </a:pPr>
            <a:r>
              <a:rPr lang="en-US" dirty="0">
                <a:latin typeface="Kollektif"/>
              </a:rPr>
              <a:t>Evaluators get bored or confused</a:t>
            </a:r>
          </a:p>
          <a:p>
            <a:pPr marL="457200" indent="-457200" algn="l">
              <a:buFont typeface="+mj-lt"/>
              <a:buAutoNum type="arabicPeriod"/>
            </a:pPr>
            <a:r>
              <a:rPr lang="en-US" dirty="0">
                <a:latin typeface="Kollektif"/>
              </a:rPr>
              <a:t>You won’t get anything higher than a “meets” expectations</a:t>
            </a:r>
          </a:p>
          <a:p>
            <a:pPr marL="457200" indent="-457200" algn="l">
              <a:buFont typeface="+mj-lt"/>
              <a:buAutoNum type="arabicPeriod"/>
            </a:pPr>
            <a:r>
              <a:rPr lang="en-US" dirty="0">
                <a:latin typeface="Kollektif"/>
              </a:rPr>
              <a:t>You have a high chance of losing</a:t>
            </a:r>
          </a:p>
          <a:p>
            <a:pPr marL="457200" indent="-457200" algn="l">
              <a:buFont typeface="+mj-lt"/>
              <a:buAutoNum type="arabicPeriod"/>
            </a:pPr>
            <a:endParaRPr lang="en-US" dirty="0">
              <a:latin typeface="Kollektif"/>
            </a:endParaRPr>
          </a:p>
          <a:p>
            <a:pPr algn="l"/>
            <a:endParaRPr lang="en-US" dirty="0">
              <a:latin typeface="Kollektif"/>
            </a:endParaRP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2934994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134333"/>
            <a:ext cx="9638588" cy="615553"/>
          </a:xfrm>
          <a:prstGeom prst="rect">
            <a:avLst/>
          </a:prstGeom>
          <a:noFill/>
        </p:spPr>
        <p:txBody>
          <a:bodyPr wrap="square" lIns="0" tIns="0" rIns="0" bIns="0" rtlCol="0" anchor="ctr">
            <a:spAutoFit/>
          </a:bodyPr>
          <a:lstStyle/>
          <a:p>
            <a:r>
              <a:rPr lang="en-IN" sz="4000" dirty="0">
                <a:solidFill>
                  <a:srgbClr val="0BB2AF"/>
                </a:solidFill>
                <a:latin typeface="Segoe UI Black" panose="020B0A02040204020203" pitchFamily="34" charset="0"/>
                <a:ea typeface="Segoe UI Black" panose="020B0A02040204020203" pitchFamily="34" charset="0"/>
              </a:rPr>
              <a:t>Content </a:t>
            </a:r>
            <a:r>
              <a:rPr lang="en-IN" sz="4000" dirty="0">
                <a:solidFill>
                  <a:srgbClr val="0BB2AF"/>
                </a:solidFill>
                <a:latin typeface="Segoe UI Light" panose="020B0502040204020203" pitchFamily="34" charset="0"/>
                <a:ea typeface="Segoe UI Black" panose="020B0A02040204020203" pitchFamily="34" charset="0"/>
                <a:cs typeface="Segoe UI Light" panose="020B0502040204020203" pitchFamily="34" charset="0"/>
              </a:rPr>
              <a:t>Benefits</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7BAD72AF-CC61-4CE4-653B-2F44938C057A}"/>
              </a:ext>
            </a:extLst>
          </p:cNvPr>
          <p:cNvSpPr txBox="1">
            <a:spLocks/>
          </p:cNvSpPr>
          <p:nvPr/>
        </p:nvSpPr>
        <p:spPr>
          <a:xfrm>
            <a:off x="838199" y="1712424"/>
            <a:ext cx="6361253"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marL="457200" indent="-457200" algn="l">
              <a:buFont typeface="+mj-lt"/>
              <a:buAutoNum type="arabicPeriod"/>
            </a:pPr>
            <a:r>
              <a:rPr lang="en-US" dirty="0">
                <a:latin typeface="Kollektif"/>
              </a:rPr>
              <a:t>Engage the reader</a:t>
            </a:r>
          </a:p>
          <a:p>
            <a:pPr marL="457200" indent="-457200" algn="l">
              <a:buFont typeface="+mj-lt"/>
              <a:buAutoNum type="arabicPeriod"/>
            </a:pPr>
            <a:r>
              <a:rPr lang="en-US" dirty="0">
                <a:latin typeface="Kollektif"/>
              </a:rPr>
              <a:t>They get a true sense of who you are and what it will be like to work with you</a:t>
            </a:r>
          </a:p>
          <a:p>
            <a:pPr marL="457200" indent="-457200" algn="l">
              <a:buFont typeface="+mj-lt"/>
              <a:buAutoNum type="arabicPeriod"/>
            </a:pPr>
            <a:r>
              <a:rPr lang="en-US" dirty="0">
                <a:latin typeface="Kollektif"/>
              </a:rPr>
              <a:t>You’ll appeal to their emotions</a:t>
            </a:r>
          </a:p>
          <a:p>
            <a:pPr marL="457200" indent="-457200" algn="l">
              <a:buFont typeface="+mj-lt"/>
              <a:buAutoNum type="arabicPeriod"/>
            </a:pPr>
            <a:r>
              <a:rPr lang="en-US" dirty="0">
                <a:latin typeface="Kollektif"/>
              </a:rPr>
              <a:t>You’ll get the higher score!</a:t>
            </a:r>
          </a:p>
          <a:p>
            <a:pPr algn="l"/>
            <a:endParaRPr lang="en-US" dirty="0">
              <a:latin typeface="Kollektif"/>
            </a:endParaRPr>
          </a:p>
          <a:p>
            <a:pPr marL="457200" indent="-457200" algn="l">
              <a:buFont typeface="+mj-lt"/>
              <a:buAutoNum type="arabicPeriod"/>
            </a:pPr>
            <a:endParaRPr lang="en-US" dirty="0">
              <a:latin typeface="Kollektif"/>
            </a:endParaRPr>
          </a:p>
        </p:txBody>
      </p:sp>
    </p:spTree>
    <p:extLst>
      <p:ext uri="{BB962C8B-B14F-4D97-AF65-F5344CB8AC3E}">
        <p14:creationId xmlns:p14="http://schemas.microsoft.com/office/powerpoint/2010/main" val="205990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081407"/>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2 Strategy</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2DEB4F4A-24D8-30CF-41E1-11A33D6ACF95}"/>
              </a:ext>
            </a:extLst>
          </p:cNvPr>
          <p:cNvSpPr txBox="1">
            <a:spLocks/>
          </p:cNvSpPr>
          <p:nvPr/>
        </p:nvSpPr>
        <p:spPr>
          <a:xfrm>
            <a:off x="838200" y="2031422"/>
            <a:ext cx="5608984" cy="40323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latin typeface="Kollektif"/>
              </a:rPr>
              <a:t>Do you have enough information (outside of the RFP) to write a convincing argument that you are the best solution?</a:t>
            </a:r>
            <a:endParaRPr lang="en-US" sz="2400" dirty="0">
              <a:latin typeface="Kollektif"/>
            </a:endParaRPr>
          </a:p>
        </p:txBody>
      </p:sp>
    </p:spTree>
    <p:extLst>
      <p:ext uri="{BB962C8B-B14F-4D97-AF65-F5344CB8AC3E}">
        <p14:creationId xmlns:p14="http://schemas.microsoft.com/office/powerpoint/2010/main" val="219286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38</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STRATEGY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984885"/>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Get the foundation right</a:t>
            </a:r>
          </a:p>
          <a:p>
            <a:pPr fontAlgn="base"/>
            <a:endParaRPr lang="en-US" sz="3200" dirty="0">
              <a:latin typeface="Kollektif" panose="020B0604020101010102"/>
            </a:endParaRPr>
          </a:p>
        </p:txBody>
      </p:sp>
    </p:spTree>
    <p:extLst>
      <p:ext uri="{BB962C8B-B14F-4D97-AF65-F5344CB8AC3E}">
        <p14:creationId xmlns:p14="http://schemas.microsoft.com/office/powerpoint/2010/main" val="3244380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39</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STRATEGY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1477328"/>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Get the foundation right</a:t>
            </a:r>
          </a:p>
          <a:p>
            <a:pPr marL="514350" indent="-514350" fontAlgn="base">
              <a:buFont typeface="+mj-lt"/>
              <a:buAutoNum type="arabicPeriod"/>
            </a:pPr>
            <a:r>
              <a:rPr lang="en-US" sz="3200" dirty="0">
                <a:latin typeface="Kollektif" panose="020B0604020101010102"/>
              </a:rPr>
              <a:t>Identify your irresistible positioning</a:t>
            </a:r>
          </a:p>
          <a:p>
            <a:pPr fontAlgn="base"/>
            <a:endParaRPr lang="en-US" sz="3200" dirty="0">
              <a:latin typeface="Kollektif" panose="020B0604020101010102"/>
            </a:endParaRPr>
          </a:p>
        </p:txBody>
      </p:sp>
    </p:spTree>
    <p:extLst>
      <p:ext uri="{BB962C8B-B14F-4D97-AF65-F5344CB8AC3E}">
        <p14:creationId xmlns:p14="http://schemas.microsoft.com/office/powerpoint/2010/main" val="794938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40</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STRATEGY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1969770"/>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Get the foundation right</a:t>
            </a:r>
          </a:p>
          <a:p>
            <a:pPr marL="514350" indent="-514350" fontAlgn="base">
              <a:buFont typeface="+mj-lt"/>
              <a:buAutoNum type="arabicPeriod"/>
            </a:pPr>
            <a:r>
              <a:rPr lang="en-US" sz="3200" dirty="0">
                <a:latin typeface="Kollektif" panose="020B0604020101010102"/>
              </a:rPr>
              <a:t>Identify your irresistible positioning</a:t>
            </a:r>
          </a:p>
          <a:p>
            <a:pPr marL="514350" indent="-514350" fontAlgn="base">
              <a:buFont typeface="+mj-lt"/>
              <a:buAutoNum type="arabicPeriod"/>
            </a:pPr>
            <a:r>
              <a:rPr lang="en-US" sz="3200" dirty="0">
                <a:latin typeface="Kollektif" panose="020B0604020101010102"/>
              </a:rPr>
              <a:t>Think like a winner</a:t>
            </a:r>
          </a:p>
          <a:p>
            <a:pPr fontAlgn="base"/>
            <a:endParaRPr lang="en-US" sz="3200" dirty="0">
              <a:latin typeface="Kollektif" panose="020B0604020101010102"/>
            </a:endParaRPr>
          </a:p>
        </p:txBody>
      </p:sp>
    </p:spTree>
    <p:extLst>
      <p:ext uri="{BB962C8B-B14F-4D97-AF65-F5344CB8AC3E}">
        <p14:creationId xmlns:p14="http://schemas.microsoft.com/office/powerpoint/2010/main" val="3380422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41</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STRATEGY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2462213"/>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Get the foundation right</a:t>
            </a:r>
          </a:p>
          <a:p>
            <a:pPr marL="514350" indent="-514350" fontAlgn="base">
              <a:buFont typeface="+mj-lt"/>
              <a:buAutoNum type="arabicPeriod"/>
            </a:pPr>
            <a:r>
              <a:rPr lang="en-US" sz="3200" dirty="0">
                <a:latin typeface="Kollektif" panose="020B0604020101010102"/>
              </a:rPr>
              <a:t>Identify your irresistible positioning</a:t>
            </a:r>
          </a:p>
          <a:p>
            <a:pPr marL="514350" indent="-514350" fontAlgn="base">
              <a:buFont typeface="+mj-lt"/>
              <a:buAutoNum type="arabicPeriod"/>
            </a:pPr>
            <a:r>
              <a:rPr lang="en-US" sz="3200" dirty="0">
                <a:latin typeface="Kollektif" panose="020B0604020101010102"/>
              </a:rPr>
              <a:t>Think like a winner</a:t>
            </a:r>
          </a:p>
          <a:p>
            <a:pPr marL="514350" indent="-514350" fontAlgn="base">
              <a:buFont typeface="+mj-lt"/>
              <a:buAutoNum type="arabicPeriod"/>
            </a:pPr>
            <a:r>
              <a:rPr lang="en-US" sz="3200" dirty="0">
                <a:latin typeface="Kollektif" panose="020B0604020101010102"/>
              </a:rPr>
              <a:t>Stop operating in a tunnel</a:t>
            </a:r>
          </a:p>
          <a:p>
            <a:pPr fontAlgn="base"/>
            <a:endParaRPr lang="en-US" sz="3200" dirty="0">
              <a:latin typeface="Kollektif" panose="020B0604020101010102"/>
            </a:endParaRPr>
          </a:p>
        </p:txBody>
      </p:sp>
    </p:spTree>
    <p:extLst>
      <p:ext uri="{BB962C8B-B14F-4D97-AF65-F5344CB8AC3E}">
        <p14:creationId xmlns:p14="http://schemas.microsoft.com/office/powerpoint/2010/main" val="27327419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977D08-C432-4FDC-B389-6F54971C0C47}"/>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STRATEGY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Deficiency</a:t>
            </a:r>
          </a:p>
        </p:txBody>
      </p:sp>
      <p:sp>
        <p:nvSpPr>
          <p:cNvPr id="7" name="TextBox 6">
            <a:extLst>
              <a:ext uri="{FF2B5EF4-FFF2-40B4-BE49-F238E27FC236}">
                <a16:creationId xmlns:a16="http://schemas.microsoft.com/office/drawing/2014/main" id="{F8DC3254-B787-4401-850B-90DFE9DC2A91}"/>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8" name="Picture 7" descr="A picture containing text&#10;&#10;Description automatically generated">
            <a:extLst>
              <a:ext uri="{FF2B5EF4-FFF2-40B4-BE49-F238E27FC236}">
                <a16:creationId xmlns:a16="http://schemas.microsoft.com/office/drawing/2014/main" id="{09700DC9-7771-403B-8EB5-0CBCDC873B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TextBox 1">
            <a:extLst>
              <a:ext uri="{FF2B5EF4-FFF2-40B4-BE49-F238E27FC236}">
                <a16:creationId xmlns:a16="http://schemas.microsoft.com/office/drawing/2014/main" id="{C7ACE75A-BB29-8BF4-215D-751D8AF79053}"/>
              </a:ext>
            </a:extLst>
          </p:cNvPr>
          <p:cNvSpPr txBox="1"/>
          <p:nvPr/>
        </p:nvSpPr>
        <p:spPr>
          <a:xfrm>
            <a:off x="891518" y="1881853"/>
            <a:ext cx="9881463" cy="3939540"/>
          </a:xfrm>
          <a:prstGeom prst="rect">
            <a:avLst/>
          </a:prstGeom>
          <a:noFill/>
        </p:spPr>
        <p:txBody>
          <a:bodyPr wrap="square" lIns="0" tIns="0" rIns="0" bIns="0" rtlCol="0" anchor="t">
            <a:spAutoFit/>
          </a:bodyPr>
          <a:lstStyle/>
          <a:p>
            <a:pPr marL="0" indent="0">
              <a:buFont typeface="Arial" panose="020B0604020202020204" pitchFamily="34" charset="0"/>
              <a:buNone/>
            </a:pPr>
            <a:r>
              <a:rPr lang="en-US" sz="3200" dirty="0"/>
              <a:t>Lack of a clear strategy will lead to insufficient knowledge with: </a:t>
            </a:r>
          </a:p>
          <a:p>
            <a:pPr marL="285750" indent="-285750">
              <a:buFont typeface="Arial" panose="020B0604020202020204" pitchFamily="34" charset="0"/>
              <a:buChar char="•"/>
            </a:pPr>
            <a:endParaRPr lang="en-US" sz="3200" dirty="0"/>
          </a:p>
          <a:p>
            <a:pPr marL="285750" indent="-285750">
              <a:buFont typeface="Arial" panose="020B0604020202020204" pitchFamily="34" charset="0"/>
              <a:buChar char="•"/>
            </a:pPr>
            <a:r>
              <a:rPr lang="en-US" sz="3200" dirty="0"/>
              <a:t>The prospect’s environment</a:t>
            </a:r>
          </a:p>
          <a:p>
            <a:pPr marL="285750" indent="-285750">
              <a:buFont typeface="Arial" panose="020B0604020202020204" pitchFamily="34" charset="0"/>
              <a:buChar char="•"/>
            </a:pPr>
            <a:r>
              <a:rPr lang="en-US" sz="3200" dirty="0"/>
              <a:t>The prospect’s hot buttons or pain points</a:t>
            </a:r>
          </a:p>
          <a:p>
            <a:pPr marL="285750" indent="-285750">
              <a:buFont typeface="Arial" panose="020B0604020202020204" pitchFamily="34" charset="0"/>
              <a:buChar char="•"/>
            </a:pPr>
            <a:r>
              <a:rPr lang="en-US" sz="3200" dirty="0"/>
              <a:t>Competitors</a:t>
            </a:r>
          </a:p>
          <a:p>
            <a:pPr marL="285750" indent="-285750">
              <a:buFont typeface="Arial" panose="020B0604020202020204" pitchFamily="34" charset="0"/>
              <a:buChar char="•"/>
            </a:pPr>
            <a:r>
              <a:rPr lang="en-US" sz="3200" dirty="0"/>
              <a:t>What the prospect values most</a:t>
            </a:r>
          </a:p>
          <a:p>
            <a:pPr marL="285750" indent="-285750">
              <a:buFont typeface="Arial" panose="020B0604020202020204" pitchFamily="34" charset="0"/>
              <a:buChar char="•"/>
            </a:pPr>
            <a:r>
              <a:rPr lang="en-US" sz="3200" dirty="0"/>
              <a:t>Positioning your solution</a:t>
            </a:r>
          </a:p>
        </p:txBody>
      </p:sp>
    </p:spTree>
    <p:extLst>
      <p:ext uri="{BB962C8B-B14F-4D97-AF65-F5344CB8AC3E}">
        <p14:creationId xmlns:p14="http://schemas.microsoft.com/office/powerpoint/2010/main" val="19454235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43</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STRATEGY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Benefits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2462213"/>
          </a:xfrm>
          <a:prstGeom prst="rect">
            <a:avLst/>
          </a:prstGeom>
          <a:noFill/>
        </p:spPr>
        <p:txBody>
          <a:bodyPr wrap="square" lIns="0" tIns="0" rIns="0" bIns="0" rtlCol="0" anchor="t">
            <a:spAutoFit/>
          </a:bodyPr>
          <a:lstStyle/>
          <a:p>
            <a:pPr marL="457200" indent="-457200" fontAlgn="base">
              <a:buFont typeface="Arial" panose="020B0604020202020204" pitchFamily="34" charset="0"/>
              <a:buChar char="•"/>
            </a:pPr>
            <a:r>
              <a:rPr lang="en-US" sz="3200" dirty="0">
                <a:latin typeface="Kollektif" panose="020B0604020101010102"/>
              </a:rPr>
              <a:t>Positioned better for the win</a:t>
            </a:r>
          </a:p>
          <a:p>
            <a:pPr marL="457200" indent="-457200" fontAlgn="base">
              <a:buFont typeface="Arial" panose="020B0604020202020204" pitchFamily="34" charset="0"/>
              <a:buChar char="•"/>
            </a:pPr>
            <a:r>
              <a:rPr lang="en-US" sz="3200" dirty="0">
                <a:latin typeface="Kollektif" panose="020B0604020101010102"/>
              </a:rPr>
              <a:t>Save massive time and frustration</a:t>
            </a:r>
          </a:p>
          <a:p>
            <a:pPr marL="457200" indent="-457200" fontAlgn="base">
              <a:buFont typeface="Arial" panose="020B0604020202020204" pitchFamily="34" charset="0"/>
              <a:buChar char="•"/>
            </a:pPr>
            <a:r>
              <a:rPr lang="en-US" sz="3200" dirty="0">
                <a:latin typeface="Kollektif" panose="020B0604020101010102"/>
              </a:rPr>
              <a:t>Your proposals will be 100 times better </a:t>
            </a:r>
          </a:p>
          <a:p>
            <a:pPr marL="457200" indent="-457200" fontAlgn="base">
              <a:buFont typeface="Arial" panose="020B0604020202020204" pitchFamily="34" charset="0"/>
              <a:buChar char="•"/>
            </a:pPr>
            <a:r>
              <a:rPr lang="en-US" sz="3200" dirty="0">
                <a:latin typeface="Kollektif" panose="020B0604020101010102"/>
              </a:rPr>
              <a:t>Team will be less frustrated and will have less burnout</a:t>
            </a:r>
          </a:p>
          <a:p>
            <a:pPr marL="457200" indent="-457200" fontAlgn="base">
              <a:buFont typeface="Arial" panose="020B0604020202020204" pitchFamily="34" charset="0"/>
              <a:buChar char="•"/>
            </a:pPr>
            <a:r>
              <a:rPr lang="en-US" sz="3200" dirty="0">
                <a:latin typeface="Kollektif" panose="020B0604020101010102"/>
              </a:rPr>
              <a:t>You’ll be able to build trust and credibility with the buyer</a:t>
            </a:r>
          </a:p>
        </p:txBody>
      </p:sp>
    </p:spTree>
    <p:extLst>
      <p:ext uri="{BB962C8B-B14F-4D97-AF65-F5344CB8AC3E}">
        <p14:creationId xmlns:p14="http://schemas.microsoft.com/office/powerpoint/2010/main" val="6810498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081407"/>
            <a:ext cx="9638588" cy="615553"/>
          </a:xfrm>
          <a:prstGeom prst="rect">
            <a:avLst/>
          </a:prstGeom>
          <a:noFill/>
        </p:spPr>
        <p:txBody>
          <a:bodyPr wrap="square" lIns="0" tIns="0" rIns="0" bIns="0" rtlCol="0" anchor="ctr">
            <a:spAutoFit/>
          </a:bodyPr>
          <a:lstStyle/>
          <a:p>
            <a:r>
              <a:rPr lang="en-IN" sz="4000" dirty="0">
                <a:solidFill>
                  <a:schemeClr val="tx1">
                    <a:lumMod val="50000"/>
                    <a:lumOff val="50000"/>
                  </a:schemeClr>
                </a:solidFill>
                <a:latin typeface="Segoe UI Black" panose="020B0A02040204020203" pitchFamily="34" charset="0"/>
                <a:ea typeface="Segoe UI Black" panose="020B0A02040204020203" pitchFamily="34" charset="0"/>
              </a:rPr>
              <a:t>3 PEOPLE</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2DEB4F4A-24D8-30CF-41E1-11A33D6ACF95}"/>
              </a:ext>
            </a:extLst>
          </p:cNvPr>
          <p:cNvSpPr txBox="1">
            <a:spLocks/>
          </p:cNvSpPr>
          <p:nvPr/>
        </p:nvSpPr>
        <p:spPr>
          <a:xfrm>
            <a:off x="838200" y="1712424"/>
            <a:ext cx="5728856"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algn="l"/>
            <a:r>
              <a:rPr lang="en-US" dirty="0">
                <a:latin typeface="Kollektif"/>
              </a:rPr>
              <a:t>Are you confident that the team responding to RFPs is committed to excellence, or are they just going through the motions (or filling in between other parts of their job)?</a:t>
            </a:r>
            <a:endParaRPr lang="en-US" sz="2400" dirty="0">
              <a:latin typeface="Kollektif"/>
            </a:endParaRPr>
          </a:p>
        </p:txBody>
      </p:sp>
    </p:spTree>
    <p:extLst>
      <p:ext uri="{BB962C8B-B14F-4D97-AF65-F5344CB8AC3E}">
        <p14:creationId xmlns:p14="http://schemas.microsoft.com/office/powerpoint/2010/main" val="249286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45</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tx1">
                    <a:lumMod val="50000"/>
                    <a:lumOff val="50000"/>
                  </a:schemeClr>
                </a:solidFill>
                <a:latin typeface="Segoe UI Black" panose="020B0A02040204020203" pitchFamily="34" charset="0"/>
                <a:ea typeface="Segoe UI Black" panose="020B0A02040204020203" pitchFamily="34" charset="0"/>
              </a:rPr>
              <a:t>PEOPLE </a:t>
            </a:r>
            <a:r>
              <a:rPr lang="en-IN" sz="4000" dirty="0">
                <a:solidFill>
                  <a:schemeClr val="tx1">
                    <a:lumMod val="50000"/>
                    <a:lumOff val="50000"/>
                  </a:schemeClr>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984885"/>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Have the right people in the right seats on the bus</a:t>
            </a:r>
          </a:p>
          <a:p>
            <a:pPr marL="514350" indent="-514350" fontAlgn="base">
              <a:buFont typeface="+mj-lt"/>
              <a:buAutoNum type="arabicPeriod"/>
            </a:pPr>
            <a:endParaRPr lang="en-US" sz="3200" dirty="0">
              <a:latin typeface="Kollektif" panose="020B0604020101010102"/>
            </a:endParaRPr>
          </a:p>
        </p:txBody>
      </p:sp>
    </p:spTree>
    <p:extLst>
      <p:ext uri="{BB962C8B-B14F-4D97-AF65-F5344CB8AC3E}">
        <p14:creationId xmlns:p14="http://schemas.microsoft.com/office/powerpoint/2010/main" val="10058627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46</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tx1">
                    <a:lumMod val="50000"/>
                    <a:lumOff val="50000"/>
                  </a:schemeClr>
                </a:solidFill>
                <a:latin typeface="Segoe UI Black" panose="020B0A02040204020203" pitchFamily="34" charset="0"/>
                <a:ea typeface="Segoe UI Black" panose="020B0A02040204020203" pitchFamily="34" charset="0"/>
              </a:rPr>
              <a:t>PEOPLE </a:t>
            </a:r>
            <a:r>
              <a:rPr lang="en-IN" sz="4000" dirty="0">
                <a:solidFill>
                  <a:schemeClr val="tx1">
                    <a:lumMod val="50000"/>
                    <a:lumOff val="50000"/>
                  </a:schemeClr>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984885"/>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Have the right people in the right seats on the bus</a:t>
            </a:r>
          </a:p>
          <a:p>
            <a:pPr marL="514350" indent="-514350" fontAlgn="base">
              <a:buFont typeface="+mj-lt"/>
              <a:buAutoNum type="arabicPeriod"/>
            </a:pPr>
            <a:r>
              <a:rPr lang="en-US" sz="3200" dirty="0">
                <a:latin typeface="Kollektif" panose="020B0604020101010102"/>
              </a:rPr>
              <a:t>It takes more than one person</a:t>
            </a:r>
          </a:p>
        </p:txBody>
      </p:sp>
    </p:spTree>
    <p:extLst>
      <p:ext uri="{BB962C8B-B14F-4D97-AF65-F5344CB8AC3E}">
        <p14:creationId xmlns:p14="http://schemas.microsoft.com/office/powerpoint/2010/main" val="1552685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47</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tx1">
                    <a:lumMod val="50000"/>
                    <a:lumOff val="50000"/>
                  </a:schemeClr>
                </a:solidFill>
                <a:latin typeface="Segoe UI Black" panose="020B0A02040204020203" pitchFamily="34" charset="0"/>
                <a:ea typeface="Segoe UI Black" panose="020B0A02040204020203" pitchFamily="34" charset="0"/>
              </a:rPr>
              <a:t>PEOPLE </a:t>
            </a:r>
            <a:r>
              <a:rPr lang="en-IN" sz="4000" dirty="0">
                <a:solidFill>
                  <a:schemeClr val="tx1">
                    <a:lumMod val="50000"/>
                    <a:lumOff val="50000"/>
                  </a:schemeClr>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1477328"/>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Have the right people in the right seats on the bus</a:t>
            </a:r>
          </a:p>
          <a:p>
            <a:pPr marL="514350" indent="-514350" fontAlgn="base">
              <a:buFont typeface="+mj-lt"/>
              <a:buAutoNum type="arabicPeriod"/>
            </a:pPr>
            <a:r>
              <a:rPr lang="en-US" sz="3200" dirty="0">
                <a:latin typeface="Kollektif" panose="020B0604020101010102"/>
              </a:rPr>
              <a:t>It takes more than one person</a:t>
            </a:r>
          </a:p>
          <a:p>
            <a:pPr marL="514350" indent="-514350" fontAlgn="base">
              <a:buFont typeface="+mj-lt"/>
              <a:buAutoNum type="arabicPeriod"/>
            </a:pPr>
            <a:r>
              <a:rPr lang="en-US" sz="3200" dirty="0">
                <a:latin typeface="Kollektif" panose="020B0604020101010102"/>
              </a:rPr>
              <a:t>Sales people aren’t the solution</a:t>
            </a:r>
          </a:p>
        </p:txBody>
      </p:sp>
    </p:spTree>
    <p:extLst>
      <p:ext uri="{BB962C8B-B14F-4D97-AF65-F5344CB8AC3E}">
        <p14:creationId xmlns:p14="http://schemas.microsoft.com/office/powerpoint/2010/main" val="33722790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48</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tx1">
                    <a:lumMod val="50000"/>
                    <a:lumOff val="50000"/>
                  </a:schemeClr>
                </a:solidFill>
                <a:latin typeface="Segoe UI Black" panose="020B0A02040204020203" pitchFamily="34" charset="0"/>
                <a:ea typeface="Segoe UI Black" panose="020B0A02040204020203" pitchFamily="34" charset="0"/>
              </a:rPr>
              <a:t>PEOPLE </a:t>
            </a:r>
            <a:r>
              <a:rPr lang="en-IN" sz="4000" dirty="0">
                <a:solidFill>
                  <a:schemeClr val="tx1">
                    <a:lumMod val="50000"/>
                    <a:lumOff val="50000"/>
                  </a:schemeClr>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1477328"/>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Have the right people in the right seats on the bus</a:t>
            </a:r>
          </a:p>
          <a:p>
            <a:pPr marL="514350" indent="-514350" fontAlgn="base">
              <a:buFont typeface="+mj-lt"/>
              <a:buAutoNum type="arabicPeriod"/>
            </a:pPr>
            <a:r>
              <a:rPr lang="en-US" sz="3200" dirty="0">
                <a:latin typeface="Kollektif" panose="020B0604020101010102"/>
              </a:rPr>
              <a:t>It takes more than one person</a:t>
            </a:r>
          </a:p>
          <a:p>
            <a:pPr marL="514350" indent="-514350" fontAlgn="base">
              <a:buFont typeface="+mj-lt"/>
              <a:buAutoNum type="arabicPeriod"/>
            </a:pPr>
            <a:r>
              <a:rPr lang="en-US" sz="3200" dirty="0">
                <a:latin typeface="Kollektif" panose="020B0604020101010102"/>
              </a:rPr>
              <a:t>Sales people aren’t the solution</a:t>
            </a:r>
          </a:p>
        </p:txBody>
      </p:sp>
    </p:spTree>
    <p:extLst>
      <p:ext uri="{BB962C8B-B14F-4D97-AF65-F5344CB8AC3E}">
        <p14:creationId xmlns:p14="http://schemas.microsoft.com/office/powerpoint/2010/main" val="20546118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49</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tx1">
                    <a:lumMod val="50000"/>
                    <a:lumOff val="50000"/>
                  </a:schemeClr>
                </a:solidFill>
                <a:latin typeface="Segoe UI Black" panose="020B0A02040204020203" pitchFamily="34" charset="0"/>
                <a:ea typeface="Segoe UI Black" panose="020B0A02040204020203" pitchFamily="34" charset="0"/>
              </a:rPr>
              <a:t>PEOPLE </a:t>
            </a:r>
            <a:r>
              <a:rPr lang="en-IN" sz="4000" dirty="0">
                <a:solidFill>
                  <a:schemeClr val="tx1">
                    <a:lumMod val="50000"/>
                    <a:lumOff val="50000"/>
                  </a:schemeClr>
                </a:solidFill>
                <a:latin typeface="Segoe UI Light" panose="020B0502040204020203" pitchFamily="34" charset="0"/>
                <a:ea typeface="Segoe UI Black" panose="020B0A02040204020203" pitchFamily="34" charset="0"/>
                <a:cs typeface="Segoe UI Light" panose="020B0502040204020203" pitchFamily="34" charset="0"/>
              </a:rPr>
              <a:t>Deficiency</a:t>
            </a:r>
          </a:p>
        </p:txBody>
      </p:sp>
      <p:sp>
        <p:nvSpPr>
          <p:cNvPr id="12" name="TextBox 11">
            <a:extLst>
              <a:ext uri="{FF2B5EF4-FFF2-40B4-BE49-F238E27FC236}">
                <a16:creationId xmlns:a16="http://schemas.microsoft.com/office/drawing/2014/main" id="{A83449F1-5F96-4BAC-8D1C-05CEB8A51F1B}"/>
              </a:ext>
            </a:extLst>
          </p:cNvPr>
          <p:cNvSpPr txBox="1"/>
          <p:nvPr/>
        </p:nvSpPr>
        <p:spPr>
          <a:xfrm>
            <a:off x="916774" y="1461970"/>
            <a:ext cx="9881463" cy="4708981"/>
          </a:xfrm>
          <a:prstGeom prst="rect">
            <a:avLst/>
          </a:prstGeom>
          <a:noFill/>
        </p:spPr>
        <p:txBody>
          <a:bodyPr wrap="square" lIns="0" tIns="0" rIns="0" bIns="0" rtlCol="0" anchor="t">
            <a:spAutoFit/>
          </a:bodyPr>
          <a:lstStyle/>
          <a:p>
            <a:r>
              <a:rPr lang="en-US" sz="3200" dirty="0"/>
              <a:t>Wrong people in the wrong roles and insufficient training will lead to:</a:t>
            </a:r>
          </a:p>
          <a:p>
            <a:endParaRPr lang="en-US" sz="1600" dirty="0"/>
          </a:p>
          <a:p>
            <a:pPr marL="285750" indent="-285750">
              <a:buFont typeface="Arial" panose="020B0604020202020204" pitchFamily="34" charset="0"/>
              <a:buChar char="•"/>
            </a:pPr>
            <a:r>
              <a:rPr lang="en-US" sz="3200" dirty="0"/>
              <a:t>Mistakes</a:t>
            </a:r>
          </a:p>
          <a:p>
            <a:pPr marL="285750" indent="-285750">
              <a:buFont typeface="Arial" panose="020B0604020202020204" pitchFamily="34" charset="0"/>
              <a:buChar char="•"/>
            </a:pPr>
            <a:r>
              <a:rPr lang="en-US" sz="3200" dirty="0"/>
              <a:t>Missed deadlines</a:t>
            </a:r>
          </a:p>
          <a:p>
            <a:pPr marL="285750" indent="-285750">
              <a:buFont typeface="Arial" panose="020B0604020202020204" pitchFamily="34" charset="0"/>
              <a:buChar char="•"/>
            </a:pPr>
            <a:r>
              <a:rPr lang="en-US" sz="3200" dirty="0"/>
              <a:t>Lack of commitment</a:t>
            </a:r>
          </a:p>
          <a:p>
            <a:pPr marL="285750" indent="-285750">
              <a:buFont typeface="Arial" panose="020B0604020202020204" pitchFamily="34" charset="0"/>
              <a:buChar char="•"/>
            </a:pPr>
            <a:r>
              <a:rPr lang="en-US" sz="3200" dirty="0"/>
              <a:t>Inefficiency</a:t>
            </a:r>
          </a:p>
          <a:p>
            <a:pPr marL="285750" indent="-285750">
              <a:buFont typeface="Arial" panose="020B0604020202020204" pitchFamily="34" charset="0"/>
              <a:buChar char="•"/>
            </a:pPr>
            <a:r>
              <a:rPr lang="en-US" sz="3200" dirty="0"/>
              <a:t>Frustration &amp; Burnout</a:t>
            </a:r>
          </a:p>
          <a:p>
            <a:pPr marL="285750" indent="-285750">
              <a:buFont typeface="Arial" panose="020B0604020202020204" pitchFamily="34" charset="0"/>
              <a:buChar char="•"/>
            </a:pPr>
            <a:r>
              <a:rPr lang="en-US" sz="3200" dirty="0"/>
              <a:t>Misaligned skillset</a:t>
            </a:r>
          </a:p>
          <a:p>
            <a:pPr marL="285750" indent="-285750">
              <a:buFont typeface="Arial" panose="020B0604020202020204" pitchFamily="34" charset="0"/>
              <a:buChar char="•"/>
            </a:pPr>
            <a:r>
              <a:rPr lang="en-US" sz="3200" dirty="0"/>
              <a:t>Other work being ignored</a:t>
            </a:r>
          </a:p>
        </p:txBody>
      </p:sp>
    </p:spTree>
    <p:extLst>
      <p:ext uri="{BB962C8B-B14F-4D97-AF65-F5344CB8AC3E}">
        <p14:creationId xmlns:p14="http://schemas.microsoft.com/office/powerpoint/2010/main" val="2777362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50</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tx1">
                    <a:lumMod val="50000"/>
                    <a:lumOff val="50000"/>
                  </a:schemeClr>
                </a:solidFill>
                <a:latin typeface="Segoe UI Black" panose="020B0A02040204020203" pitchFamily="34" charset="0"/>
                <a:ea typeface="Segoe UI Black" panose="020B0A02040204020203" pitchFamily="34" charset="0"/>
              </a:rPr>
              <a:t>PEOPLE </a:t>
            </a:r>
            <a:r>
              <a:rPr lang="en-IN" sz="4000" dirty="0">
                <a:solidFill>
                  <a:schemeClr val="tx1">
                    <a:lumMod val="50000"/>
                    <a:lumOff val="50000"/>
                  </a:schemeClr>
                </a:solidFill>
                <a:latin typeface="Segoe UI Light" panose="020B0502040204020203" pitchFamily="34" charset="0"/>
                <a:ea typeface="Segoe UI Black" panose="020B0A02040204020203" pitchFamily="34" charset="0"/>
                <a:cs typeface="Segoe UI Light" panose="020B0502040204020203" pitchFamily="34" charset="0"/>
              </a:rPr>
              <a:t>Benefits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931400" y="1951672"/>
            <a:ext cx="9881463" cy="2954655"/>
          </a:xfrm>
          <a:prstGeom prst="rect">
            <a:avLst/>
          </a:prstGeom>
          <a:noFill/>
        </p:spPr>
        <p:txBody>
          <a:bodyPr wrap="square" lIns="0" tIns="0" rIns="0" bIns="0" rtlCol="0" anchor="t">
            <a:spAutoFit/>
          </a:bodyPr>
          <a:lstStyle/>
          <a:p>
            <a:pPr marL="457200" indent="-457200" fontAlgn="base">
              <a:buFont typeface="Arial" panose="020B0604020202020204" pitchFamily="34" charset="0"/>
              <a:buChar char="•"/>
            </a:pPr>
            <a:r>
              <a:rPr lang="en-US" sz="3200">
                <a:latin typeface="Kollektif" panose="020B0604020101010102"/>
              </a:rPr>
              <a:t>Objectivity</a:t>
            </a:r>
            <a:endParaRPr lang="en-US" sz="3200" dirty="0">
              <a:latin typeface="Kollektif" panose="020B0604020101010102"/>
            </a:endParaRPr>
          </a:p>
          <a:p>
            <a:pPr marL="457200" indent="-457200" fontAlgn="base">
              <a:buFont typeface="Arial" panose="020B0604020202020204" pitchFamily="34" charset="0"/>
              <a:buChar char="•"/>
            </a:pPr>
            <a:r>
              <a:rPr lang="en-US" sz="3200" dirty="0">
                <a:latin typeface="Kollektif" panose="020B0604020101010102"/>
              </a:rPr>
              <a:t>Less burnout means less turnover</a:t>
            </a:r>
          </a:p>
          <a:p>
            <a:pPr marL="457200" indent="-457200" fontAlgn="base">
              <a:buFont typeface="Arial" panose="020B0604020202020204" pitchFamily="34" charset="0"/>
              <a:buChar char="•"/>
            </a:pPr>
            <a:r>
              <a:rPr lang="en-US" sz="3200" dirty="0">
                <a:latin typeface="Kollektif" panose="020B0604020101010102"/>
              </a:rPr>
              <a:t>Higher excitement and motivation leads to better responses</a:t>
            </a:r>
          </a:p>
          <a:p>
            <a:pPr marL="457200" indent="-457200" fontAlgn="base">
              <a:buFont typeface="Arial" panose="020B0604020202020204" pitchFamily="34" charset="0"/>
              <a:buChar char="•"/>
            </a:pPr>
            <a:r>
              <a:rPr lang="en-US" sz="3200" dirty="0">
                <a:latin typeface="Kollektif" panose="020B0604020101010102"/>
              </a:rPr>
              <a:t>More creative solutions &amp; problem solving</a:t>
            </a:r>
          </a:p>
          <a:p>
            <a:pPr marL="457200" indent="-457200" fontAlgn="base">
              <a:buFont typeface="Arial" panose="020B0604020202020204" pitchFamily="34" charset="0"/>
              <a:buChar char="•"/>
            </a:pPr>
            <a:r>
              <a:rPr lang="en-US" sz="3200" dirty="0">
                <a:latin typeface="Kollektif" panose="020B0604020101010102"/>
              </a:rPr>
              <a:t>More buy-in which leads to a better response</a:t>
            </a:r>
          </a:p>
        </p:txBody>
      </p:sp>
    </p:spTree>
    <p:extLst>
      <p:ext uri="{BB962C8B-B14F-4D97-AF65-F5344CB8AC3E}">
        <p14:creationId xmlns:p14="http://schemas.microsoft.com/office/powerpoint/2010/main" val="25794393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3C03D6-2FCC-4A5E-B738-B8FE3EE1CC83}"/>
              </a:ext>
            </a:extLst>
          </p:cNvPr>
          <p:cNvSpPr txBox="1"/>
          <p:nvPr/>
        </p:nvSpPr>
        <p:spPr>
          <a:xfrm>
            <a:off x="663935" y="1081407"/>
            <a:ext cx="9638588" cy="615553"/>
          </a:xfrm>
          <a:prstGeom prst="rect">
            <a:avLst/>
          </a:prstGeom>
          <a:noFill/>
        </p:spPr>
        <p:txBody>
          <a:bodyPr wrap="square" lIns="0" tIns="0" rIns="0" bIns="0" rtlCol="0" anchor="ctr">
            <a:spAutoFit/>
          </a:bodyPr>
          <a:lstStyle/>
          <a:p>
            <a:r>
              <a:rPr lang="en-IN" sz="4000" dirty="0">
                <a:solidFill>
                  <a:schemeClr val="bg1">
                    <a:lumMod val="65000"/>
                  </a:schemeClr>
                </a:solidFill>
                <a:latin typeface="Segoe UI Black" panose="020B0A02040204020203" pitchFamily="34" charset="0"/>
                <a:ea typeface="Segoe UI Black" panose="020B0A02040204020203" pitchFamily="34" charset="0"/>
              </a:rPr>
              <a:t>4 PROCESS</a:t>
            </a:r>
          </a:p>
        </p:txBody>
      </p:sp>
      <p:sp>
        <p:nvSpPr>
          <p:cNvPr id="9" name="TextBox 8">
            <a:extLst>
              <a:ext uri="{FF2B5EF4-FFF2-40B4-BE49-F238E27FC236}">
                <a16:creationId xmlns:a16="http://schemas.microsoft.com/office/drawing/2014/main" id="{56D7C733-78C0-4E9E-8CD4-B682268B6F5F}"/>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10" name="Picture 9" descr="A picture containing text&#10;&#10;Description automatically generated">
            <a:extLst>
              <a:ext uri="{FF2B5EF4-FFF2-40B4-BE49-F238E27FC236}">
                <a16:creationId xmlns:a16="http://schemas.microsoft.com/office/drawing/2014/main" id="{CE7F644F-6F2F-41B4-A58E-BE9432243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2" name="Content Placeholder 2">
            <a:extLst>
              <a:ext uri="{FF2B5EF4-FFF2-40B4-BE49-F238E27FC236}">
                <a16:creationId xmlns:a16="http://schemas.microsoft.com/office/drawing/2014/main" id="{2DEB4F4A-24D8-30CF-41E1-11A33D6ACF95}"/>
              </a:ext>
            </a:extLst>
          </p:cNvPr>
          <p:cNvSpPr txBox="1">
            <a:spLocks/>
          </p:cNvSpPr>
          <p:nvPr/>
        </p:nvSpPr>
        <p:spPr>
          <a:xfrm>
            <a:off x="838200" y="1712424"/>
            <a:ext cx="5728856" cy="43513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latin typeface="Kollektif"/>
            </a:endParaRPr>
          </a:p>
          <a:p>
            <a:pPr algn="l"/>
            <a:r>
              <a:rPr lang="en-US" dirty="0">
                <a:latin typeface="Kollektif"/>
              </a:rPr>
              <a:t>Are you confident that your response process is not hindering getting the best possible proposal out the door on time? </a:t>
            </a:r>
            <a:endParaRPr lang="en-US" sz="2400" dirty="0">
              <a:latin typeface="Kollektif"/>
            </a:endParaRPr>
          </a:p>
        </p:txBody>
      </p:sp>
    </p:spTree>
    <p:extLst>
      <p:ext uri="{BB962C8B-B14F-4D97-AF65-F5344CB8AC3E}">
        <p14:creationId xmlns:p14="http://schemas.microsoft.com/office/powerpoint/2010/main" val="2913038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52</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bg1">
                    <a:lumMod val="65000"/>
                  </a:schemeClr>
                </a:solidFill>
                <a:latin typeface="Segoe UI Black" panose="020B0A02040204020203" pitchFamily="34" charset="0"/>
                <a:ea typeface="Segoe UI Black" panose="020B0A02040204020203" pitchFamily="34" charset="0"/>
              </a:rPr>
              <a:t>PROCESS </a:t>
            </a:r>
            <a:r>
              <a:rPr lang="en-IN" sz="4000" dirty="0">
                <a:solidFill>
                  <a:schemeClr val="bg1">
                    <a:lumMod val="65000"/>
                  </a:schemeClr>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492443"/>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Bid smarter, not harder</a:t>
            </a:r>
          </a:p>
        </p:txBody>
      </p:sp>
    </p:spTree>
    <p:extLst>
      <p:ext uri="{BB962C8B-B14F-4D97-AF65-F5344CB8AC3E}">
        <p14:creationId xmlns:p14="http://schemas.microsoft.com/office/powerpoint/2010/main" val="26634726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53</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bg1">
                    <a:lumMod val="65000"/>
                  </a:schemeClr>
                </a:solidFill>
                <a:latin typeface="Segoe UI Black" panose="020B0A02040204020203" pitchFamily="34" charset="0"/>
                <a:ea typeface="Segoe UI Black" panose="020B0A02040204020203" pitchFamily="34" charset="0"/>
              </a:rPr>
              <a:t>PROCESS </a:t>
            </a:r>
            <a:r>
              <a:rPr lang="en-IN" sz="4000" dirty="0">
                <a:solidFill>
                  <a:schemeClr val="bg1">
                    <a:lumMod val="65000"/>
                  </a:schemeClr>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984885"/>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Bid smarter, not harder</a:t>
            </a:r>
          </a:p>
          <a:p>
            <a:pPr marL="514350" indent="-514350" fontAlgn="base">
              <a:buFont typeface="+mj-lt"/>
              <a:buAutoNum type="arabicPeriod"/>
            </a:pPr>
            <a:r>
              <a:rPr lang="en-US" sz="3200" dirty="0">
                <a:latin typeface="Kollektif" panose="020B0604020101010102"/>
              </a:rPr>
              <a:t>Plan for success</a:t>
            </a:r>
          </a:p>
        </p:txBody>
      </p:sp>
    </p:spTree>
    <p:extLst>
      <p:ext uri="{BB962C8B-B14F-4D97-AF65-F5344CB8AC3E}">
        <p14:creationId xmlns:p14="http://schemas.microsoft.com/office/powerpoint/2010/main" val="3201404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54</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bg1">
                    <a:lumMod val="65000"/>
                  </a:schemeClr>
                </a:solidFill>
                <a:latin typeface="Segoe UI Black" panose="020B0A02040204020203" pitchFamily="34" charset="0"/>
                <a:ea typeface="Segoe UI Black" panose="020B0A02040204020203" pitchFamily="34" charset="0"/>
              </a:rPr>
              <a:t>PROCESS </a:t>
            </a:r>
            <a:r>
              <a:rPr lang="en-IN" sz="4000" dirty="0">
                <a:solidFill>
                  <a:schemeClr val="bg1">
                    <a:lumMod val="65000"/>
                  </a:schemeClr>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1477328"/>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Bid smarter, not harder</a:t>
            </a:r>
          </a:p>
          <a:p>
            <a:pPr marL="514350" indent="-514350" fontAlgn="base">
              <a:buFont typeface="+mj-lt"/>
              <a:buAutoNum type="arabicPeriod"/>
            </a:pPr>
            <a:r>
              <a:rPr lang="en-US" sz="3200" dirty="0">
                <a:latin typeface="Kollektif" panose="020B0604020101010102"/>
              </a:rPr>
              <a:t>Plan for success</a:t>
            </a:r>
          </a:p>
          <a:p>
            <a:pPr marL="514350" indent="-514350" fontAlgn="base">
              <a:buFont typeface="+mj-lt"/>
              <a:buAutoNum type="arabicPeriod"/>
            </a:pPr>
            <a:r>
              <a:rPr lang="en-US" sz="3200" dirty="0">
                <a:latin typeface="Kollektif" panose="020B0604020101010102"/>
              </a:rPr>
              <a:t>Be a well-oiled machine</a:t>
            </a:r>
          </a:p>
        </p:txBody>
      </p:sp>
    </p:spTree>
    <p:extLst>
      <p:ext uri="{BB962C8B-B14F-4D97-AF65-F5344CB8AC3E}">
        <p14:creationId xmlns:p14="http://schemas.microsoft.com/office/powerpoint/2010/main" val="38897417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55</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bg1">
                    <a:lumMod val="65000"/>
                  </a:schemeClr>
                </a:solidFill>
                <a:latin typeface="Segoe UI Black" panose="020B0A02040204020203" pitchFamily="34" charset="0"/>
                <a:ea typeface="Segoe UI Black" panose="020B0A02040204020203" pitchFamily="34" charset="0"/>
              </a:rPr>
              <a:t>PROCESS </a:t>
            </a:r>
            <a:r>
              <a:rPr lang="en-IN" sz="4000" dirty="0">
                <a:solidFill>
                  <a:schemeClr val="bg1">
                    <a:lumMod val="65000"/>
                  </a:schemeClr>
                </a:solidFill>
                <a:latin typeface="Segoe UI Light" panose="020B0502040204020203" pitchFamily="34" charset="0"/>
                <a:ea typeface="Segoe UI Black" panose="020B0A02040204020203" pitchFamily="34" charset="0"/>
                <a:cs typeface="Segoe UI Light" panose="020B0502040204020203" pitchFamily="34" charset="0"/>
              </a:rPr>
              <a:t>Best Practices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1969770"/>
          </a:xfrm>
          <a:prstGeom prst="rect">
            <a:avLst/>
          </a:prstGeom>
          <a:noFill/>
        </p:spPr>
        <p:txBody>
          <a:bodyPr wrap="square" lIns="0" tIns="0" rIns="0" bIns="0" rtlCol="0" anchor="t">
            <a:spAutoFit/>
          </a:bodyPr>
          <a:lstStyle/>
          <a:p>
            <a:pPr marL="514350" indent="-514350" fontAlgn="base">
              <a:buFont typeface="+mj-lt"/>
              <a:buAutoNum type="arabicPeriod"/>
            </a:pPr>
            <a:r>
              <a:rPr lang="en-US" sz="3200" dirty="0">
                <a:latin typeface="Kollektif" panose="020B0604020101010102"/>
              </a:rPr>
              <a:t>Bid smarter, not harder</a:t>
            </a:r>
          </a:p>
          <a:p>
            <a:pPr marL="514350" indent="-514350" fontAlgn="base">
              <a:buFont typeface="+mj-lt"/>
              <a:buAutoNum type="arabicPeriod"/>
            </a:pPr>
            <a:r>
              <a:rPr lang="en-US" sz="3200" dirty="0">
                <a:latin typeface="Kollektif" panose="020B0604020101010102"/>
              </a:rPr>
              <a:t>Plan for success</a:t>
            </a:r>
          </a:p>
          <a:p>
            <a:pPr marL="514350" indent="-514350" fontAlgn="base">
              <a:buFont typeface="+mj-lt"/>
              <a:buAutoNum type="arabicPeriod"/>
            </a:pPr>
            <a:r>
              <a:rPr lang="en-US" sz="3200" dirty="0">
                <a:latin typeface="Kollektif" panose="020B0604020101010102"/>
              </a:rPr>
              <a:t>Be a well-oiled machine</a:t>
            </a:r>
          </a:p>
          <a:p>
            <a:pPr marL="514350" indent="-514350" fontAlgn="base">
              <a:buFont typeface="+mj-lt"/>
              <a:buAutoNum type="arabicPeriod"/>
            </a:pPr>
            <a:r>
              <a:rPr lang="en-US" sz="3200" dirty="0">
                <a:latin typeface="Kollektif" panose="020B0604020101010102"/>
              </a:rPr>
              <a:t>Don’t stop when it feels like it’s time to stop</a:t>
            </a:r>
          </a:p>
        </p:txBody>
      </p:sp>
    </p:spTree>
    <p:extLst>
      <p:ext uri="{BB962C8B-B14F-4D97-AF65-F5344CB8AC3E}">
        <p14:creationId xmlns:p14="http://schemas.microsoft.com/office/powerpoint/2010/main" val="36159674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56</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bg1">
                    <a:lumMod val="65000"/>
                  </a:schemeClr>
                </a:solidFill>
                <a:latin typeface="Segoe UI Black" panose="020B0A02040204020203" pitchFamily="34" charset="0"/>
                <a:ea typeface="Segoe UI Black" panose="020B0A02040204020203" pitchFamily="34" charset="0"/>
              </a:rPr>
              <a:t>PROCESS </a:t>
            </a:r>
            <a:r>
              <a:rPr lang="en-IN" sz="4000" dirty="0">
                <a:solidFill>
                  <a:schemeClr val="bg1">
                    <a:lumMod val="65000"/>
                  </a:schemeClr>
                </a:solidFill>
                <a:latin typeface="Segoe UI Light" panose="020B0502040204020203" pitchFamily="34" charset="0"/>
                <a:ea typeface="Segoe UI Black" panose="020B0A02040204020203" pitchFamily="34" charset="0"/>
                <a:cs typeface="Segoe UI Light" panose="020B0502040204020203" pitchFamily="34" charset="0"/>
              </a:rPr>
              <a:t>Deficiency</a:t>
            </a:r>
          </a:p>
        </p:txBody>
      </p:sp>
      <p:sp>
        <p:nvSpPr>
          <p:cNvPr id="12" name="TextBox 11">
            <a:extLst>
              <a:ext uri="{FF2B5EF4-FFF2-40B4-BE49-F238E27FC236}">
                <a16:creationId xmlns:a16="http://schemas.microsoft.com/office/drawing/2014/main" id="{A83449F1-5F96-4BAC-8D1C-05CEB8A51F1B}"/>
              </a:ext>
            </a:extLst>
          </p:cNvPr>
          <p:cNvSpPr txBox="1"/>
          <p:nvPr/>
        </p:nvSpPr>
        <p:spPr>
          <a:xfrm>
            <a:off x="847161" y="1705451"/>
            <a:ext cx="9881463" cy="4431983"/>
          </a:xfrm>
          <a:prstGeom prst="rect">
            <a:avLst/>
          </a:prstGeom>
          <a:noFill/>
        </p:spPr>
        <p:txBody>
          <a:bodyPr wrap="square" lIns="0" tIns="0" rIns="0" bIns="0" rtlCol="0" anchor="t">
            <a:spAutoFit/>
          </a:bodyPr>
          <a:lstStyle/>
          <a:p>
            <a:r>
              <a:rPr lang="en-US" sz="3200" dirty="0"/>
              <a:t>Inefficient (or absent) process will lead to:</a:t>
            </a:r>
          </a:p>
          <a:p>
            <a:endParaRPr lang="en-US" sz="3200" dirty="0"/>
          </a:p>
          <a:p>
            <a:pPr marL="285750" indent="-285750">
              <a:buFont typeface="Arial" panose="020B0604020202020204" pitchFamily="34" charset="0"/>
              <a:buChar char="•"/>
            </a:pPr>
            <a:r>
              <a:rPr lang="en-US" sz="3200" dirty="0"/>
              <a:t>Bidding on the wrong things</a:t>
            </a:r>
          </a:p>
          <a:p>
            <a:pPr marL="285750" indent="-285750">
              <a:buFont typeface="Arial" panose="020B0604020202020204" pitchFamily="34" charset="0"/>
              <a:buChar char="•"/>
            </a:pPr>
            <a:r>
              <a:rPr lang="en-US" sz="3200" dirty="0"/>
              <a:t>Missed deadlines</a:t>
            </a:r>
          </a:p>
          <a:p>
            <a:pPr marL="285750" indent="-285750">
              <a:buFont typeface="Arial" panose="020B0604020202020204" pitchFamily="34" charset="0"/>
              <a:buChar char="•"/>
            </a:pPr>
            <a:r>
              <a:rPr lang="en-US" sz="3200" dirty="0"/>
              <a:t>Inadequate time for positioning, incorporating key information, and reviews</a:t>
            </a:r>
          </a:p>
          <a:p>
            <a:pPr marL="285750" indent="-285750">
              <a:buFont typeface="Arial" panose="020B0604020202020204" pitchFamily="34" charset="0"/>
              <a:buChar char="•"/>
            </a:pPr>
            <a:r>
              <a:rPr lang="en-US" sz="3200" dirty="0"/>
              <a:t>Inability to create the best positioning</a:t>
            </a:r>
          </a:p>
          <a:p>
            <a:pPr marL="285750" indent="-285750">
              <a:buFont typeface="Arial" panose="020B0604020202020204" pitchFamily="34" charset="0"/>
              <a:buChar char="•"/>
            </a:pPr>
            <a:r>
              <a:rPr lang="en-US" sz="3200" dirty="0"/>
              <a:t>Disrespect for others on the team</a:t>
            </a:r>
          </a:p>
          <a:p>
            <a:pPr marL="285750" indent="-285750">
              <a:buFont typeface="Arial" panose="020B0604020202020204" pitchFamily="34" charset="0"/>
              <a:buChar char="•"/>
            </a:pPr>
            <a:r>
              <a:rPr lang="en-US" sz="3200" dirty="0"/>
              <a:t>Complete chaos when problems arise </a:t>
            </a:r>
          </a:p>
        </p:txBody>
      </p:sp>
    </p:spTree>
    <p:extLst>
      <p:ext uri="{BB962C8B-B14F-4D97-AF65-F5344CB8AC3E}">
        <p14:creationId xmlns:p14="http://schemas.microsoft.com/office/powerpoint/2010/main" val="7961353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45D68A11-C9EB-43AE-A2AF-ABD7D4C85F12}"/>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sp>
        <p:nvSpPr>
          <p:cNvPr id="11" name="Slide Number Placeholder 10">
            <a:extLst>
              <a:ext uri="{FF2B5EF4-FFF2-40B4-BE49-F238E27FC236}">
                <a16:creationId xmlns:a16="http://schemas.microsoft.com/office/drawing/2014/main" id="{0931C8EE-B869-466C-9D3F-E9E54598FAB7}"/>
              </a:ext>
            </a:extLst>
          </p:cNvPr>
          <p:cNvSpPr>
            <a:spLocks noGrp="1"/>
          </p:cNvSpPr>
          <p:nvPr>
            <p:ph type="sldNum" sz="quarter" idx="12"/>
          </p:nvPr>
        </p:nvSpPr>
        <p:spPr>
          <a:xfrm>
            <a:off x="10437148" y="5714668"/>
            <a:ext cx="2030978" cy="945741"/>
          </a:xfrm>
        </p:spPr>
        <p:txBody>
          <a:bodyPr/>
          <a:lstStyle/>
          <a:p>
            <a:pPr algn="ctr"/>
            <a:fld id="{96E69268-9C8B-4EBF-A9EE-DC5DC2D48DC3}" type="slidenum">
              <a:rPr lang="en-US" sz="1800" b="0"/>
              <a:pPr algn="ctr"/>
              <a:t>57</a:t>
            </a:fld>
            <a:endParaRPr lang="en-US" sz="1800" b="0" dirty="0"/>
          </a:p>
        </p:txBody>
      </p:sp>
      <p:pic>
        <p:nvPicPr>
          <p:cNvPr id="14" name="Picture 13" descr="A picture containing text&#10;&#10;Description automatically generated">
            <a:extLst>
              <a:ext uri="{FF2B5EF4-FFF2-40B4-BE49-F238E27FC236}">
                <a16:creationId xmlns:a16="http://schemas.microsoft.com/office/drawing/2014/main" id="{86923D99-56C1-4B29-92AE-EC991B74AC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557C4DCB-74FA-4955-B91F-6F3F827EEA40}"/>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chemeClr val="bg1">
                    <a:lumMod val="65000"/>
                  </a:schemeClr>
                </a:solidFill>
                <a:latin typeface="Segoe UI Black" panose="020B0A02040204020203" pitchFamily="34" charset="0"/>
                <a:ea typeface="Segoe UI Black" panose="020B0A02040204020203" pitchFamily="34" charset="0"/>
              </a:rPr>
              <a:t>PROCESS </a:t>
            </a:r>
            <a:r>
              <a:rPr lang="en-IN" sz="4000" dirty="0">
                <a:solidFill>
                  <a:schemeClr val="bg1">
                    <a:lumMod val="65000"/>
                  </a:schemeClr>
                </a:solidFill>
                <a:latin typeface="Segoe UI Light" panose="020B0502040204020203" pitchFamily="34" charset="0"/>
                <a:ea typeface="Segoe UI Black" panose="020B0A02040204020203" pitchFamily="34" charset="0"/>
                <a:cs typeface="Segoe UI Light" panose="020B0502040204020203" pitchFamily="34" charset="0"/>
              </a:rPr>
              <a:t>Benefits</a:t>
            </a:r>
          </a:p>
        </p:txBody>
      </p:sp>
      <p:sp>
        <p:nvSpPr>
          <p:cNvPr id="12" name="TextBox 11">
            <a:extLst>
              <a:ext uri="{FF2B5EF4-FFF2-40B4-BE49-F238E27FC236}">
                <a16:creationId xmlns:a16="http://schemas.microsoft.com/office/drawing/2014/main" id="{A83449F1-5F96-4BAC-8D1C-05CEB8A51F1B}"/>
              </a:ext>
            </a:extLst>
          </p:cNvPr>
          <p:cNvSpPr txBox="1"/>
          <p:nvPr/>
        </p:nvSpPr>
        <p:spPr>
          <a:xfrm>
            <a:off x="1748408" y="2078332"/>
            <a:ext cx="9881463" cy="2954655"/>
          </a:xfrm>
          <a:prstGeom prst="rect">
            <a:avLst/>
          </a:prstGeom>
          <a:noFill/>
        </p:spPr>
        <p:txBody>
          <a:bodyPr wrap="square" lIns="0" tIns="0" rIns="0" bIns="0" rtlCol="0" anchor="t">
            <a:spAutoFit/>
          </a:bodyPr>
          <a:lstStyle/>
          <a:p>
            <a:pPr marL="457200" indent="-457200" fontAlgn="base">
              <a:buFont typeface="Arial" panose="020B0604020202020204" pitchFamily="34" charset="0"/>
              <a:buChar char="•"/>
            </a:pPr>
            <a:r>
              <a:rPr lang="en-US" sz="3200" dirty="0">
                <a:latin typeface="Kollektif" panose="020B0604020101010102"/>
              </a:rPr>
              <a:t>Less wasted time which will lead to a better response which leads to a higher win %</a:t>
            </a:r>
          </a:p>
          <a:p>
            <a:pPr marL="457200" indent="-457200" fontAlgn="base">
              <a:buFont typeface="Arial" panose="020B0604020202020204" pitchFamily="34" charset="0"/>
              <a:buChar char="•"/>
            </a:pPr>
            <a:r>
              <a:rPr lang="en-US" sz="3200" dirty="0">
                <a:latin typeface="Kollektif" panose="020B0604020101010102"/>
              </a:rPr>
              <a:t>When things get messy, less time to get back on track and less disasters</a:t>
            </a:r>
          </a:p>
          <a:p>
            <a:pPr marL="457200" indent="-457200" fontAlgn="base">
              <a:buFont typeface="Arial" panose="020B0604020202020204" pitchFamily="34" charset="0"/>
              <a:buChar char="•"/>
            </a:pPr>
            <a:r>
              <a:rPr lang="en-US" sz="3200" dirty="0">
                <a:latin typeface="Kollektif" panose="020B0604020101010102"/>
              </a:rPr>
              <a:t>Lessons learned for better future proposals</a:t>
            </a:r>
          </a:p>
          <a:p>
            <a:pPr marL="457200" indent="-457200" fontAlgn="base">
              <a:buFont typeface="Arial" panose="020B0604020202020204" pitchFamily="34" charset="0"/>
              <a:buChar char="•"/>
            </a:pPr>
            <a:r>
              <a:rPr lang="en-US" sz="3200" dirty="0">
                <a:latin typeface="Kollektif" panose="020B0604020101010102"/>
              </a:rPr>
              <a:t>Better ability to handle roadblocks and challenges</a:t>
            </a:r>
          </a:p>
        </p:txBody>
      </p:sp>
    </p:spTree>
    <p:extLst>
      <p:ext uri="{BB962C8B-B14F-4D97-AF65-F5344CB8AC3E}">
        <p14:creationId xmlns:p14="http://schemas.microsoft.com/office/powerpoint/2010/main" val="35333684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977D08-C432-4FDC-B389-6F54971C0C47}"/>
              </a:ext>
            </a:extLst>
          </p:cNvPr>
          <p:cNvSpPr txBox="1"/>
          <p:nvPr/>
        </p:nvSpPr>
        <p:spPr>
          <a:xfrm>
            <a:off x="847161" y="693313"/>
            <a:ext cx="9638588" cy="615553"/>
          </a:xfrm>
          <a:prstGeom prst="rect">
            <a:avLst/>
          </a:prstGeom>
          <a:noFill/>
        </p:spPr>
        <p:txBody>
          <a:bodyPr wrap="square" lIns="0" tIns="0" rIns="0" bIns="0" rtlCol="0" anchor="ctr">
            <a:spAutoFit/>
          </a:bodyPr>
          <a:lstStyle/>
          <a:p>
            <a:r>
              <a:rPr lang="en-IN" sz="4000" dirty="0">
                <a:solidFill>
                  <a:srgbClr val="FF440B"/>
                </a:solidFill>
                <a:latin typeface="Segoe UI Black" panose="020B0A02040204020203" pitchFamily="34" charset="0"/>
                <a:ea typeface="Segoe UI Black" panose="020B0A02040204020203" pitchFamily="34" charset="0"/>
              </a:rPr>
              <a:t>CONCLUSION </a:t>
            </a:r>
            <a:r>
              <a:rPr lang="en-IN"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4X4 Framework</a:t>
            </a:r>
          </a:p>
        </p:txBody>
      </p:sp>
      <p:sp>
        <p:nvSpPr>
          <p:cNvPr id="7" name="TextBox 6">
            <a:extLst>
              <a:ext uri="{FF2B5EF4-FFF2-40B4-BE49-F238E27FC236}">
                <a16:creationId xmlns:a16="http://schemas.microsoft.com/office/drawing/2014/main" id="{F8DC3254-B787-4401-850B-90DFE9DC2A91}"/>
              </a:ext>
            </a:extLst>
          </p:cNvPr>
          <p:cNvSpPr txBox="1"/>
          <p:nvPr/>
        </p:nvSpPr>
        <p:spPr>
          <a:xfrm>
            <a:off x="1589" y="6383410"/>
            <a:ext cx="12188825" cy="276999"/>
          </a:xfrm>
          <a:prstGeom prst="rect">
            <a:avLst/>
          </a:prstGeom>
          <a:solidFill>
            <a:schemeClr val="tx1">
              <a:lumMod val="25000"/>
              <a:lumOff val="75000"/>
            </a:schemeClr>
          </a:solidFill>
        </p:spPr>
        <p:txBody>
          <a:bodyPr wrap="square" rtlCol="0">
            <a:spAutoFit/>
          </a:bodyPr>
          <a:lstStyle/>
          <a:p>
            <a:r>
              <a:rPr lang="en-US" sz="1200" dirty="0">
                <a:solidFill>
                  <a:schemeClr val="bg1"/>
                </a:solidFill>
              </a:rPr>
              <a:t>     www.TheRFPSuccessCompany.com</a:t>
            </a:r>
          </a:p>
        </p:txBody>
      </p:sp>
      <p:pic>
        <p:nvPicPr>
          <p:cNvPr id="8" name="Picture 7" descr="A picture containing text&#10;&#10;Description automatically generated">
            <a:extLst>
              <a:ext uri="{FF2B5EF4-FFF2-40B4-BE49-F238E27FC236}">
                <a16:creationId xmlns:a16="http://schemas.microsoft.com/office/drawing/2014/main" id="{09700DC9-7771-403B-8EB5-0CBCDC873B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59327" y="5436981"/>
            <a:ext cx="941086" cy="945741"/>
          </a:xfrm>
          <a:prstGeom prst="rect">
            <a:avLst/>
          </a:prstGeom>
        </p:spPr>
      </p:pic>
      <p:sp>
        <p:nvSpPr>
          <p:cNvPr id="9" name="TextBox 8">
            <a:extLst>
              <a:ext uri="{FF2B5EF4-FFF2-40B4-BE49-F238E27FC236}">
                <a16:creationId xmlns:a16="http://schemas.microsoft.com/office/drawing/2014/main" id="{3609EC3E-6AC7-4587-8E4C-2555250D7DA8}"/>
              </a:ext>
            </a:extLst>
          </p:cNvPr>
          <p:cNvSpPr txBox="1"/>
          <p:nvPr/>
        </p:nvSpPr>
        <p:spPr>
          <a:xfrm>
            <a:off x="746464" y="1932317"/>
            <a:ext cx="5658223" cy="2339026"/>
          </a:xfrm>
          <a:prstGeom prst="rect">
            <a:avLst/>
          </a:prstGeom>
        </p:spPr>
        <p:txBody>
          <a:bodyPr vert="horz" lIns="91440" tIns="45720" rIns="91440" bIns="45720" rtlCol="0" anchor="b">
            <a:normAutofit/>
          </a:bodyPr>
          <a:lstStyle/>
          <a:p>
            <a:pPr marL="457200" indent="-457200">
              <a:lnSpc>
                <a:spcPct val="90000"/>
              </a:lnSpc>
              <a:spcBef>
                <a:spcPct val="0"/>
              </a:spcBef>
              <a:spcAft>
                <a:spcPts val="600"/>
              </a:spcAft>
              <a:buFont typeface="Arial" panose="020B0604020202020204" pitchFamily="34" charset="0"/>
              <a:buChar char="•"/>
            </a:pPr>
            <a:r>
              <a:rPr lang="en-US" sz="3400" kern="1200" dirty="0">
                <a:solidFill>
                  <a:schemeClr val="tx1"/>
                </a:solidFill>
                <a:latin typeface="Kollektif"/>
                <a:ea typeface="+mj-ea"/>
                <a:cs typeface="+mj-cs"/>
              </a:rPr>
              <a:t>Content</a:t>
            </a:r>
          </a:p>
          <a:p>
            <a:pPr marL="457200" indent="-457200">
              <a:lnSpc>
                <a:spcPct val="90000"/>
              </a:lnSpc>
              <a:spcBef>
                <a:spcPct val="0"/>
              </a:spcBef>
              <a:spcAft>
                <a:spcPts val="600"/>
              </a:spcAft>
              <a:buFont typeface="Arial" panose="020B0604020202020204" pitchFamily="34" charset="0"/>
              <a:buChar char="•"/>
            </a:pPr>
            <a:r>
              <a:rPr lang="en-US" sz="3400" kern="1200" dirty="0">
                <a:solidFill>
                  <a:schemeClr val="tx1"/>
                </a:solidFill>
                <a:latin typeface="Kollektif"/>
                <a:ea typeface="+mj-ea"/>
                <a:cs typeface="+mj-cs"/>
              </a:rPr>
              <a:t>Strategy</a:t>
            </a:r>
          </a:p>
          <a:p>
            <a:pPr marL="457200" indent="-457200">
              <a:lnSpc>
                <a:spcPct val="90000"/>
              </a:lnSpc>
              <a:spcBef>
                <a:spcPct val="0"/>
              </a:spcBef>
              <a:spcAft>
                <a:spcPts val="600"/>
              </a:spcAft>
              <a:buFont typeface="Arial" panose="020B0604020202020204" pitchFamily="34" charset="0"/>
              <a:buChar char="•"/>
            </a:pPr>
            <a:r>
              <a:rPr lang="en-US" sz="3400" dirty="0">
                <a:latin typeface="Kollektif"/>
                <a:ea typeface="+mj-ea"/>
                <a:cs typeface="+mj-cs"/>
              </a:rPr>
              <a:t>Process</a:t>
            </a:r>
          </a:p>
          <a:p>
            <a:pPr marL="457200" indent="-457200">
              <a:lnSpc>
                <a:spcPct val="90000"/>
              </a:lnSpc>
              <a:spcBef>
                <a:spcPct val="0"/>
              </a:spcBef>
              <a:spcAft>
                <a:spcPts val="600"/>
              </a:spcAft>
              <a:buFont typeface="Arial" panose="020B0604020202020204" pitchFamily="34" charset="0"/>
              <a:buChar char="•"/>
            </a:pPr>
            <a:r>
              <a:rPr lang="en-US" sz="3400" kern="1200" dirty="0">
                <a:solidFill>
                  <a:schemeClr val="tx1"/>
                </a:solidFill>
                <a:latin typeface="Kollektif"/>
                <a:ea typeface="+mj-ea"/>
                <a:cs typeface="+mj-cs"/>
              </a:rPr>
              <a:t>People</a:t>
            </a:r>
          </a:p>
        </p:txBody>
      </p:sp>
      <p:pic>
        <p:nvPicPr>
          <p:cNvPr id="10" name="Picture 9">
            <a:extLst>
              <a:ext uri="{FF2B5EF4-FFF2-40B4-BE49-F238E27FC236}">
                <a16:creationId xmlns:a16="http://schemas.microsoft.com/office/drawing/2014/main" id="{E2E3C462-E9EA-4F62-B878-F6F41848CC7D}"/>
              </a:ext>
            </a:extLst>
          </p:cNvPr>
          <p:cNvPicPr>
            <a:picLocks noChangeAspect="1"/>
          </p:cNvPicPr>
          <p:nvPr/>
        </p:nvPicPr>
        <p:blipFill>
          <a:blip r:embed="rId4"/>
          <a:stretch>
            <a:fillRect/>
          </a:stretch>
        </p:blipFill>
        <p:spPr>
          <a:xfrm>
            <a:off x="6715742" y="1405327"/>
            <a:ext cx="4132530" cy="4132530"/>
          </a:xfrm>
          <a:prstGeom prst="rect">
            <a:avLst/>
          </a:prstGeom>
        </p:spPr>
      </p:pic>
    </p:spTree>
    <p:extLst>
      <p:ext uri="{BB962C8B-B14F-4D97-AF65-F5344CB8AC3E}">
        <p14:creationId xmlns:p14="http://schemas.microsoft.com/office/powerpoint/2010/main" val="41967059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F5132B-7EFE-5F49-B8EC-75BAB040FB5F}"/>
              </a:ext>
            </a:extLst>
          </p:cNvPr>
          <p:cNvPicPr>
            <a:picLocks noChangeAspect="1"/>
          </p:cNvPicPr>
          <p:nvPr/>
        </p:nvPicPr>
        <p:blipFill rotWithShape="1">
          <a:blip r:embed="rId3"/>
          <a:srcRect l="-2707" r="20885"/>
          <a:stretch/>
        </p:blipFill>
        <p:spPr>
          <a:xfrm>
            <a:off x="3766617" y="0"/>
            <a:ext cx="8425383" cy="6858000"/>
          </a:xfrm>
          <a:prstGeom prst="rect">
            <a:avLst/>
          </a:prstGeom>
        </p:spPr>
      </p:pic>
      <p:sp>
        <p:nvSpPr>
          <p:cNvPr id="11" name="Rectangle 4">
            <a:extLst>
              <a:ext uri="{FF2B5EF4-FFF2-40B4-BE49-F238E27FC236}">
                <a16:creationId xmlns:a16="http://schemas.microsoft.com/office/drawing/2014/main" id="{8B7D9489-ED8A-B04D-B7F3-8540E0986F40}"/>
              </a:ext>
            </a:extLst>
          </p:cNvPr>
          <p:cNvSpPr/>
          <p:nvPr/>
        </p:nvSpPr>
        <p:spPr>
          <a:xfrm>
            <a:off x="0" y="0"/>
            <a:ext cx="7869677"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875" h="6858000">
                <a:moveTo>
                  <a:pt x="0" y="0"/>
                </a:moveTo>
                <a:lnTo>
                  <a:pt x="8143875" y="0"/>
                </a:lnTo>
                <a:lnTo>
                  <a:pt x="6096001"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A55DD44-2226-1043-9B2F-F4B42ED4A77A}"/>
              </a:ext>
            </a:extLst>
          </p:cNvPr>
          <p:cNvSpPr txBox="1"/>
          <p:nvPr/>
        </p:nvSpPr>
        <p:spPr>
          <a:xfrm>
            <a:off x="857485" y="1788266"/>
            <a:ext cx="5295034" cy="523220"/>
          </a:xfrm>
          <a:prstGeom prst="rect">
            <a:avLst/>
          </a:prstGeom>
          <a:noFill/>
        </p:spPr>
        <p:txBody>
          <a:bodyPr wrap="square" rtlCol="0">
            <a:spAutoFit/>
          </a:bodyPr>
          <a:lstStyle/>
          <a:p>
            <a:pPr marL="457200" indent="-457200">
              <a:buFont typeface="+mj-lt"/>
              <a:buAutoNum type="arabicPeriod"/>
            </a:pPr>
            <a:r>
              <a:rPr lang="en-US" sz="2800" dirty="0">
                <a:latin typeface="Kollektif" panose="020B0604020101010102"/>
              </a:rPr>
              <a:t>Keep doing what you’re doing</a:t>
            </a:r>
          </a:p>
        </p:txBody>
      </p:sp>
      <p:sp>
        <p:nvSpPr>
          <p:cNvPr id="9" name="Content Placeholder 2">
            <a:extLst>
              <a:ext uri="{FF2B5EF4-FFF2-40B4-BE49-F238E27FC236}">
                <a16:creationId xmlns:a16="http://schemas.microsoft.com/office/drawing/2014/main" id="{9184CE00-B6C2-499B-88E3-4F0684F94138}"/>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10" name="TextBox 9">
            <a:extLst>
              <a:ext uri="{FF2B5EF4-FFF2-40B4-BE49-F238E27FC236}">
                <a16:creationId xmlns:a16="http://schemas.microsoft.com/office/drawing/2014/main" id="{A81489A3-51AC-4CAD-AD2D-222232E36126}"/>
              </a:ext>
            </a:extLst>
          </p:cNvPr>
          <p:cNvSpPr txBox="1"/>
          <p:nvPr/>
        </p:nvSpPr>
        <p:spPr>
          <a:xfrm>
            <a:off x="371955" y="877911"/>
            <a:ext cx="5378988"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You have a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Choice</a:t>
            </a:r>
          </a:p>
        </p:txBody>
      </p:sp>
    </p:spTree>
    <p:extLst>
      <p:ext uri="{BB962C8B-B14F-4D97-AF65-F5344CB8AC3E}">
        <p14:creationId xmlns:p14="http://schemas.microsoft.com/office/powerpoint/2010/main" val="2266384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F5132B-7EFE-5F49-B8EC-75BAB040FB5F}"/>
              </a:ext>
            </a:extLst>
          </p:cNvPr>
          <p:cNvPicPr>
            <a:picLocks noChangeAspect="1"/>
          </p:cNvPicPr>
          <p:nvPr/>
        </p:nvPicPr>
        <p:blipFill rotWithShape="1">
          <a:blip r:embed="rId3"/>
          <a:srcRect l="-2707" r="20885"/>
          <a:stretch/>
        </p:blipFill>
        <p:spPr>
          <a:xfrm>
            <a:off x="3766617" y="0"/>
            <a:ext cx="8425383" cy="6858000"/>
          </a:xfrm>
          <a:prstGeom prst="rect">
            <a:avLst/>
          </a:prstGeom>
        </p:spPr>
      </p:pic>
      <p:sp>
        <p:nvSpPr>
          <p:cNvPr id="11" name="Rectangle 4">
            <a:extLst>
              <a:ext uri="{FF2B5EF4-FFF2-40B4-BE49-F238E27FC236}">
                <a16:creationId xmlns:a16="http://schemas.microsoft.com/office/drawing/2014/main" id="{8B7D9489-ED8A-B04D-B7F3-8540E0986F40}"/>
              </a:ext>
            </a:extLst>
          </p:cNvPr>
          <p:cNvSpPr/>
          <p:nvPr/>
        </p:nvSpPr>
        <p:spPr>
          <a:xfrm>
            <a:off x="0" y="0"/>
            <a:ext cx="7869677"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875" h="6858000">
                <a:moveTo>
                  <a:pt x="0" y="0"/>
                </a:moveTo>
                <a:lnTo>
                  <a:pt x="8143875" y="0"/>
                </a:lnTo>
                <a:lnTo>
                  <a:pt x="6096001"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A55DD44-2226-1043-9B2F-F4B42ED4A77A}"/>
              </a:ext>
            </a:extLst>
          </p:cNvPr>
          <p:cNvSpPr txBox="1"/>
          <p:nvPr/>
        </p:nvSpPr>
        <p:spPr>
          <a:xfrm>
            <a:off x="857485" y="1788266"/>
            <a:ext cx="5295034" cy="1815882"/>
          </a:xfrm>
          <a:prstGeom prst="rect">
            <a:avLst/>
          </a:prstGeom>
          <a:noFill/>
        </p:spPr>
        <p:txBody>
          <a:bodyPr wrap="square" rtlCol="0">
            <a:spAutoFit/>
          </a:bodyPr>
          <a:lstStyle/>
          <a:p>
            <a:pPr marL="457200" indent="-457200">
              <a:buFont typeface="+mj-lt"/>
              <a:buAutoNum type="arabicPeriod"/>
            </a:pPr>
            <a:r>
              <a:rPr lang="en-US" sz="2800" dirty="0">
                <a:solidFill>
                  <a:srgbClr val="E0E0E0"/>
                </a:solidFill>
                <a:latin typeface="Kollektif" panose="020B0604020101010102"/>
              </a:rPr>
              <a:t>Keep doing what you’re doing</a:t>
            </a:r>
          </a:p>
          <a:p>
            <a:pPr marL="457200" indent="-457200">
              <a:buFont typeface="+mj-lt"/>
              <a:buAutoNum type="arabicPeriod"/>
            </a:pPr>
            <a:endParaRPr lang="en-US" sz="2800" dirty="0">
              <a:solidFill>
                <a:srgbClr val="E0E0E0"/>
              </a:solidFill>
              <a:latin typeface="Kollektif" panose="020B0604020101010102"/>
            </a:endParaRPr>
          </a:p>
          <a:p>
            <a:pPr marL="457200" indent="-457200">
              <a:buFont typeface="+mj-lt"/>
              <a:buAutoNum type="arabicPeriod"/>
            </a:pPr>
            <a:r>
              <a:rPr lang="en-US" sz="2800" dirty="0">
                <a:latin typeface="Kollektif" panose="020B0604020101010102"/>
              </a:rPr>
              <a:t>Take what I’ve given you and Do It Yourself</a:t>
            </a:r>
          </a:p>
        </p:txBody>
      </p:sp>
      <p:sp>
        <p:nvSpPr>
          <p:cNvPr id="9" name="Content Placeholder 2">
            <a:extLst>
              <a:ext uri="{FF2B5EF4-FFF2-40B4-BE49-F238E27FC236}">
                <a16:creationId xmlns:a16="http://schemas.microsoft.com/office/drawing/2014/main" id="{9184CE00-B6C2-499B-88E3-4F0684F94138}"/>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10" name="TextBox 9">
            <a:extLst>
              <a:ext uri="{FF2B5EF4-FFF2-40B4-BE49-F238E27FC236}">
                <a16:creationId xmlns:a16="http://schemas.microsoft.com/office/drawing/2014/main" id="{A81489A3-51AC-4CAD-AD2D-222232E36126}"/>
              </a:ext>
            </a:extLst>
          </p:cNvPr>
          <p:cNvSpPr txBox="1"/>
          <p:nvPr/>
        </p:nvSpPr>
        <p:spPr>
          <a:xfrm>
            <a:off x="371955" y="877911"/>
            <a:ext cx="5378988"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You have a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Choice</a:t>
            </a:r>
          </a:p>
        </p:txBody>
      </p:sp>
    </p:spTree>
    <p:extLst>
      <p:ext uri="{BB962C8B-B14F-4D97-AF65-F5344CB8AC3E}">
        <p14:creationId xmlns:p14="http://schemas.microsoft.com/office/powerpoint/2010/main" val="1034577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F5132B-7EFE-5F49-B8EC-75BAB040FB5F}"/>
              </a:ext>
            </a:extLst>
          </p:cNvPr>
          <p:cNvPicPr>
            <a:picLocks noChangeAspect="1"/>
          </p:cNvPicPr>
          <p:nvPr/>
        </p:nvPicPr>
        <p:blipFill rotWithShape="1">
          <a:blip r:embed="rId3"/>
          <a:srcRect l="-2707" r="20885"/>
          <a:stretch/>
        </p:blipFill>
        <p:spPr>
          <a:xfrm>
            <a:off x="3766617" y="0"/>
            <a:ext cx="8425383" cy="6858000"/>
          </a:xfrm>
          <a:prstGeom prst="rect">
            <a:avLst/>
          </a:prstGeom>
        </p:spPr>
      </p:pic>
      <p:sp>
        <p:nvSpPr>
          <p:cNvPr id="11" name="Rectangle 4">
            <a:extLst>
              <a:ext uri="{FF2B5EF4-FFF2-40B4-BE49-F238E27FC236}">
                <a16:creationId xmlns:a16="http://schemas.microsoft.com/office/drawing/2014/main" id="{8B7D9489-ED8A-B04D-B7F3-8540E0986F40}"/>
              </a:ext>
            </a:extLst>
          </p:cNvPr>
          <p:cNvSpPr/>
          <p:nvPr/>
        </p:nvSpPr>
        <p:spPr>
          <a:xfrm>
            <a:off x="0" y="0"/>
            <a:ext cx="7869677"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875" h="6858000">
                <a:moveTo>
                  <a:pt x="0" y="0"/>
                </a:moveTo>
                <a:lnTo>
                  <a:pt x="8143875" y="0"/>
                </a:lnTo>
                <a:lnTo>
                  <a:pt x="6096001"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A55DD44-2226-1043-9B2F-F4B42ED4A77A}"/>
              </a:ext>
            </a:extLst>
          </p:cNvPr>
          <p:cNvSpPr txBox="1"/>
          <p:nvPr/>
        </p:nvSpPr>
        <p:spPr>
          <a:xfrm>
            <a:off x="857485" y="1788266"/>
            <a:ext cx="5295034" cy="3539430"/>
          </a:xfrm>
          <a:prstGeom prst="rect">
            <a:avLst/>
          </a:prstGeom>
          <a:noFill/>
        </p:spPr>
        <p:txBody>
          <a:bodyPr wrap="square" rtlCol="0">
            <a:spAutoFit/>
          </a:bodyPr>
          <a:lstStyle/>
          <a:p>
            <a:pPr marL="457200" indent="-457200">
              <a:buFont typeface="+mj-lt"/>
              <a:buAutoNum type="arabicPeriod"/>
            </a:pPr>
            <a:r>
              <a:rPr lang="en-US" sz="2800" dirty="0">
                <a:solidFill>
                  <a:srgbClr val="E0E0E0"/>
                </a:solidFill>
                <a:latin typeface="Kollektif" panose="020B0604020101010102"/>
              </a:rPr>
              <a:t>Keep doing what you’re doing</a:t>
            </a:r>
          </a:p>
          <a:p>
            <a:pPr marL="457200" indent="-457200">
              <a:buFont typeface="+mj-lt"/>
              <a:buAutoNum type="arabicPeriod"/>
            </a:pPr>
            <a:endParaRPr lang="en-US" sz="2800" dirty="0">
              <a:solidFill>
                <a:srgbClr val="E0E0E0"/>
              </a:solidFill>
              <a:latin typeface="Kollektif" panose="020B0604020101010102"/>
            </a:endParaRPr>
          </a:p>
          <a:p>
            <a:pPr marL="457200" indent="-457200">
              <a:buFont typeface="+mj-lt"/>
              <a:buAutoNum type="arabicPeriod"/>
            </a:pPr>
            <a:r>
              <a:rPr lang="en-US" sz="2800" dirty="0">
                <a:solidFill>
                  <a:srgbClr val="E0E0E0"/>
                </a:solidFill>
                <a:latin typeface="Kollektif" panose="020B0604020101010102"/>
              </a:rPr>
              <a:t>Take what I’ve given you and Do It Yourself</a:t>
            </a:r>
          </a:p>
          <a:p>
            <a:pPr marL="457200" indent="-457200">
              <a:buFont typeface="+mj-lt"/>
              <a:buAutoNum type="arabicPeriod"/>
            </a:pPr>
            <a:endParaRPr lang="en-US" sz="2800" dirty="0">
              <a:latin typeface="Kollektif" panose="020B0604020101010102"/>
            </a:endParaRPr>
          </a:p>
          <a:p>
            <a:pPr marL="457200" indent="-457200">
              <a:buFont typeface="+mj-lt"/>
              <a:buAutoNum type="arabicPeriod"/>
            </a:pPr>
            <a:r>
              <a:rPr lang="en-US" sz="2800" dirty="0">
                <a:latin typeface="Kollektif" panose="020B0604020101010102"/>
              </a:rPr>
              <a:t>Get a seasoned, expert, passionate, professional team to partner with your SMEs</a:t>
            </a:r>
          </a:p>
        </p:txBody>
      </p:sp>
      <p:sp>
        <p:nvSpPr>
          <p:cNvPr id="9" name="Content Placeholder 2">
            <a:extLst>
              <a:ext uri="{FF2B5EF4-FFF2-40B4-BE49-F238E27FC236}">
                <a16:creationId xmlns:a16="http://schemas.microsoft.com/office/drawing/2014/main" id="{9184CE00-B6C2-499B-88E3-4F0684F94138}"/>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10" name="TextBox 9">
            <a:extLst>
              <a:ext uri="{FF2B5EF4-FFF2-40B4-BE49-F238E27FC236}">
                <a16:creationId xmlns:a16="http://schemas.microsoft.com/office/drawing/2014/main" id="{A81489A3-51AC-4CAD-AD2D-222232E36126}"/>
              </a:ext>
            </a:extLst>
          </p:cNvPr>
          <p:cNvSpPr txBox="1"/>
          <p:nvPr/>
        </p:nvSpPr>
        <p:spPr>
          <a:xfrm>
            <a:off x="371955" y="877911"/>
            <a:ext cx="5378988"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You have a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Choice</a:t>
            </a:r>
          </a:p>
        </p:txBody>
      </p:sp>
    </p:spTree>
    <p:extLst>
      <p:ext uri="{BB962C8B-B14F-4D97-AF65-F5344CB8AC3E}">
        <p14:creationId xmlns:p14="http://schemas.microsoft.com/office/powerpoint/2010/main" val="85516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F5132B-7EFE-5F49-B8EC-75BAB040FB5F}"/>
              </a:ext>
            </a:extLst>
          </p:cNvPr>
          <p:cNvPicPr>
            <a:picLocks noChangeAspect="1"/>
          </p:cNvPicPr>
          <p:nvPr/>
        </p:nvPicPr>
        <p:blipFill rotWithShape="1">
          <a:blip r:embed="rId3"/>
          <a:srcRect l="3205" r="14837"/>
          <a:stretch/>
        </p:blipFill>
        <p:spPr>
          <a:xfrm>
            <a:off x="3766617" y="0"/>
            <a:ext cx="8425383" cy="6858000"/>
          </a:xfrm>
          <a:prstGeom prst="rect">
            <a:avLst/>
          </a:prstGeom>
        </p:spPr>
      </p:pic>
      <p:sp>
        <p:nvSpPr>
          <p:cNvPr id="11" name="Rectangle 4">
            <a:extLst>
              <a:ext uri="{FF2B5EF4-FFF2-40B4-BE49-F238E27FC236}">
                <a16:creationId xmlns:a16="http://schemas.microsoft.com/office/drawing/2014/main" id="{8B7D9489-ED8A-B04D-B7F3-8540E0986F40}"/>
              </a:ext>
            </a:extLst>
          </p:cNvPr>
          <p:cNvSpPr/>
          <p:nvPr/>
        </p:nvSpPr>
        <p:spPr>
          <a:xfrm>
            <a:off x="0" y="0"/>
            <a:ext cx="7148945"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875" h="6858000">
                <a:moveTo>
                  <a:pt x="0" y="0"/>
                </a:moveTo>
                <a:lnTo>
                  <a:pt x="8143875" y="0"/>
                </a:lnTo>
                <a:lnTo>
                  <a:pt x="6096001"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3B6E99AC-28B4-2F48-BF2F-753B0420F7DC}"/>
              </a:ext>
            </a:extLst>
          </p:cNvPr>
          <p:cNvSpPr txBox="1"/>
          <p:nvPr/>
        </p:nvSpPr>
        <p:spPr>
          <a:xfrm>
            <a:off x="1009523" y="2023309"/>
            <a:ext cx="5606728" cy="2554545"/>
          </a:xfrm>
          <a:prstGeom prst="rect">
            <a:avLst/>
          </a:prstGeom>
          <a:noFill/>
        </p:spPr>
        <p:txBody>
          <a:bodyPr wrap="none" rtlCol="0">
            <a:spAutoFit/>
          </a:bodyPr>
          <a:lstStyle/>
          <a:p>
            <a:r>
              <a:rPr lang="en-US" sz="6000" dirty="0">
                <a:solidFill>
                  <a:srgbClr val="666666"/>
                </a:solidFill>
                <a:latin typeface="Kollektif" panose="020B0604020101010102"/>
              </a:rPr>
              <a:t>Book a Call </a:t>
            </a:r>
            <a:r>
              <a:rPr lang="en-US" sz="6000" dirty="0">
                <a:solidFill>
                  <a:srgbClr val="FF440B"/>
                </a:solidFill>
                <a:latin typeface="Kollektif" panose="020B0604020101010102"/>
              </a:rPr>
              <a:t>Today</a:t>
            </a:r>
          </a:p>
          <a:p>
            <a:endParaRPr lang="en-US" sz="6000" dirty="0">
              <a:solidFill>
                <a:srgbClr val="FF440B"/>
              </a:solidFill>
              <a:latin typeface="Kollektif" panose="020B0604020101010102"/>
            </a:endParaRPr>
          </a:p>
          <a:p>
            <a:r>
              <a:rPr lang="en-US" sz="3600" dirty="0">
                <a:solidFill>
                  <a:srgbClr val="FF440B"/>
                </a:solidFill>
                <a:latin typeface="Kollektif" panose="020B0604020101010102"/>
              </a:rPr>
              <a:t>www.RFPSuccessCall.com</a:t>
            </a:r>
          </a:p>
        </p:txBody>
      </p:sp>
    </p:spTree>
    <p:extLst>
      <p:ext uri="{BB962C8B-B14F-4D97-AF65-F5344CB8AC3E}">
        <p14:creationId xmlns:p14="http://schemas.microsoft.com/office/powerpoint/2010/main" val="4210711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F5132B-7EFE-5F49-B8EC-75BAB040FB5F}"/>
              </a:ext>
            </a:extLst>
          </p:cNvPr>
          <p:cNvPicPr>
            <a:picLocks noChangeAspect="1"/>
          </p:cNvPicPr>
          <p:nvPr/>
        </p:nvPicPr>
        <p:blipFill rotWithShape="1">
          <a:blip r:embed="rId3"/>
          <a:srcRect l="-2707" r="20885"/>
          <a:stretch/>
        </p:blipFill>
        <p:spPr>
          <a:xfrm>
            <a:off x="3766617" y="0"/>
            <a:ext cx="8425383" cy="6858000"/>
          </a:xfrm>
          <a:prstGeom prst="rect">
            <a:avLst/>
          </a:prstGeom>
        </p:spPr>
      </p:pic>
      <p:sp>
        <p:nvSpPr>
          <p:cNvPr id="11" name="Rectangle 4">
            <a:extLst>
              <a:ext uri="{FF2B5EF4-FFF2-40B4-BE49-F238E27FC236}">
                <a16:creationId xmlns:a16="http://schemas.microsoft.com/office/drawing/2014/main" id="{8B7D9489-ED8A-B04D-B7F3-8540E0986F40}"/>
              </a:ext>
            </a:extLst>
          </p:cNvPr>
          <p:cNvSpPr/>
          <p:nvPr/>
        </p:nvSpPr>
        <p:spPr>
          <a:xfrm>
            <a:off x="0" y="0"/>
            <a:ext cx="7869677"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875" h="6858000">
                <a:moveTo>
                  <a:pt x="0" y="0"/>
                </a:moveTo>
                <a:lnTo>
                  <a:pt x="8143875" y="0"/>
                </a:lnTo>
                <a:lnTo>
                  <a:pt x="6096001"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A55DD44-2226-1043-9B2F-F4B42ED4A77A}"/>
              </a:ext>
            </a:extLst>
          </p:cNvPr>
          <p:cNvSpPr txBox="1"/>
          <p:nvPr/>
        </p:nvSpPr>
        <p:spPr>
          <a:xfrm>
            <a:off x="857485" y="1788266"/>
            <a:ext cx="5295034" cy="4401205"/>
          </a:xfrm>
          <a:prstGeom prst="rect">
            <a:avLst/>
          </a:prstGeom>
          <a:noFill/>
        </p:spPr>
        <p:txBody>
          <a:bodyPr wrap="square" rtlCol="0">
            <a:spAutoFit/>
          </a:bodyPr>
          <a:lstStyle/>
          <a:p>
            <a:pPr marL="457200" indent="-457200">
              <a:buFont typeface="+mj-lt"/>
              <a:buAutoNum type="arabicPeriod"/>
            </a:pPr>
            <a:r>
              <a:rPr lang="en-US" sz="2800" dirty="0">
                <a:latin typeface="Kollektif" panose="020B0604020101010102"/>
              </a:rPr>
              <a:t>You’re looking to increase your win rate and get consistent wins in the SLED space</a:t>
            </a:r>
          </a:p>
          <a:p>
            <a:pPr marL="457200" indent="-457200">
              <a:buFont typeface="+mj-lt"/>
              <a:buAutoNum type="arabicPeriod"/>
            </a:pPr>
            <a:r>
              <a:rPr lang="en-US" sz="2800" dirty="0">
                <a:latin typeface="Kollektif" panose="020B0604020101010102"/>
              </a:rPr>
              <a:t>You take SLED business very seriously as a key revenue stream</a:t>
            </a:r>
          </a:p>
          <a:p>
            <a:pPr marL="457200" indent="-457200">
              <a:buFont typeface="+mj-lt"/>
              <a:buAutoNum type="arabicPeriod"/>
            </a:pPr>
            <a:r>
              <a:rPr lang="en-US" sz="2800" dirty="0">
                <a:latin typeface="Kollektif" panose="020B0604020101010102"/>
              </a:rPr>
              <a:t>You’re committed to improvement</a:t>
            </a:r>
          </a:p>
          <a:p>
            <a:pPr marL="457200" indent="-457200">
              <a:buFont typeface="+mj-lt"/>
              <a:buAutoNum type="arabicPeriod"/>
            </a:pPr>
            <a:endParaRPr lang="en-US" sz="2800" dirty="0">
              <a:latin typeface="Kollektif" panose="020B0604020101010102"/>
            </a:endParaRPr>
          </a:p>
          <a:p>
            <a:pPr algn="ctr"/>
            <a:r>
              <a:rPr lang="en-US" sz="2400" dirty="0">
                <a:solidFill>
                  <a:srgbClr val="FF440B"/>
                </a:solidFill>
                <a:latin typeface="Kollektif" panose="020B0604020101010102"/>
              </a:rPr>
              <a:t>www.RFPSuccessCall.com</a:t>
            </a:r>
          </a:p>
        </p:txBody>
      </p:sp>
      <p:sp>
        <p:nvSpPr>
          <p:cNvPr id="9" name="Content Placeholder 2">
            <a:extLst>
              <a:ext uri="{FF2B5EF4-FFF2-40B4-BE49-F238E27FC236}">
                <a16:creationId xmlns:a16="http://schemas.microsoft.com/office/drawing/2014/main" id="{9184CE00-B6C2-499B-88E3-4F0684F94138}"/>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10" name="TextBox 9">
            <a:extLst>
              <a:ext uri="{FF2B5EF4-FFF2-40B4-BE49-F238E27FC236}">
                <a16:creationId xmlns:a16="http://schemas.microsoft.com/office/drawing/2014/main" id="{A81489A3-51AC-4CAD-AD2D-222232E36126}"/>
              </a:ext>
            </a:extLst>
          </p:cNvPr>
          <p:cNvSpPr txBox="1"/>
          <p:nvPr/>
        </p:nvSpPr>
        <p:spPr>
          <a:xfrm>
            <a:off x="371955" y="877911"/>
            <a:ext cx="5378988" cy="707886"/>
          </a:xfrm>
          <a:prstGeom prst="rect">
            <a:avLst/>
          </a:prstGeom>
          <a:noFill/>
        </p:spPr>
        <p:txBody>
          <a:bodyPr wrap="square" rtlCol="0">
            <a:spAutoFit/>
          </a:bodyPr>
          <a:lstStyle/>
          <a:p>
            <a:r>
              <a:rPr lang="en-US" sz="4000" dirty="0">
                <a:solidFill>
                  <a:srgbClr val="FF440B"/>
                </a:solidFill>
                <a:latin typeface="Segoe UI Black" panose="020B0A02040204020203" pitchFamily="34" charset="0"/>
                <a:ea typeface="Segoe UI Black" panose="020B0A02040204020203" pitchFamily="34" charset="0"/>
              </a:rPr>
              <a:t>Who This Is For</a:t>
            </a:r>
            <a:endPar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endParaRPr>
          </a:p>
        </p:txBody>
      </p:sp>
    </p:spTree>
    <p:extLst>
      <p:ext uri="{BB962C8B-B14F-4D97-AF65-F5344CB8AC3E}">
        <p14:creationId xmlns:p14="http://schemas.microsoft.com/office/powerpoint/2010/main" val="4049462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F5132B-7EFE-5F49-B8EC-75BAB040FB5F}"/>
              </a:ext>
            </a:extLst>
          </p:cNvPr>
          <p:cNvPicPr>
            <a:picLocks noChangeAspect="1"/>
          </p:cNvPicPr>
          <p:nvPr/>
        </p:nvPicPr>
        <p:blipFill rotWithShape="1">
          <a:blip r:embed="rId3"/>
          <a:srcRect l="-2707" r="20885"/>
          <a:stretch/>
        </p:blipFill>
        <p:spPr>
          <a:xfrm>
            <a:off x="3766617" y="0"/>
            <a:ext cx="8425383" cy="6858000"/>
          </a:xfrm>
          <a:prstGeom prst="rect">
            <a:avLst/>
          </a:prstGeom>
        </p:spPr>
      </p:pic>
      <p:sp>
        <p:nvSpPr>
          <p:cNvPr id="11" name="Rectangle 4">
            <a:extLst>
              <a:ext uri="{FF2B5EF4-FFF2-40B4-BE49-F238E27FC236}">
                <a16:creationId xmlns:a16="http://schemas.microsoft.com/office/drawing/2014/main" id="{8B7D9489-ED8A-B04D-B7F3-8540E0986F40}"/>
              </a:ext>
            </a:extLst>
          </p:cNvPr>
          <p:cNvSpPr/>
          <p:nvPr/>
        </p:nvSpPr>
        <p:spPr>
          <a:xfrm>
            <a:off x="0" y="0"/>
            <a:ext cx="7869677"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875" h="6858000">
                <a:moveTo>
                  <a:pt x="0" y="0"/>
                </a:moveTo>
                <a:lnTo>
                  <a:pt x="8143875" y="0"/>
                </a:lnTo>
                <a:lnTo>
                  <a:pt x="6096001"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A55DD44-2226-1043-9B2F-F4B42ED4A77A}"/>
              </a:ext>
            </a:extLst>
          </p:cNvPr>
          <p:cNvSpPr txBox="1"/>
          <p:nvPr/>
        </p:nvSpPr>
        <p:spPr>
          <a:xfrm>
            <a:off x="857485" y="1788266"/>
            <a:ext cx="5295034" cy="4832092"/>
          </a:xfrm>
          <a:prstGeom prst="rect">
            <a:avLst/>
          </a:prstGeom>
          <a:noFill/>
        </p:spPr>
        <p:txBody>
          <a:bodyPr wrap="square" rtlCol="0">
            <a:spAutoFit/>
          </a:bodyPr>
          <a:lstStyle/>
          <a:p>
            <a:pPr marL="457200" indent="-457200">
              <a:buFont typeface="+mj-lt"/>
              <a:buAutoNum type="arabicPeriod"/>
            </a:pPr>
            <a:r>
              <a:rPr lang="en-US" sz="2800" dirty="0">
                <a:latin typeface="Kollektif" panose="020B0604020101010102"/>
              </a:rPr>
              <a:t>How to overcome your biggest response challenges</a:t>
            </a:r>
          </a:p>
          <a:p>
            <a:pPr marL="457200" indent="-457200">
              <a:buFont typeface="+mj-lt"/>
              <a:buAutoNum type="arabicPeriod"/>
            </a:pPr>
            <a:r>
              <a:rPr lang="en-US" sz="2800" dirty="0">
                <a:latin typeface="Kollektif" panose="020B0604020101010102"/>
              </a:rPr>
              <a:t>Subtle shifts you can make today that can make a big difference</a:t>
            </a:r>
          </a:p>
          <a:p>
            <a:pPr marL="457200" indent="-457200">
              <a:buFont typeface="+mj-lt"/>
              <a:buAutoNum type="arabicPeriod"/>
            </a:pPr>
            <a:r>
              <a:rPr lang="en-US" sz="2800" dirty="0">
                <a:latin typeface="Kollektif" panose="020B0604020101010102"/>
              </a:rPr>
              <a:t>What it will take to reach your short- and long-term revenue goals</a:t>
            </a:r>
          </a:p>
          <a:p>
            <a:endParaRPr lang="en-US" sz="2800" dirty="0">
              <a:latin typeface="Kollektif" panose="020B0604020101010102"/>
            </a:endParaRPr>
          </a:p>
          <a:p>
            <a:pPr algn="ctr"/>
            <a:r>
              <a:rPr lang="en-US" sz="2800" dirty="0">
                <a:solidFill>
                  <a:srgbClr val="FF440B"/>
                </a:solidFill>
                <a:latin typeface="Kollektif" panose="020B0604020101010102"/>
              </a:rPr>
              <a:t>www.RFPSuccessCall.com</a:t>
            </a:r>
          </a:p>
          <a:p>
            <a:pPr marL="457200" indent="-457200">
              <a:buFont typeface="+mj-lt"/>
              <a:buAutoNum type="arabicPeriod"/>
            </a:pPr>
            <a:endParaRPr lang="en-US" sz="2800" dirty="0">
              <a:latin typeface="Kollektif" panose="020B0604020101010102"/>
            </a:endParaRPr>
          </a:p>
        </p:txBody>
      </p:sp>
      <p:sp>
        <p:nvSpPr>
          <p:cNvPr id="9" name="Content Placeholder 2">
            <a:extLst>
              <a:ext uri="{FF2B5EF4-FFF2-40B4-BE49-F238E27FC236}">
                <a16:creationId xmlns:a16="http://schemas.microsoft.com/office/drawing/2014/main" id="{9184CE00-B6C2-499B-88E3-4F0684F94138}"/>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10" name="TextBox 9">
            <a:extLst>
              <a:ext uri="{FF2B5EF4-FFF2-40B4-BE49-F238E27FC236}">
                <a16:creationId xmlns:a16="http://schemas.microsoft.com/office/drawing/2014/main" id="{A81489A3-51AC-4CAD-AD2D-222232E36126}"/>
              </a:ext>
            </a:extLst>
          </p:cNvPr>
          <p:cNvSpPr txBox="1"/>
          <p:nvPr/>
        </p:nvSpPr>
        <p:spPr>
          <a:xfrm>
            <a:off x="371955" y="877911"/>
            <a:ext cx="5378988"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On the Call….</a:t>
            </a:r>
            <a:endPar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endParaRPr>
          </a:p>
        </p:txBody>
      </p:sp>
    </p:spTree>
    <p:extLst>
      <p:ext uri="{BB962C8B-B14F-4D97-AF65-F5344CB8AC3E}">
        <p14:creationId xmlns:p14="http://schemas.microsoft.com/office/powerpoint/2010/main" val="1246783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360D3CE-C8DD-C04A-8C79-5BC4CE85E194}"/>
              </a:ext>
            </a:extLst>
          </p:cNvPr>
          <p:cNvSpPr/>
          <p:nvPr/>
        </p:nvSpPr>
        <p:spPr>
          <a:xfrm>
            <a:off x="0" y="-16626"/>
            <a:ext cx="14115010" cy="6874626"/>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 name="connsiteX0" fmla="*/ 0 w 16079418"/>
              <a:gd name="connsiteY0" fmla="*/ 0 h 6858000"/>
              <a:gd name="connsiteX1" fmla="*/ 16079418 w 16079418"/>
              <a:gd name="connsiteY1" fmla="*/ 0 h 6858000"/>
              <a:gd name="connsiteX2" fmla="*/ 14031544 w 16079418"/>
              <a:gd name="connsiteY2" fmla="*/ 6858000 h 6858000"/>
              <a:gd name="connsiteX3" fmla="*/ 7935543 w 16079418"/>
              <a:gd name="connsiteY3" fmla="*/ 6858000 h 6858000"/>
              <a:gd name="connsiteX4" fmla="*/ 0 w 16079418"/>
              <a:gd name="connsiteY4" fmla="*/ 0 h 6858000"/>
              <a:gd name="connsiteX0" fmla="*/ 0 w 16079418"/>
              <a:gd name="connsiteY0" fmla="*/ 0 h 6874626"/>
              <a:gd name="connsiteX1" fmla="*/ 16079418 w 16079418"/>
              <a:gd name="connsiteY1" fmla="*/ 0 h 6874626"/>
              <a:gd name="connsiteX2" fmla="*/ 14031544 w 16079418"/>
              <a:gd name="connsiteY2" fmla="*/ 6858000 h 6874626"/>
              <a:gd name="connsiteX3" fmla="*/ 18939 w 16079418"/>
              <a:gd name="connsiteY3" fmla="*/ 6874626 h 6874626"/>
              <a:gd name="connsiteX4" fmla="*/ 0 w 16079418"/>
              <a:gd name="connsiteY4" fmla="*/ 0 h 68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79418" h="6874626">
                <a:moveTo>
                  <a:pt x="0" y="0"/>
                </a:moveTo>
                <a:lnTo>
                  <a:pt x="16079418" y="0"/>
                </a:lnTo>
                <a:lnTo>
                  <a:pt x="14031544" y="6858000"/>
                </a:lnTo>
                <a:lnTo>
                  <a:pt x="18939" y="6874626"/>
                </a:lnTo>
                <a:lnTo>
                  <a:pt x="0" y="0"/>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93413F8-2E3E-AF41-B070-D113DD2FB66E}"/>
              </a:ext>
            </a:extLst>
          </p:cNvPr>
          <p:cNvSpPr txBox="1"/>
          <p:nvPr/>
        </p:nvSpPr>
        <p:spPr>
          <a:xfrm>
            <a:off x="196850" y="1292556"/>
            <a:ext cx="11546576" cy="5057444"/>
          </a:xfrm>
          <a:prstGeom prst="rect">
            <a:avLst/>
          </a:prstGeom>
          <a:noFill/>
        </p:spPr>
        <p:txBody>
          <a:bodyPr wrap="square" rtlCol="0">
            <a:normAutofit fontScale="70000" lnSpcReduction="20000"/>
          </a:bodyPr>
          <a:lstStyle/>
          <a:p>
            <a:pPr marL="457200" indent="-457200" algn="l">
              <a:lnSpc>
                <a:spcPct val="170000"/>
              </a:lnSpc>
              <a:buFont typeface="Arial" panose="020B0604020202020204" pitchFamily="34" charset="0"/>
              <a:buChar char="•"/>
            </a:pPr>
            <a:r>
              <a:rPr lang="en-US" sz="3300" dirty="0">
                <a:latin typeface="Kollektif" panose="020B0604020101010102"/>
              </a:rPr>
              <a:t>A consistent 80%+ win rate after working with us for 12 months.</a:t>
            </a:r>
          </a:p>
          <a:p>
            <a:pPr marL="457200" indent="-457200" algn="l">
              <a:lnSpc>
                <a:spcPct val="170000"/>
              </a:lnSpc>
              <a:buFont typeface="Arial" panose="020B0604020202020204" pitchFamily="34" charset="0"/>
              <a:buChar char="•"/>
            </a:pPr>
            <a:r>
              <a:rPr lang="en-US" sz="3300" dirty="0">
                <a:latin typeface="Kollektif" panose="020B0604020101010102"/>
              </a:rPr>
              <a:t>A first-ever state government RFP win (after years of losses). </a:t>
            </a:r>
          </a:p>
          <a:p>
            <a:pPr marL="457200" indent="-457200" algn="l">
              <a:lnSpc>
                <a:spcPct val="170000"/>
              </a:lnSpc>
              <a:buFont typeface="Arial" panose="020B0604020202020204" pitchFamily="34" charset="0"/>
              <a:buChar char="•"/>
            </a:pPr>
            <a:r>
              <a:rPr lang="en-US" sz="3300" dirty="0">
                <a:latin typeface="Kollektif" panose="020B0604020101010102"/>
              </a:rPr>
              <a:t>A 32% increase in RFP win rates (from 20% to 52%) in just 5 months.</a:t>
            </a:r>
          </a:p>
          <a:p>
            <a:pPr marL="457200" indent="-457200" algn="l">
              <a:lnSpc>
                <a:spcPct val="170000"/>
              </a:lnSpc>
              <a:buFont typeface="Arial" panose="020B0604020202020204" pitchFamily="34" charset="0"/>
              <a:buChar char="•"/>
            </a:pPr>
            <a:r>
              <a:rPr lang="en-US" sz="3300" dirty="0">
                <a:latin typeface="Kollektif" panose="020B0604020101010102"/>
              </a:rPr>
              <a:t>A highest-ever state government RFP win: $15 million over 3 years.</a:t>
            </a:r>
          </a:p>
          <a:p>
            <a:pPr marL="457200" indent="-457200" algn="l">
              <a:lnSpc>
                <a:spcPct val="170000"/>
              </a:lnSpc>
              <a:buFont typeface="Arial" panose="020B0604020202020204" pitchFamily="34" charset="0"/>
              <a:buChar char="•"/>
            </a:pPr>
            <a:r>
              <a:rPr lang="en-US" sz="3300" dirty="0">
                <a:latin typeface="Kollektif" panose="020B0604020101010102"/>
              </a:rPr>
              <a:t>A 21% reduction in RFP response resources coupled with a 30% increase in win rate.</a:t>
            </a:r>
          </a:p>
          <a:p>
            <a:pPr marL="457200" indent="-457200" algn="l">
              <a:lnSpc>
                <a:spcPct val="170000"/>
              </a:lnSpc>
              <a:buFont typeface="Arial" panose="020B0604020202020204" pitchFamily="34" charset="0"/>
              <a:buChar char="•"/>
            </a:pPr>
            <a:r>
              <a:rPr lang="en-US" sz="3300" dirty="0">
                <a:latin typeface="Kollektif" panose="020B0604020101010102"/>
              </a:rPr>
              <a:t>An 85% Orals Presentation phase achievement.</a:t>
            </a:r>
          </a:p>
          <a:p>
            <a:pPr marL="457200" indent="-457200" algn="l">
              <a:lnSpc>
                <a:spcPct val="170000"/>
              </a:lnSpc>
              <a:buFont typeface="Arial" panose="020B0604020202020204" pitchFamily="34" charset="0"/>
              <a:buChar char="•"/>
            </a:pPr>
            <a:r>
              <a:rPr lang="en-US" sz="3300" dirty="0">
                <a:latin typeface="Kollektif" panose="020B0604020101010102"/>
              </a:rPr>
              <a:t>A 20% reduction in SME time spend per RFP response.</a:t>
            </a:r>
          </a:p>
          <a:p>
            <a:pPr algn="ctr">
              <a:lnSpc>
                <a:spcPct val="150000"/>
              </a:lnSpc>
            </a:pPr>
            <a:endParaRPr lang="en-US" sz="3600" dirty="0">
              <a:solidFill>
                <a:srgbClr val="FF440B"/>
              </a:solidFill>
              <a:latin typeface="Kollektif" panose="020B0604020101010102"/>
            </a:endParaRPr>
          </a:p>
          <a:p>
            <a:pPr algn="ctr">
              <a:lnSpc>
                <a:spcPct val="150000"/>
              </a:lnSpc>
            </a:pPr>
            <a:r>
              <a:rPr lang="en-US" sz="3600" dirty="0">
                <a:solidFill>
                  <a:srgbClr val="FF440B"/>
                </a:solidFill>
                <a:latin typeface="Kollektif" panose="020B0604020101010102"/>
              </a:rPr>
              <a:t>www.RFPSuccessCall.com</a:t>
            </a:r>
          </a:p>
          <a:p>
            <a:pPr algn="ctr">
              <a:lnSpc>
                <a:spcPct val="150000"/>
              </a:lnSpc>
            </a:pPr>
            <a:endParaRPr lang="en-US" sz="3600" b="0" i="0" dirty="0">
              <a:solidFill>
                <a:schemeClr val="bg1">
                  <a:lumMod val="65000"/>
                </a:schemeClr>
              </a:solidFill>
              <a:effectLst/>
              <a:latin typeface="Slack-Lato"/>
            </a:endParaRPr>
          </a:p>
          <a:p>
            <a:pPr algn="ctr">
              <a:lnSpc>
                <a:spcPct val="150000"/>
              </a:lnSpc>
            </a:pPr>
            <a:endParaRPr lang="en-US" sz="3600" dirty="0">
              <a:solidFill>
                <a:schemeClr val="bg1">
                  <a:lumMod val="65000"/>
                </a:schemeClr>
              </a:solidFill>
              <a:latin typeface="Kollektif" panose="020B0604020101010102" pitchFamily="34" charset="77"/>
            </a:endParaRPr>
          </a:p>
        </p:txBody>
      </p:sp>
      <p:sp>
        <p:nvSpPr>
          <p:cNvPr id="2" name="TextBox 1">
            <a:extLst>
              <a:ext uri="{FF2B5EF4-FFF2-40B4-BE49-F238E27FC236}">
                <a16:creationId xmlns:a16="http://schemas.microsoft.com/office/drawing/2014/main" id="{B8599BF4-A78C-D4C1-BD84-489E8E15916D}"/>
              </a:ext>
            </a:extLst>
          </p:cNvPr>
          <p:cNvSpPr txBox="1"/>
          <p:nvPr/>
        </p:nvSpPr>
        <p:spPr>
          <a:xfrm>
            <a:off x="371955" y="284022"/>
            <a:ext cx="5120196" cy="707886"/>
          </a:xfrm>
          <a:prstGeom prst="rect">
            <a:avLst/>
          </a:prstGeom>
          <a:noFill/>
        </p:spPr>
        <p:txBody>
          <a:bodyPr wrap="square" rtlCol="0">
            <a:spAutoFit/>
          </a:bodyPr>
          <a:lstStyle/>
          <a:p>
            <a:r>
              <a:rPr lang="en-US" sz="4000" dirty="0">
                <a:solidFill>
                  <a:srgbClr val="666666"/>
                </a:solidFill>
                <a:latin typeface="Segoe UI Black" panose="020B0A02040204020203" pitchFamily="34" charset="0"/>
                <a:ea typeface="Segoe UI Black" panose="020B0A02040204020203" pitchFamily="34" charset="0"/>
              </a:rPr>
              <a:t>REAL </a:t>
            </a:r>
            <a:r>
              <a:rPr lang="en-US" sz="4000" dirty="0">
                <a:solidFill>
                  <a:srgbClr val="FF440B"/>
                </a:solidFill>
                <a:latin typeface="Segoe UI Light" panose="020B0502040204020203" pitchFamily="34" charset="0"/>
                <a:ea typeface="Segoe UI Black" panose="020B0A02040204020203" pitchFamily="34" charset="0"/>
                <a:cs typeface="Segoe UI Light" panose="020B0502040204020203" pitchFamily="34" charset="0"/>
              </a:rPr>
              <a:t>Client Results</a:t>
            </a:r>
          </a:p>
        </p:txBody>
      </p:sp>
    </p:spTree>
    <p:extLst>
      <p:ext uri="{BB962C8B-B14F-4D97-AF65-F5344CB8AC3E}">
        <p14:creationId xmlns:p14="http://schemas.microsoft.com/office/powerpoint/2010/main" val="20128510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F5132B-7EFE-5F49-B8EC-75BAB040FB5F}"/>
              </a:ext>
            </a:extLst>
          </p:cNvPr>
          <p:cNvPicPr>
            <a:picLocks noChangeAspect="1"/>
          </p:cNvPicPr>
          <p:nvPr/>
        </p:nvPicPr>
        <p:blipFill rotWithShape="1">
          <a:blip r:embed="rId3"/>
          <a:srcRect l="3205" r="14837"/>
          <a:stretch/>
        </p:blipFill>
        <p:spPr>
          <a:xfrm>
            <a:off x="3766617" y="0"/>
            <a:ext cx="8425383" cy="6858000"/>
          </a:xfrm>
          <a:prstGeom prst="rect">
            <a:avLst/>
          </a:prstGeom>
        </p:spPr>
      </p:pic>
      <p:sp>
        <p:nvSpPr>
          <p:cNvPr id="11" name="Rectangle 4">
            <a:extLst>
              <a:ext uri="{FF2B5EF4-FFF2-40B4-BE49-F238E27FC236}">
                <a16:creationId xmlns:a16="http://schemas.microsoft.com/office/drawing/2014/main" id="{8B7D9489-ED8A-B04D-B7F3-8540E0986F40}"/>
              </a:ext>
            </a:extLst>
          </p:cNvPr>
          <p:cNvSpPr/>
          <p:nvPr/>
        </p:nvSpPr>
        <p:spPr>
          <a:xfrm>
            <a:off x="0" y="0"/>
            <a:ext cx="7148945" cy="6858000"/>
          </a:xfrm>
          <a:custGeom>
            <a:avLst/>
            <a:gdLst>
              <a:gd name="connsiteX0" fmla="*/ 0 w 6096001"/>
              <a:gd name="connsiteY0" fmla="*/ 0 h 6858000"/>
              <a:gd name="connsiteX1" fmla="*/ 6096001 w 6096001"/>
              <a:gd name="connsiteY1" fmla="*/ 0 h 6858000"/>
              <a:gd name="connsiteX2" fmla="*/ 6096001 w 6096001"/>
              <a:gd name="connsiteY2" fmla="*/ 6858000 h 6858000"/>
              <a:gd name="connsiteX3" fmla="*/ 0 w 6096001"/>
              <a:gd name="connsiteY3" fmla="*/ 6858000 h 6858000"/>
              <a:gd name="connsiteX4" fmla="*/ 0 w 6096001"/>
              <a:gd name="connsiteY4" fmla="*/ 0 h 6858000"/>
              <a:gd name="connsiteX0" fmla="*/ 0 w 8134866"/>
              <a:gd name="connsiteY0" fmla="*/ 0 h 6858000"/>
              <a:gd name="connsiteX1" fmla="*/ 8134866 w 8134866"/>
              <a:gd name="connsiteY1" fmla="*/ 0 h 6858000"/>
              <a:gd name="connsiteX2" fmla="*/ 6096001 w 8134866"/>
              <a:gd name="connsiteY2" fmla="*/ 6858000 h 6858000"/>
              <a:gd name="connsiteX3" fmla="*/ 0 w 8134866"/>
              <a:gd name="connsiteY3" fmla="*/ 6858000 h 6858000"/>
              <a:gd name="connsiteX4" fmla="*/ 0 w 8134866"/>
              <a:gd name="connsiteY4" fmla="*/ 0 h 6858000"/>
              <a:gd name="connsiteX0" fmla="*/ 0 w 8143875"/>
              <a:gd name="connsiteY0" fmla="*/ 0 h 6858000"/>
              <a:gd name="connsiteX1" fmla="*/ 8143875 w 8143875"/>
              <a:gd name="connsiteY1" fmla="*/ 220717 h 6858000"/>
              <a:gd name="connsiteX2" fmla="*/ 6096001 w 8143875"/>
              <a:gd name="connsiteY2" fmla="*/ 6858000 h 6858000"/>
              <a:gd name="connsiteX3" fmla="*/ 0 w 8143875"/>
              <a:gd name="connsiteY3" fmla="*/ 6858000 h 6858000"/>
              <a:gd name="connsiteX4" fmla="*/ 0 w 8143875"/>
              <a:gd name="connsiteY4" fmla="*/ 0 h 6858000"/>
              <a:gd name="connsiteX0" fmla="*/ 0 w 8143875"/>
              <a:gd name="connsiteY0" fmla="*/ 0 h 6858000"/>
              <a:gd name="connsiteX1" fmla="*/ 8143875 w 8143875"/>
              <a:gd name="connsiteY1" fmla="*/ 0 h 6858000"/>
              <a:gd name="connsiteX2" fmla="*/ 6096001 w 8143875"/>
              <a:gd name="connsiteY2" fmla="*/ 6858000 h 6858000"/>
              <a:gd name="connsiteX3" fmla="*/ 0 w 8143875"/>
              <a:gd name="connsiteY3" fmla="*/ 6858000 h 6858000"/>
              <a:gd name="connsiteX4" fmla="*/ 0 w 814387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3875" h="6858000">
                <a:moveTo>
                  <a:pt x="0" y="0"/>
                </a:moveTo>
                <a:lnTo>
                  <a:pt x="8143875" y="0"/>
                </a:lnTo>
                <a:lnTo>
                  <a:pt x="6096001"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3B6E99AC-28B4-2F48-BF2F-753B0420F7DC}"/>
              </a:ext>
            </a:extLst>
          </p:cNvPr>
          <p:cNvSpPr txBox="1"/>
          <p:nvPr/>
        </p:nvSpPr>
        <p:spPr>
          <a:xfrm>
            <a:off x="1009523" y="2023309"/>
            <a:ext cx="5606728" cy="2554545"/>
          </a:xfrm>
          <a:prstGeom prst="rect">
            <a:avLst/>
          </a:prstGeom>
          <a:noFill/>
        </p:spPr>
        <p:txBody>
          <a:bodyPr wrap="none" rtlCol="0">
            <a:spAutoFit/>
          </a:bodyPr>
          <a:lstStyle/>
          <a:p>
            <a:r>
              <a:rPr lang="en-US" sz="6000" dirty="0">
                <a:solidFill>
                  <a:srgbClr val="666666"/>
                </a:solidFill>
                <a:latin typeface="Kollektif" panose="020B0604020101010102"/>
              </a:rPr>
              <a:t>Book a Call </a:t>
            </a:r>
            <a:r>
              <a:rPr lang="en-US" sz="6000" dirty="0">
                <a:solidFill>
                  <a:srgbClr val="FF440B"/>
                </a:solidFill>
                <a:latin typeface="Kollektif" panose="020B0604020101010102"/>
              </a:rPr>
              <a:t>Today</a:t>
            </a:r>
          </a:p>
          <a:p>
            <a:endParaRPr lang="en-US" sz="6000" dirty="0">
              <a:solidFill>
                <a:srgbClr val="FF440B"/>
              </a:solidFill>
              <a:latin typeface="Kollektif" panose="020B0604020101010102"/>
            </a:endParaRPr>
          </a:p>
          <a:p>
            <a:r>
              <a:rPr lang="en-US" sz="3600" dirty="0">
                <a:solidFill>
                  <a:srgbClr val="FF440B"/>
                </a:solidFill>
                <a:latin typeface="Kollektif" panose="020B0604020101010102"/>
              </a:rPr>
              <a:t>www.RFPSuccessCall.com</a:t>
            </a:r>
          </a:p>
        </p:txBody>
      </p:sp>
    </p:spTree>
    <p:extLst>
      <p:ext uri="{BB962C8B-B14F-4D97-AF65-F5344CB8AC3E}">
        <p14:creationId xmlns:p14="http://schemas.microsoft.com/office/powerpoint/2010/main" val="142044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E9FF52EB6D854AB561DEBF8EA02427" ma:contentTypeVersion="21" ma:contentTypeDescription="Create a new document." ma:contentTypeScope="" ma:versionID="75d23e90778dd441fd4f6e0162e50a4d">
  <xsd:schema xmlns:xsd="http://www.w3.org/2001/XMLSchema" xmlns:xs="http://www.w3.org/2001/XMLSchema" xmlns:p="http://schemas.microsoft.com/office/2006/metadata/properties" xmlns:ns2="552914ee-e64f-4582-b9a1-99fdf20bc0e0" xmlns:ns3="b84bd6f0-b398-4376-98cb-965c75119255" targetNamespace="http://schemas.microsoft.com/office/2006/metadata/properties" ma:root="true" ma:fieldsID="da8c49745affb346c3c3b93acdf4eb7a" ns2:_="" ns3:_="">
    <xsd:import namespace="552914ee-e64f-4582-b9a1-99fdf20bc0e0"/>
    <xsd:import namespace="b84bd6f0-b398-4376-98cb-965c7511925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LengthInSeconds" minOccurs="0"/>
                <xsd:element ref="ns3:MediaServiceDateTaken" minOccurs="0"/>
                <xsd:element ref="ns3:MediaServiceLocation" minOccurs="0"/>
                <xsd:element ref="ns3:Link" minOccurs="0"/>
                <xsd:element ref="ns3:MediaServiceSearchProperties" minOccurs="0"/>
                <xsd:element ref="ns3:FolderID" minOccurs="0"/>
                <xsd:element ref="ns3:IndexNot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2914ee-e64f-4582-b9a1-99fdf20bc0e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6543f0e-33fc-4d99-bb33-9ab4fab2a159}" ma:internalName="TaxCatchAll" ma:showField="CatchAllData" ma:web="552914ee-e64f-4582-b9a1-99fdf20bc0e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84bd6f0-b398-4376-98cb-965c7511925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fccae0a-b261-4970-ad9a-9d76fc0e4a80"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Link" ma:index="22" nillable="true" ma:displayName="Link" ma:format="Hyperlink" ma:internalName="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FolderID" ma:index="24" nillable="true" ma:displayName="Folder ID" ma:format="Dropdown" ma:indexed="true" ma:internalName="FolderID">
      <xsd:simpleType>
        <xsd:restriction base="dms:Text">
          <xsd:maxLength value="7"/>
        </xsd:restriction>
      </xsd:simpleType>
    </xsd:element>
    <xsd:element name="IndexNotes" ma:index="25" nillable="true" ma:displayName="Index Notes" ma:format="Dropdown" ma:internalName="IndexNotes">
      <xsd:simpleType>
        <xsd:restriction base="dms:Note">
          <xsd:maxLength value="255"/>
        </xsd:restriction>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ink xmlns="b84bd6f0-b398-4376-98cb-965c75119255">
      <Url xsi:nil="true"/>
      <Description xsi:nil="true"/>
    </Link>
    <FolderID xmlns="b84bd6f0-b398-4376-98cb-965c75119255" xsi:nil="true"/>
    <IndexNotes xmlns="b84bd6f0-b398-4376-98cb-965c75119255" xsi:nil="true"/>
    <TaxCatchAll xmlns="552914ee-e64f-4582-b9a1-99fdf20bc0e0" xsi:nil="true"/>
    <lcf76f155ced4ddcb4097134ff3c332f xmlns="b84bd6f0-b398-4376-98cb-965c7511925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C3A1940-1209-437D-AD63-3DA0E92F75F5}"/>
</file>

<file path=customXml/itemProps2.xml><?xml version="1.0" encoding="utf-8"?>
<ds:datastoreItem xmlns:ds="http://schemas.openxmlformats.org/officeDocument/2006/customXml" ds:itemID="{33AC7E99-800D-46D4-9582-4ED115B6A0D6}"/>
</file>

<file path=customXml/itemProps3.xml><?xml version="1.0" encoding="utf-8"?>
<ds:datastoreItem xmlns:ds="http://schemas.openxmlformats.org/officeDocument/2006/customXml" ds:itemID="{0EFD0667-C741-47FE-936D-9E49C613ED8C}"/>
</file>

<file path=docProps/app.xml><?xml version="1.0" encoding="utf-8"?>
<Properties xmlns="http://schemas.openxmlformats.org/officeDocument/2006/extended-properties" xmlns:vt="http://schemas.openxmlformats.org/officeDocument/2006/docPropsVTypes">
  <TotalTime>18866</TotalTime>
  <Words>3861</Words>
  <Application>Microsoft Office PowerPoint</Application>
  <PresentationFormat>Widescreen</PresentationFormat>
  <Paragraphs>574</Paragraphs>
  <Slides>66</Slides>
  <Notes>66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66</vt:i4>
      </vt:variant>
    </vt:vector>
  </HeadingPairs>
  <TitlesOfParts>
    <vt:vector size="75" baseType="lpstr">
      <vt:lpstr>Arial</vt:lpstr>
      <vt:lpstr>Bebas Neue</vt:lpstr>
      <vt:lpstr>Calibri</vt:lpstr>
      <vt:lpstr>Calibri Light</vt:lpstr>
      <vt:lpstr>Kollektif</vt:lpstr>
      <vt:lpstr>Segoe UI Black</vt:lpstr>
      <vt:lpstr>Segoe UI Light</vt:lpstr>
      <vt:lpstr>Slack-Lato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Mischke</dc:creator>
  <cp:lastModifiedBy>Lisa Rehurek | The RFP Success Company</cp:lastModifiedBy>
  <cp:revision>28</cp:revision>
  <cp:lastPrinted>2023-05-11T23:15:28Z</cp:lastPrinted>
  <dcterms:created xsi:type="dcterms:W3CDTF">2021-09-30T02:41:00Z</dcterms:created>
  <dcterms:modified xsi:type="dcterms:W3CDTF">2026-02-16T23:29:03Z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0x010100A3E9FF52EB6D854AB561DEBF8EA02427</vt:lpwstr>
  </property>
</Properties>
</file>