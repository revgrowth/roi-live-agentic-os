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8"/>
  </p:notesMasterIdLst>
  <p:sldIdLst>
    <p:sldId id="256" r:id="rId5"/>
    <p:sldId id="274" r:id="rId6"/>
    <p:sldId id="286" r:id="rId7"/>
    <p:sldId id="284" r:id="rId8"/>
    <p:sldId id="283" r:id="rId9"/>
    <p:sldId id="287" r:id="rId10"/>
    <p:sldId id="285" r:id="rId11"/>
    <p:sldId id="259" r:id="rId12"/>
    <p:sldId id="260" r:id="rId13"/>
    <p:sldId id="257" r:id="rId14"/>
    <p:sldId id="269" r:id="rId15"/>
    <p:sldId id="273" r:id="rId16"/>
    <p:sldId id="272" r:id="rId17"/>
    <p:sldId id="271" r:id="rId18"/>
    <p:sldId id="261" r:id="rId19"/>
    <p:sldId id="264" r:id="rId20"/>
    <p:sldId id="262" r:id="rId21"/>
    <p:sldId id="263" r:id="rId22"/>
    <p:sldId id="258" r:id="rId23"/>
    <p:sldId id="277" r:id="rId24"/>
    <p:sldId id="278" r:id="rId25"/>
    <p:sldId id="279" r:id="rId26"/>
    <p:sldId id="280"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7118302-6FB0-4651-9CC1-0E3C1AA91048}" v="2" dt="2026-01-26T23:47:35.888"/>
    <p1510:client id="{EF7E3365-6C79-4C9E-9F35-05DFED0AFA28}" v="1" dt="2026-02-16T23:55:48.7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81987" autoAdjust="0"/>
  </p:normalViewPr>
  <p:slideViewPr>
    <p:cSldViewPr snapToGrid="0">
      <p:cViewPr varScale="1">
        <p:scale>
          <a:sx n="132" d="100"/>
          <a:sy n="132" d="100"/>
        </p:scale>
        <p:origin x="132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 Id="rId8" Type="http://schemas.openxmlformats.org/officeDocument/2006/relationships/slide" Target="slides/slide4.xml"/></Relationships>
</file>

<file path=ppt/diagrams/_rels/data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9.svg"/></Relationships>
</file>

<file path=ppt/diagrams/_rels/drawing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svg"/><Relationship Id="rId1" Type="http://schemas.openxmlformats.org/officeDocument/2006/relationships/image" Target="../media/image7.png"/><Relationship Id="rId4" Type="http://schemas.openxmlformats.org/officeDocument/2006/relationships/image" Target="../media/image9.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accent3_2">
  <dgm:title val=""/>
  <dgm:desc val=""/>
  <dgm:catLst>
    <dgm:cat type="accent3" pri="13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a:alpha val="0"/>
      </a:schemeClr>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7F09FA3-E54C-4E62-8519-AAF61FD933EA}" type="doc">
      <dgm:prSet loTypeId="urn:microsoft.com/office/officeart/2005/8/layout/list1" loCatId="list" qsTypeId="urn:microsoft.com/office/officeart/2005/8/quickstyle/simple1" qsCatId="simple" csTypeId="urn:microsoft.com/office/officeart/2005/8/colors/colorful2" csCatId="colorful"/>
      <dgm:spPr/>
      <dgm:t>
        <a:bodyPr/>
        <a:lstStyle/>
        <a:p>
          <a:endParaRPr lang="en-US"/>
        </a:p>
      </dgm:t>
    </dgm:pt>
    <dgm:pt modelId="{D4E421BC-36DD-426B-A5DD-4BDBA4D838F2}">
      <dgm:prSet/>
      <dgm:spPr/>
      <dgm:t>
        <a:bodyPr/>
        <a:lstStyle/>
        <a:p>
          <a:r>
            <a:rPr lang="en-US"/>
            <a:t>Express (Avatar done)</a:t>
          </a:r>
        </a:p>
      </dgm:t>
    </dgm:pt>
    <dgm:pt modelId="{45851789-23D4-43DB-8BB3-31C9AAD766F1}" type="parTrans" cxnId="{76E63313-C8ED-478B-82D1-50F615FB3BFE}">
      <dgm:prSet/>
      <dgm:spPr/>
      <dgm:t>
        <a:bodyPr/>
        <a:lstStyle/>
        <a:p>
          <a:endParaRPr lang="en-US"/>
        </a:p>
      </dgm:t>
    </dgm:pt>
    <dgm:pt modelId="{D6A6D1DE-53E3-4A4C-A1E1-09E97347E5C2}" type="sibTrans" cxnId="{76E63313-C8ED-478B-82D1-50F615FB3BFE}">
      <dgm:prSet/>
      <dgm:spPr/>
      <dgm:t>
        <a:bodyPr/>
        <a:lstStyle/>
        <a:p>
          <a:endParaRPr lang="en-US"/>
        </a:p>
      </dgm:t>
    </dgm:pt>
    <dgm:pt modelId="{9B0CC79A-163C-4EB0-BB10-127DEA76630A}">
      <dgm:prSet/>
      <dgm:spPr/>
      <dgm:t>
        <a:bodyPr/>
        <a:lstStyle/>
        <a:p>
          <a:r>
            <a:rPr lang="en-US"/>
            <a:t>Upsell to library content or DFY Set-Up</a:t>
          </a:r>
        </a:p>
      </dgm:t>
    </dgm:pt>
    <dgm:pt modelId="{568B29DA-CA5F-4BFE-ABA7-286CAEB17FE7}" type="parTrans" cxnId="{CADF624D-79C7-40EF-8C83-BDEEC27A5DCC}">
      <dgm:prSet/>
      <dgm:spPr/>
      <dgm:t>
        <a:bodyPr/>
        <a:lstStyle/>
        <a:p>
          <a:endParaRPr lang="en-US"/>
        </a:p>
      </dgm:t>
    </dgm:pt>
    <dgm:pt modelId="{1F56A827-55AF-4EB6-8684-95283F0B0297}" type="sibTrans" cxnId="{CADF624D-79C7-40EF-8C83-BDEEC27A5DCC}">
      <dgm:prSet/>
      <dgm:spPr/>
      <dgm:t>
        <a:bodyPr/>
        <a:lstStyle/>
        <a:p>
          <a:endParaRPr lang="en-US"/>
        </a:p>
      </dgm:t>
    </dgm:pt>
    <dgm:pt modelId="{E6493519-C3B2-4D68-95EC-D9DAE034B01D}">
      <dgm:prSet/>
      <dgm:spPr/>
      <dgm:t>
        <a:bodyPr/>
        <a:lstStyle/>
        <a:p>
          <a:r>
            <a:rPr lang="en-US"/>
            <a:t>Audit Lite (Avatar done)</a:t>
          </a:r>
        </a:p>
      </dgm:t>
    </dgm:pt>
    <dgm:pt modelId="{A3A00C71-B47E-467C-8AC8-CCF274E377AD}" type="parTrans" cxnId="{C651FEAB-01FD-4146-B1F2-2AACFACDA10B}">
      <dgm:prSet/>
      <dgm:spPr/>
      <dgm:t>
        <a:bodyPr/>
        <a:lstStyle/>
        <a:p>
          <a:endParaRPr lang="en-US"/>
        </a:p>
      </dgm:t>
    </dgm:pt>
    <dgm:pt modelId="{09456B11-3ED4-4EBE-9623-7B5B4CB63DE1}" type="sibTrans" cxnId="{C651FEAB-01FD-4146-B1F2-2AACFACDA10B}">
      <dgm:prSet/>
      <dgm:spPr/>
      <dgm:t>
        <a:bodyPr/>
        <a:lstStyle/>
        <a:p>
          <a:endParaRPr lang="en-US"/>
        </a:p>
      </dgm:t>
    </dgm:pt>
    <dgm:pt modelId="{ED12AF65-C57C-445E-A7D7-E81DB9ADDE35}">
      <dgm:prSet/>
      <dgm:spPr/>
      <dgm:t>
        <a:bodyPr/>
        <a:lstStyle/>
        <a:p>
          <a:r>
            <a:rPr lang="en-US"/>
            <a:t>Upsell to Full Audit</a:t>
          </a:r>
        </a:p>
      </dgm:t>
    </dgm:pt>
    <dgm:pt modelId="{074599AB-AE34-463D-B8E1-EF80EE89B009}" type="parTrans" cxnId="{A2A8933F-498C-492D-AE09-161D55BD017C}">
      <dgm:prSet/>
      <dgm:spPr/>
      <dgm:t>
        <a:bodyPr/>
        <a:lstStyle/>
        <a:p>
          <a:endParaRPr lang="en-US"/>
        </a:p>
      </dgm:t>
    </dgm:pt>
    <dgm:pt modelId="{7B22721B-B0C6-4E02-BA87-B9D5C18FA0D2}" type="sibTrans" cxnId="{A2A8933F-498C-492D-AE09-161D55BD017C}">
      <dgm:prSet/>
      <dgm:spPr/>
      <dgm:t>
        <a:bodyPr/>
        <a:lstStyle/>
        <a:p>
          <a:endParaRPr lang="en-US"/>
        </a:p>
      </dgm:t>
    </dgm:pt>
    <dgm:pt modelId="{C13EBF55-5979-49FD-BECF-D14916CE937C}">
      <dgm:prSet/>
      <dgm:spPr/>
      <dgm:t>
        <a:bodyPr/>
        <a:lstStyle/>
        <a:p>
          <a:r>
            <a:rPr lang="en-US" dirty="0"/>
            <a:t>Content Library (need to talk to Cheri)</a:t>
          </a:r>
        </a:p>
      </dgm:t>
    </dgm:pt>
    <dgm:pt modelId="{2998C541-B35A-4123-81DE-BCDBEAB366BA}" type="parTrans" cxnId="{86FF4D73-932E-4295-B45B-F5695C430FB6}">
      <dgm:prSet/>
      <dgm:spPr/>
      <dgm:t>
        <a:bodyPr/>
        <a:lstStyle/>
        <a:p>
          <a:endParaRPr lang="en-US"/>
        </a:p>
      </dgm:t>
    </dgm:pt>
    <dgm:pt modelId="{6CE40323-BADC-43B9-A108-121119CA8E76}" type="sibTrans" cxnId="{86FF4D73-932E-4295-B45B-F5695C430FB6}">
      <dgm:prSet/>
      <dgm:spPr/>
      <dgm:t>
        <a:bodyPr/>
        <a:lstStyle/>
        <a:p>
          <a:endParaRPr lang="en-US"/>
        </a:p>
      </dgm:t>
    </dgm:pt>
    <dgm:pt modelId="{41727000-5FE3-4220-842A-7EB80A5F02F7}">
      <dgm:prSet/>
      <dgm:spPr/>
      <dgm:t>
        <a:bodyPr/>
        <a:lstStyle/>
        <a:p>
          <a:r>
            <a:rPr lang="en-US"/>
            <a:t>Upsell to Compliance / Strategic Review</a:t>
          </a:r>
        </a:p>
      </dgm:t>
    </dgm:pt>
    <dgm:pt modelId="{CCCABFC1-B422-442E-8EB7-D25EE274D21C}" type="parTrans" cxnId="{C3492F9A-CF0C-4C99-8812-4FFD1A4A6E44}">
      <dgm:prSet/>
      <dgm:spPr/>
      <dgm:t>
        <a:bodyPr/>
        <a:lstStyle/>
        <a:p>
          <a:endParaRPr lang="en-US"/>
        </a:p>
      </dgm:t>
    </dgm:pt>
    <dgm:pt modelId="{9826DAE2-5CD3-4DA5-91FE-55DBC9F35E49}" type="sibTrans" cxnId="{C3492F9A-CF0C-4C99-8812-4FFD1A4A6E44}">
      <dgm:prSet/>
      <dgm:spPr/>
      <dgm:t>
        <a:bodyPr/>
        <a:lstStyle/>
        <a:p>
          <a:endParaRPr lang="en-US"/>
        </a:p>
      </dgm:t>
    </dgm:pt>
    <dgm:pt modelId="{E37E5802-0B79-4C01-9273-EFF7DFDEF6F0}">
      <dgm:prSet/>
      <dgm:spPr/>
      <dgm:t>
        <a:bodyPr/>
        <a:lstStyle/>
        <a:p>
          <a:r>
            <a:rPr lang="en-US"/>
            <a:t>Compliance / Strategic Review (need to talk to Cheri) </a:t>
          </a:r>
        </a:p>
      </dgm:t>
    </dgm:pt>
    <dgm:pt modelId="{099AF445-3579-471E-B9BA-D6202D898246}" type="parTrans" cxnId="{801A16A9-DDCE-453B-8F55-D3D74D34058D}">
      <dgm:prSet/>
      <dgm:spPr/>
      <dgm:t>
        <a:bodyPr/>
        <a:lstStyle/>
        <a:p>
          <a:endParaRPr lang="en-US"/>
        </a:p>
      </dgm:t>
    </dgm:pt>
    <dgm:pt modelId="{C6184663-77E9-4924-8EDF-90B06EC1E158}" type="sibTrans" cxnId="{801A16A9-DDCE-453B-8F55-D3D74D34058D}">
      <dgm:prSet/>
      <dgm:spPr/>
      <dgm:t>
        <a:bodyPr/>
        <a:lstStyle/>
        <a:p>
          <a:endParaRPr lang="en-US"/>
        </a:p>
      </dgm:t>
    </dgm:pt>
    <dgm:pt modelId="{F4D213E2-5BC4-44B1-8AE8-FC824368B2C3}" type="pres">
      <dgm:prSet presAssocID="{D7F09FA3-E54C-4E62-8519-AAF61FD933EA}" presName="linear" presStyleCnt="0">
        <dgm:presLayoutVars>
          <dgm:dir/>
          <dgm:animLvl val="lvl"/>
          <dgm:resizeHandles val="exact"/>
        </dgm:presLayoutVars>
      </dgm:prSet>
      <dgm:spPr/>
    </dgm:pt>
    <dgm:pt modelId="{C521E06C-7A7D-44C4-A745-8B82EAC55AB0}" type="pres">
      <dgm:prSet presAssocID="{D4E421BC-36DD-426B-A5DD-4BDBA4D838F2}" presName="parentLin" presStyleCnt="0"/>
      <dgm:spPr/>
    </dgm:pt>
    <dgm:pt modelId="{F761313E-C05D-4A89-9251-E5A0E6B32AA5}" type="pres">
      <dgm:prSet presAssocID="{D4E421BC-36DD-426B-A5DD-4BDBA4D838F2}" presName="parentLeftMargin" presStyleLbl="node1" presStyleIdx="0" presStyleCnt="4"/>
      <dgm:spPr/>
    </dgm:pt>
    <dgm:pt modelId="{9E3A8CBB-B1E9-46CB-9AE4-5086A86AD581}" type="pres">
      <dgm:prSet presAssocID="{D4E421BC-36DD-426B-A5DD-4BDBA4D838F2}" presName="parentText" presStyleLbl="node1" presStyleIdx="0" presStyleCnt="4">
        <dgm:presLayoutVars>
          <dgm:chMax val="0"/>
          <dgm:bulletEnabled val="1"/>
        </dgm:presLayoutVars>
      </dgm:prSet>
      <dgm:spPr/>
    </dgm:pt>
    <dgm:pt modelId="{15218026-2100-4D07-A90A-A6A404BB34DF}" type="pres">
      <dgm:prSet presAssocID="{D4E421BC-36DD-426B-A5DD-4BDBA4D838F2}" presName="negativeSpace" presStyleCnt="0"/>
      <dgm:spPr/>
    </dgm:pt>
    <dgm:pt modelId="{46401EAB-BE5A-4964-8638-E1268B33F574}" type="pres">
      <dgm:prSet presAssocID="{D4E421BC-36DD-426B-A5DD-4BDBA4D838F2}" presName="childText" presStyleLbl="conFgAcc1" presStyleIdx="0" presStyleCnt="4">
        <dgm:presLayoutVars>
          <dgm:bulletEnabled val="1"/>
        </dgm:presLayoutVars>
      </dgm:prSet>
      <dgm:spPr/>
    </dgm:pt>
    <dgm:pt modelId="{A16D79DD-8CA4-447E-BECB-7602A1F83E10}" type="pres">
      <dgm:prSet presAssocID="{D6A6D1DE-53E3-4A4C-A1E1-09E97347E5C2}" presName="spaceBetweenRectangles" presStyleCnt="0"/>
      <dgm:spPr/>
    </dgm:pt>
    <dgm:pt modelId="{96C6F437-3178-4B01-A79A-15F0DBE77DE1}" type="pres">
      <dgm:prSet presAssocID="{E6493519-C3B2-4D68-95EC-D9DAE034B01D}" presName="parentLin" presStyleCnt="0"/>
      <dgm:spPr/>
    </dgm:pt>
    <dgm:pt modelId="{7CBAE6DC-201C-41CF-80EF-5FEB4170A6AD}" type="pres">
      <dgm:prSet presAssocID="{E6493519-C3B2-4D68-95EC-D9DAE034B01D}" presName="parentLeftMargin" presStyleLbl="node1" presStyleIdx="0" presStyleCnt="4"/>
      <dgm:spPr/>
    </dgm:pt>
    <dgm:pt modelId="{54479665-FA46-4596-8003-87DDFE13BE25}" type="pres">
      <dgm:prSet presAssocID="{E6493519-C3B2-4D68-95EC-D9DAE034B01D}" presName="parentText" presStyleLbl="node1" presStyleIdx="1" presStyleCnt="4">
        <dgm:presLayoutVars>
          <dgm:chMax val="0"/>
          <dgm:bulletEnabled val="1"/>
        </dgm:presLayoutVars>
      </dgm:prSet>
      <dgm:spPr/>
    </dgm:pt>
    <dgm:pt modelId="{2C78A596-76CA-43D9-80D2-67E79075BAFB}" type="pres">
      <dgm:prSet presAssocID="{E6493519-C3B2-4D68-95EC-D9DAE034B01D}" presName="negativeSpace" presStyleCnt="0"/>
      <dgm:spPr/>
    </dgm:pt>
    <dgm:pt modelId="{CE915C0E-CDBA-412A-96C4-ABAEE78FC8EE}" type="pres">
      <dgm:prSet presAssocID="{E6493519-C3B2-4D68-95EC-D9DAE034B01D}" presName="childText" presStyleLbl="conFgAcc1" presStyleIdx="1" presStyleCnt="4">
        <dgm:presLayoutVars>
          <dgm:bulletEnabled val="1"/>
        </dgm:presLayoutVars>
      </dgm:prSet>
      <dgm:spPr/>
    </dgm:pt>
    <dgm:pt modelId="{A6983454-6B5F-4355-A6DB-A830DF97E100}" type="pres">
      <dgm:prSet presAssocID="{09456B11-3ED4-4EBE-9623-7B5B4CB63DE1}" presName="spaceBetweenRectangles" presStyleCnt="0"/>
      <dgm:spPr/>
    </dgm:pt>
    <dgm:pt modelId="{23838078-94A2-4D7B-B85D-394422705974}" type="pres">
      <dgm:prSet presAssocID="{C13EBF55-5979-49FD-BECF-D14916CE937C}" presName="parentLin" presStyleCnt="0"/>
      <dgm:spPr/>
    </dgm:pt>
    <dgm:pt modelId="{DB443399-F58F-4D4F-8E39-5701C497A157}" type="pres">
      <dgm:prSet presAssocID="{C13EBF55-5979-49FD-BECF-D14916CE937C}" presName="parentLeftMargin" presStyleLbl="node1" presStyleIdx="1" presStyleCnt="4"/>
      <dgm:spPr/>
    </dgm:pt>
    <dgm:pt modelId="{92532A82-5638-41C8-BC24-84320E9CA764}" type="pres">
      <dgm:prSet presAssocID="{C13EBF55-5979-49FD-BECF-D14916CE937C}" presName="parentText" presStyleLbl="node1" presStyleIdx="2" presStyleCnt="4">
        <dgm:presLayoutVars>
          <dgm:chMax val="0"/>
          <dgm:bulletEnabled val="1"/>
        </dgm:presLayoutVars>
      </dgm:prSet>
      <dgm:spPr/>
    </dgm:pt>
    <dgm:pt modelId="{6BCA4DFC-1074-435E-A8A1-3672FFA57F80}" type="pres">
      <dgm:prSet presAssocID="{C13EBF55-5979-49FD-BECF-D14916CE937C}" presName="negativeSpace" presStyleCnt="0"/>
      <dgm:spPr/>
    </dgm:pt>
    <dgm:pt modelId="{6FDFEE3F-11C8-4572-BA15-BDEF5D53F053}" type="pres">
      <dgm:prSet presAssocID="{C13EBF55-5979-49FD-BECF-D14916CE937C}" presName="childText" presStyleLbl="conFgAcc1" presStyleIdx="2" presStyleCnt="4">
        <dgm:presLayoutVars>
          <dgm:bulletEnabled val="1"/>
        </dgm:presLayoutVars>
      </dgm:prSet>
      <dgm:spPr/>
    </dgm:pt>
    <dgm:pt modelId="{34B66992-E571-4F18-821E-493A53CBFC03}" type="pres">
      <dgm:prSet presAssocID="{6CE40323-BADC-43B9-A108-121119CA8E76}" presName="spaceBetweenRectangles" presStyleCnt="0"/>
      <dgm:spPr/>
    </dgm:pt>
    <dgm:pt modelId="{58766E9C-7C70-4A9B-8972-C22723E7CF25}" type="pres">
      <dgm:prSet presAssocID="{E37E5802-0B79-4C01-9273-EFF7DFDEF6F0}" presName="parentLin" presStyleCnt="0"/>
      <dgm:spPr/>
    </dgm:pt>
    <dgm:pt modelId="{B4DA05D6-A351-4DFB-A8ED-8692C4DF64A9}" type="pres">
      <dgm:prSet presAssocID="{E37E5802-0B79-4C01-9273-EFF7DFDEF6F0}" presName="parentLeftMargin" presStyleLbl="node1" presStyleIdx="2" presStyleCnt="4"/>
      <dgm:spPr/>
    </dgm:pt>
    <dgm:pt modelId="{6D99CFD0-4A8E-4608-82B7-A0697697781B}" type="pres">
      <dgm:prSet presAssocID="{E37E5802-0B79-4C01-9273-EFF7DFDEF6F0}" presName="parentText" presStyleLbl="node1" presStyleIdx="3" presStyleCnt="4">
        <dgm:presLayoutVars>
          <dgm:chMax val="0"/>
          <dgm:bulletEnabled val="1"/>
        </dgm:presLayoutVars>
      </dgm:prSet>
      <dgm:spPr/>
    </dgm:pt>
    <dgm:pt modelId="{81BEAE3B-5667-4254-8AE9-DDA18CA2C11D}" type="pres">
      <dgm:prSet presAssocID="{E37E5802-0B79-4C01-9273-EFF7DFDEF6F0}" presName="negativeSpace" presStyleCnt="0"/>
      <dgm:spPr/>
    </dgm:pt>
    <dgm:pt modelId="{FD1CCE3B-E7D7-4D2D-B8B9-4319EAA3FDD8}" type="pres">
      <dgm:prSet presAssocID="{E37E5802-0B79-4C01-9273-EFF7DFDEF6F0}" presName="childText" presStyleLbl="conFgAcc1" presStyleIdx="3" presStyleCnt="4">
        <dgm:presLayoutVars>
          <dgm:bulletEnabled val="1"/>
        </dgm:presLayoutVars>
      </dgm:prSet>
      <dgm:spPr/>
    </dgm:pt>
  </dgm:ptLst>
  <dgm:cxnLst>
    <dgm:cxn modelId="{76E63313-C8ED-478B-82D1-50F615FB3BFE}" srcId="{D7F09FA3-E54C-4E62-8519-AAF61FD933EA}" destId="{D4E421BC-36DD-426B-A5DD-4BDBA4D838F2}" srcOrd="0" destOrd="0" parTransId="{45851789-23D4-43DB-8BB3-31C9AAD766F1}" sibTransId="{D6A6D1DE-53E3-4A4C-A1E1-09E97347E5C2}"/>
    <dgm:cxn modelId="{733FC123-04D3-4989-BEB3-6F56B2E2C02D}" type="presOf" srcId="{E6493519-C3B2-4D68-95EC-D9DAE034B01D}" destId="{54479665-FA46-4596-8003-87DDFE13BE25}" srcOrd="1" destOrd="0" presId="urn:microsoft.com/office/officeart/2005/8/layout/list1"/>
    <dgm:cxn modelId="{A2A8933F-498C-492D-AE09-161D55BD017C}" srcId="{E6493519-C3B2-4D68-95EC-D9DAE034B01D}" destId="{ED12AF65-C57C-445E-A7D7-E81DB9ADDE35}" srcOrd="0" destOrd="0" parTransId="{074599AB-AE34-463D-B8E1-EF80EE89B009}" sibTransId="{7B22721B-B0C6-4E02-BA87-B9D5C18FA0D2}"/>
    <dgm:cxn modelId="{95BE1061-D7AC-415E-BBAC-1061D9C7DECC}" type="presOf" srcId="{D4E421BC-36DD-426B-A5DD-4BDBA4D838F2}" destId="{F761313E-C05D-4A89-9251-E5A0E6B32AA5}" srcOrd="0" destOrd="0" presId="urn:microsoft.com/office/officeart/2005/8/layout/list1"/>
    <dgm:cxn modelId="{AAD36D43-DA71-449C-A5BD-E659767542F6}" type="presOf" srcId="{D7F09FA3-E54C-4E62-8519-AAF61FD933EA}" destId="{F4D213E2-5BC4-44B1-8AE8-FC824368B2C3}" srcOrd="0" destOrd="0" presId="urn:microsoft.com/office/officeart/2005/8/layout/list1"/>
    <dgm:cxn modelId="{84EF2D49-4ED4-4516-BB4F-329F34C30AC9}" type="presOf" srcId="{C13EBF55-5979-49FD-BECF-D14916CE937C}" destId="{DB443399-F58F-4D4F-8E39-5701C497A157}" srcOrd="0" destOrd="0" presId="urn:microsoft.com/office/officeart/2005/8/layout/list1"/>
    <dgm:cxn modelId="{CADF624D-79C7-40EF-8C83-BDEEC27A5DCC}" srcId="{D4E421BC-36DD-426B-A5DD-4BDBA4D838F2}" destId="{9B0CC79A-163C-4EB0-BB10-127DEA76630A}" srcOrd="0" destOrd="0" parTransId="{568B29DA-CA5F-4BFE-ABA7-286CAEB17FE7}" sibTransId="{1F56A827-55AF-4EB6-8684-95283F0B0297}"/>
    <dgm:cxn modelId="{86FF4D73-932E-4295-B45B-F5695C430FB6}" srcId="{D7F09FA3-E54C-4E62-8519-AAF61FD933EA}" destId="{C13EBF55-5979-49FD-BECF-D14916CE937C}" srcOrd="2" destOrd="0" parTransId="{2998C541-B35A-4123-81DE-BCDBEAB366BA}" sibTransId="{6CE40323-BADC-43B9-A108-121119CA8E76}"/>
    <dgm:cxn modelId="{4F881F78-58CF-4221-A3F8-C32E9DC420FF}" type="presOf" srcId="{C13EBF55-5979-49FD-BECF-D14916CE937C}" destId="{92532A82-5638-41C8-BC24-84320E9CA764}" srcOrd="1" destOrd="0" presId="urn:microsoft.com/office/officeart/2005/8/layout/list1"/>
    <dgm:cxn modelId="{98D1A18A-F287-4148-ABB3-4DE94CC3525C}" type="presOf" srcId="{ED12AF65-C57C-445E-A7D7-E81DB9ADDE35}" destId="{CE915C0E-CDBA-412A-96C4-ABAEE78FC8EE}" srcOrd="0" destOrd="0" presId="urn:microsoft.com/office/officeart/2005/8/layout/list1"/>
    <dgm:cxn modelId="{C3492F9A-CF0C-4C99-8812-4FFD1A4A6E44}" srcId="{C13EBF55-5979-49FD-BECF-D14916CE937C}" destId="{41727000-5FE3-4220-842A-7EB80A5F02F7}" srcOrd="0" destOrd="0" parTransId="{CCCABFC1-B422-442E-8EB7-D25EE274D21C}" sibTransId="{9826DAE2-5CD3-4DA5-91FE-55DBC9F35E49}"/>
    <dgm:cxn modelId="{801A16A9-DDCE-453B-8F55-D3D74D34058D}" srcId="{D7F09FA3-E54C-4E62-8519-AAF61FD933EA}" destId="{E37E5802-0B79-4C01-9273-EFF7DFDEF6F0}" srcOrd="3" destOrd="0" parTransId="{099AF445-3579-471E-B9BA-D6202D898246}" sibTransId="{C6184663-77E9-4924-8EDF-90B06EC1E158}"/>
    <dgm:cxn modelId="{C651FEAB-01FD-4146-B1F2-2AACFACDA10B}" srcId="{D7F09FA3-E54C-4E62-8519-AAF61FD933EA}" destId="{E6493519-C3B2-4D68-95EC-D9DAE034B01D}" srcOrd="1" destOrd="0" parTransId="{A3A00C71-B47E-467C-8AC8-CCF274E377AD}" sibTransId="{09456B11-3ED4-4EBE-9623-7B5B4CB63DE1}"/>
    <dgm:cxn modelId="{3E1CB8C4-AD59-4C76-96A5-1E953272282F}" type="presOf" srcId="{41727000-5FE3-4220-842A-7EB80A5F02F7}" destId="{6FDFEE3F-11C8-4572-BA15-BDEF5D53F053}" srcOrd="0" destOrd="0" presId="urn:microsoft.com/office/officeart/2005/8/layout/list1"/>
    <dgm:cxn modelId="{68AAF8C6-6A05-4B1A-9ABE-442E17B6BC84}" type="presOf" srcId="{E37E5802-0B79-4C01-9273-EFF7DFDEF6F0}" destId="{B4DA05D6-A351-4DFB-A8ED-8692C4DF64A9}" srcOrd="0" destOrd="0" presId="urn:microsoft.com/office/officeart/2005/8/layout/list1"/>
    <dgm:cxn modelId="{AB3E3CDA-EA3A-4AA7-97E0-F5CB197D1432}" type="presOf" srcId="{9B0CC79A-163C-4EB0-BB10-127DEA76630A}" destId="{46401EAB-BE5A-4964-8638-E1268B33F574}" srcOrd="0" destOrd="0" presId="urn:microsoft.com/office/officeart/2005/8/layout/list1"/>
    <dgm:cxn modelId="{F4FCC4E0-EC75-40CD-A7ED-649658CC6A2B}" type="presOf" srcId="{E6493519-C3B2-4D68-95EC-D9DAE034B01D}" destId="{7CBAE6DC-201C-41CF-80EF-5FEB4170A6AD}" srcOrd="0" destOrd="0" presId="urn:microsoft.com/office/officeart/2005/8/layout/list1"/>
    <dgm:cxn modelId="{9AB0B9F4-B84C-4FA6-8FBB-6BF9E80CF94F}" type="presOf" srcId="{E37E5802-0B79-4C01-9273-EFF7DFDEF6F0}" destId="{6D99CFD0-4A8E-4608-82B7-A0697697781B}" srcOrd="1" destOrd="0" presId="urn:microsoft.com/office/officeart/2005/8/layout/list1"/>
    <dgm:cxn modelId="{BED985F9-BAAF-4B47-BD81-3698891D8F67}" type="presOf" srcId="{D4E421BC-36DD-426B-A5DD-4BDBA4D838F2}" destId="{9E3A8CBB-B1E9-46CB-9AE4-5086A86AD581}" srcOrd="1" destOrd="0" presId="urn:microsoft.com/office/officeart/2005/8/layout/list1"/>
    <dgm:cxn modelId="{43157AF0-0EC8-4AB0-AF8B-7A776C03FC11}" type="presParOf" srcId="{F4D213E2-5BC4-44B1-8AE8-FC824368B2C3}" destId="{C521E06C-7A7D-44C4-A745-8B82EAC55AB0}" srcOrd="0" destOrd="0" presId="urn:microsoft.com/office/officeart/2005/8/layout/list1"/>
    <dgm:cxn modelId="{06EB91EF-A444-423F-B6E4-77CC1708FAEA}" type="presParOf" srcId="{C521E06C-7A7D-44C4-A745-8B82EAC55AB0}" destId="{F761313E-C05D-4A89-9251-E5A0E6B32AA5}" srcOrd="0" destOrd="0" presId="urn:microsoft.com/office/officeart/2005/8/layout/list1"/>
    <dgm:cxn modelId="{7C86EC4C-9731-4CCB-BE53-E3DE30EE6CE2}" type="presParOf" srcId="{C521E06C-7A7D-44C4-A745-8B82EAC55AB0}" destId="{9E3A8CBB-B1E9-46CB-9AE4-5086A86AD581}" srcOrd="1" destOrd="0" presId="urn:microsoft.com/office/officeart/2005/8/layout/list1"/>
    <dgm:cxn modelId="{C357FAD1-5B5F-4ED6-9F9C-5CFB0282759E}" type="presParOf" srcId="{F4D213E2-5BC4-44B1-8AE8-FC824368B2C3}" destId="{15218026-2100-4D07-A90A-A6A404BB34DF}" srcOrd="1" destOrd="0" presId="urn:microsoft.com/office/officeart/2005/8/layout/list1"/>
    <dgm:cxn modelId="{A452EF85-E5FB-47CB-B91A-85A6DFC55F63}" type="presParOf" srcId="{F4D213E2-5BC4-44B1-8AE8-FC824368B2C3}" destId="{46401EAB-BE5A-4964-8638-E1268B33F574}" srcOrd="2" destOrd="0" presId="urn:microsoft.com/office/officeart/2005/8/layout/list1"/>
    <dgm:cxn modelId="{CCA05658-B169-4C5D-B4A8-0A403933712A}" type="presParOf" srcId="{F4D213E2-5BC4-44B1-8AE8-FC824368B2C3}" destId="{A16D79DD-8CA4-447E-BECB-7602A1F83E10}" srcOrd="3" destOrd="0" presId="urn:microsoft.com/office/officeart/2005/8/layout/list1"/>
    <dgm:cxn modelId="{68087AE2-B20C-4446-99D6-12F189DC3B98}" type="presParOf" srcId="{F4D213E2-5BC4-44B1-8AE8-FC824368B2C3}" destId="{96C6F437-3178-4B01-A79A-15F0DBE77DE1}" srcOrd="4" destOrd="0" presId="urn:microsoft.com/office/officeart/2005/8/layout/list1"/>
    <dgm:cxn modelId="{9C14D2A3-2889-4AEE-AF4D-126724163A4E}" type="presParOf" srcId="{96C6F437-3178-4B01-A79A-15F0DBE77DE1}" destId="{7CBAE6DC-201C-41CF-80EF-5FEB4170A6AD}" srcOrd="0" destOrd="0" presId="urn:microsoft.com/office/officeart/2005/8/layout/list1"/>
    <dgm:cxn modelId="{B1B24CED-863E-4837-96C1-37015F4865D0}" type="presParOf" srcId="{96C6F437-3178-4B01-A79A-15F0DBE77DE1}" destId="{54479665-FA46-4596-8003-87DDFE13BE25}" srcOrd="1" destOrd="0" presId="urn:microsoft.com/office/officeart/2005/8/layout/list1"/>
    <dgm:cxn modelId="{CED408F6-774F-465F-AD2C-C6BAD710AB84}" type="presParOf" srcId="{F4D213E2-5BC4-44B1-8AE8-FC824368B2C3}" destId="{2C78A596-76CA-43D9-80D2-67E79075BAFB}" srcOrd="5" destOrd="0" presId="urn:microsoft.com/office/officeart/2005/8/layout/list1"/>
    <dgm:cxn modelId="{F0ED0B20-DDBA-4C40-BF1E-75872DBF876F}" type="presParOf" srcId="{F4D213E2-5BC4-44B1-8AE8-FC824368B2C3}" destId="{CE915C0E-CDBA-412A-96C4-ABAEE78FC8EE}" srcOrd="6" destOrd="0" presId="urn:microsoft.com/office/officeart/2005/8/layout/list1"/>
    <dgm:cxn modelId="{7EAE90AC-9E82-4A42-893B-862BB51A5578}" type="presParOf" srcId="{F4D213E2-5BC4-44B1-8AE8-FC824368B2C3}" destId="{A6983454-6B5F-4355-A6DB-A830DF97E100}" srcOrd="7" destOrd="0" presId="urn:microsoft.com/office/officeart/2005/8/layout/list1"/>
    <dgm:cxn modelId="{CF57100B-F4CE-4D05-9F82-948F351491A4}" type="presParOf" srcId="{F4D213E2-5BC4-44B1-8AE8-FC824368B2C3}" destId="{23838078-94A2-4D7B-B85D-394422705974}" srcOrd="8" destOrd="0" presId="urn:microsoft.com/office/officeart/2005/8/layout/list1"/>
    <dgm:cxn modelId="{E4BA8799-10F8-4F07-B83E-5BE43370522E}" type="presParOf" srcId="{23838078-94A2-4D7B-B85D-394422705974}" destId="{DB443399-F58F-4D4F-8E39-5701C497A157}" srcOrd="0" destOrd="0" presId="urn:microsoft.com/office/officeart/2005/8/layout/list1"/>
    <dgm:cxn modelId="{B3DEF8BB-3A29-42EC-8007-81370799C4D0}" type="presParOf" srcId="{23838078-94A2-4D7B-B85D-394422705974}" destId="{92532A82-5638-41C8-BC24-84320E9CA764}" srcOrd="1" destOrd="0" presId="urn:microsoft.com/office/officeart/2005/8/layout/list1"/>
    <dgm:cxn modelId="{38A3C854-AB2C-4834-B1ED-A94FEBCC4CD3}" type="presParOf" srcId="{F4D213E2-5BC4-44B1-8AE8-FC824368B2C3}" destId="{6BCA4DFC-1074-435E-A8A1-3672FFA57F80}" srcOrd="9" destOrd="0" presId="urn:microsoft.com/office/officeart/2005/8/layout/list1"/>
    <dgm:cxn modelId="{3DF6E219-2DA5-42F1-87D1-F5AFD4CC0232}" type="presParOf" srcId="{F4D213E2-5BC4-44B1-8AE8-FC824368B2C3}" destId="{6FDFEE3F-11C8-4572-BA15-BDEF5D53F053}" srcOrd="10" destOrd="0" presId="urn:microsoft.com/office/officeart/2005/8/layout/list1"/>
    <dgm:cxn modelId="{7CF7B02A-5DD9-4D2C-88D6-DB242D7B9865}" type="presParOf" srcId="{F4D213E2-5BC4-44B1-8AE8-FC824368B2C3}" destId="{34B66992-E571-4F18-821E-493A53CBFC03}" srcOrd="11" destOrd="0" presId="urn:microsoft.com/office/officeart/2005/8/layout/list1"/>
    <dgm:cxn modelId="{6982BAC7-B2B8-415F-AEE4-01ED354A5528}" type="presParOf" srcId="{F4D213E2-5BC4-44B1-8AE8-FC824368B2C3}" destId="{58766E9C-7C70-4A9B-8972-C22723E7CF25}" srcOrd="12" destOrd="0" presId="urn:microsoft.com/office/officeart/2005/8/layout/list1"/>
    <dgm:cxn modelId="{BB7C45CE-2A59-41B3-AC50-00FF3C3A0723}" type="presParOf" srcId="{58766E9C-7C70-4A9B-8972-C22723E7CF25}" destId="{B4DA05D6-A351-4DFB-A8ED-8692C4DF64A9}" srcOrd="0" destOrd="0" presId="urn:microsoft.com/office/officeart/2005/8/layout/list1"/>
    <dgm:cxn modelId="{6A2A2B9E-102F-4764-93ED-8D54CFD9DBDF}" type="presParOf" srcId="{58766E9C-7C70-4A9B-8972-C22723E7CF25}" destId="{6D99CFD0-4A8E-4608-82B7-A0697697781B}" srcOrd="1" destOrd="0" presId="urn:microsoft.com/office/officeart/2005/8/layout/list1"/>
    <dgm:cxn modelId="{297F1030-8D0B-40AE-8EC3-C98D2F9986D1}" type="presParOf" srcId="{F4D213E2-5BC4-44B1-8AE8-FC824368B2C3}" destId="{81BEAE3B-5667-4254-8AE9-DDA18CA2C11D}" srcOrd="13" destOrd="0" presId="urn:microsoft.com/office/officeart/2005/8/layout/list1"/>
    <dgm:cxn modelId="{64D0428B-CEA6-4416-917F-5C4F88DFC337}" type="presParOf" srcId="{F4D213E2-5BC4-44B1-8AE8-FC824368B2C3}" destId="{FD1CCE3B-E7D7-4D2D-B8B9-4319EAA3FDD8}" srcOrd="14"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C1F5159-7CEE-4F1A-867F-465BE41B62E7}"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345F2645-56AA-4524-A951-BADA9D1BE144}">
      <dgm:prSet/>
      <dgm:spPr/>
      <dgm:t>
        <a:bodyPr/>
        <a:lstStyle/>
        <a:p>
          <a:r>
            <a:rPr lang="en-US"/>
            <a:t>Full Response Mgmt (Avatar done; Strategy in process)</a:t>
          </a:r>
        </a:p>
      </dgm:t>
    </dgm:pt>
    <dgm:pt modelId="{014DB59B-55C0-4DA0-B8BB-9230F647886F}" type="parTrans" cxnId="{B7662FC3-BE2D-412F-BFE2-20E6A7FF2318}">
      <dgm:prSet/>
      <dgm:spPr/>
      <dgm:t>
        <a:bodyPr/>
        <a:lstStyle/>
        <a:p>
          <a:endParaRPr lang="en-US"/>
        </a:p>
      </dgm:t>
    </dgm:pt>
    <dgm:pt modelId="{3EE1EF50-8A6E-46CA-8EF7-0470E6A6C091}" type="sibTrans" cxnId="{B7662FC3-BE2D-412F-BFE2-20E6A7FF2318}">
      <dgm:prSet/>
      <dgm:spPr/>
      <dgm:t>
        <a:bodyPr/>
        <a:lstStyle/>
        <a:p>
          <a:endParaRPr lang="en-US"/>
        </a:p>
      </dgm:t>
    </dgm:pt>
    <dgm:pt modelId="{F175E7D4-0E4D-4730-899A-A09662091DDE}">
      <dgm:prSet/>
      <dgm:spPr/>
      <dgm:t>
        <a:bodyPr/>
        <a:lstStyle/>
        <a:p>
          <a:r>
            <a:rPr lang="en-US"/>
            <a:t>Content Refinement</a:t>
          </a:r>
        </a:p>
      </dgm:t>
    </dgm:pt>
    <dgm:pt modelId="{D5513AAB-35F2-4D34-BAC1-2FC341049268}" type="parTrans" cxnId="{05C31BA7-5FDD-4DFE-B243-6BEA62204CFC}">
      <dgm:prSet/>
      <dgm:spPr/>
      <dgm:t>
        <a:bodyPr/>
        <a:lstStyle/>
        <a:p>
          <a:endParaRPr lang="en-US"/>
        </a:p>
      </dgm:t>
    </dgm:pt>
    <dgm:pt modelId="{A0778A63-F74B-49E3-98F5-544BEAC2B908}" type="sibTrans" cxnId="{05C31BA7-5FDD-4DFE-B243-6BEA62204CFC}">
      <dgm:prSet/>
      <dgm:spPr/>
      <dgm:t>
        <a:bodyPr/>
        <a:lstStyle/>
        <a:p>
          <a:endParaRPr lang="en-US"/>
        </a:p>
      </dgm:t>
    </dgm:pt>
    <dgm:pt modelId="{E3BA1613-41EE-4EF2-A99E-F16A763127B6}">
      <dgm:prSet/>
      <dgm:spPr/>
      <dgm:t>
        <a:bodyPr/>
        <a:lstStyle/>
        <a:p>
          <a:r>
            <a:rPr lang="en-US"/>
            <a:t>Upsell to Full Response Mgmt</a:t>
          </a:r>
        </a:p>
      </dgm:t>
    </dgm:pt>
    <dgm:pt modelId="{67E0ADCE-F140-413A-9ADA-12B8BD9F16DA}" type="parTrans" cxnId="{A5D77B34-704F-4864-81AE-20D1D6E05208}">
      <dgm:prSet/>
      <dgm:spPr/>
      <dgm:t>
        <a:bodyPr/>
        <a:lstStyle/>
        <a:p>
          <a:endParaRPr lang="en-US"/>
        </a:p>
      </dgm:t>
    </dgm:pt>
    <dgm:pt modelId="{57E25B12-53CB-4A1A-9C43-E99D4FD02A29}" type="sibTrans" cxnId="{A5D77B34-704F-4864-81AE-20D1D6E05208}">
      <dgm:prSet/>
      <dgm:spPr/>
      <dgm:t>
        <a:bodyPr/>
        <a:lstStyle/>
        <a:p>
          <a:endParaRPr lang="en-US"/>
        </a:p>
      </dgm:t>
    </dgm:pt>
    <dgm:pt modelId="{F4BFFC20-164F-4E9C-AB0B-AD66B937FB91}">
      <dgm:prSet/>
      <dgm:spPr/>
      <dgm:t>
        <a:bodyPr/>
        <a:lstStyle/>
        <a:p>
          <a:r>
            <a:rPr lang="en-US"/>
            <a:t>Full Audit (Avatar done)</a:t>
          </a:r>
        </a:p>
      </dgm:t>
    </dgm:pt>
    <dgm:pt modelId="{3D26E477-5177-473E-B609-5413F82550DD}" type="parTrans" cxnId="{94618894-E851-4BD6-9BB3-6E9E53E4AD81}">
      <dgm:prSet/>
      <dgm:spPr/>
      <dgm:t>
        <a:bodyPr/>
        <a:lstStyle/>
        <a:p>
          <a:endParaRPr lang="en-US"/>
        </a:p>
      </dgm:t>
    </dgm:pt>
    <dgm:pt modelId="{E9DE1517-15B8-41CD-B4C0-96FC825AFF3A}" type="sibTrans" cxnId="{94618894-E851-4BD6-9BB3-6E9E53E4AD81}">
      <dgm:prSet/>
      <dgm:spPr/>
      <dgm:t>
        <a:bodyPr/>
        <a:lstStyle/>
        <a:p>
          <a:endParaRPr lang="en-US"/>
        </a:p>
      </dgm:t>
    </dgm:pt>
    <dgm:pt modelId="{5A97AEE2-81D5-4D77-8E5E-04FE488BE458}">
      <dgm:prSet/>
      <dgm:spPr/>
      <dgm:t>
        <a:bodyPr/>
        <a:lstStyle/>
        <a:p>
          <a:r>
            <a:rPr lang="en-US"/>
            <a:t>Upsell to any of the other four services</a:t>
          </a:r>
        </a:p>
      </dgm:t>
    </dgm:pt>
    <dgm:pt modelId="{7F19D233-CC1D-4BC0-8F02-14E9A2F60318}" type="parTrans" cxnId="{C5E83090-D2F2-40B8-8E1C-BC1EFE5AAC58}">
      <dgm:prSet/>
      <dgm:spPr/>
      <dgm:t>
        <a:bodyPr/>
        <a:lstStyle/>
        <a:p>
          <a:endParaRPr lang="en-US"/>
        </a:p>
      </dgm:t>
    </dgm:pt>
    <dgm:pt modelId="{817C2F69-1999-420D-A9A9-4D04B6597138}" type="sibTrans" cxnId="{C5E83090-D2F2-40B8-8E1C-BC1EFE5AAC58}">
      <dgm:prSet/>
      <dgm:spPr/>
      <dgm:t>
        <a:bodyPr/>
        <a:lstStyle/>
        <a:p>
          <a:endParaRPr lang="en-US"/>
        </a:p>
      </dgm:t>
    </dgm:pt>
    <dgm:pt modelId="{11905933-34CF-4DD5-8D52-3DE3FDC273C5}">
      <dgm:prSet/>
      <dgm:spPr/>
      <dgm:t>
        <a:bodyPr/>
        <a:lstStyle/>
        <a:p>
          <a:r>
            <a:rPr lang="en-US"/>
            <a:t>Content Library</a:t>
          </a:r>
        </a:p>
      </dgm:t>
    </dgm:pt>
    <dgm:pt modelId="{F3FC03D8-AB06-433D-A639-DF32CE5E8206}" type="parTrans" cxnId="{BE40B27C-65BE-46A4-8EE8-74DF4F4214B5}">
      <dgm:prSet/>
      <dgm:spPr/>
      <dgm:t>
        <a:bodyPr/>
        <a:lstStyle/>
        <a:p>
          <a:endParaRPr lang="en-US"/>
        </a:p>
      </dgm:t>
    </dgm:pt>
    <dgm:pt modelId="{14DD9A9E-6785-4419-890A-F3809210D266}" type="sibTrans" cxnId="{BE40B27C-65BE-46A4-8EE8-74DF4F4214B5}">
      <dgm:prSet/>
      <dgm:spPr/>
      <dgm:t>
        <a:bodyPr/>
        <a:lstStyle/>
        <a:p>
          <a:endParaRPr lang="en-US"/>
        </a:p>
      </dgm:t>
    </dgm:pt>
    <dgm:pt modelId="{9BFCE318-C77C-47ED-B3FC-888910D129B6}">
      <dgm:prSet/>
      <dgm:spPr/>
      <dgm:t>
        <a:bodyPr/>
        <a:lstStyle/>
        <a:p>
          <a:r>
            <a:rPr lang="en-US"/>
            <a:t>Upsell to Strategic Review or Content Refinement</a:t>
          </a:r>
        </a:p>
      </dgm:t>
    </dgm:pt>
    <dgm:pt modelId="{435DA365-E8FB-4D1A-A43F-C60804B360BB}" type="parTrans" cxnId="{CA807909-8175-47C9-90D8-D0D34F90F574}">
      <dgm:prSet/>
      <dgm:spPr/>
      <dgm:t>
        <a:bodyPr/>
        <a:lstStyle/>
        <a:p>
          <a:endParaRPr lang="en-US"/>
        </a:p>
      </dgm:t>
    </dgm:pt>
    <dgm:pt modelId="{87C75C50-1924-4F78-AC94-D8F5D27E8107}" type="sibTrans" cxnId="{CA807909-8175-47C9-90D8-D0D34F90F574}">
      <dgm:prSet/>
      <dgm:spPr/>
      <dgm:t>
        <a:bodyPr/>
        <a:lstStyle/>
        <a:p>
          <a:endParaRPr lang="en-US"/>
        </a:p>
      </dgm:t>
    </dgm:pt>
    <dgm:pt modelId="{E9AC529E-55DD-4540-9D29-0A84D955E05F}">
      <dgm:prSet/>
      <dgm:spPr/>
      <dgm:t>
        <a:bodyPr/>
        <a:lstStyle/>
        <a:p>
          <a:r>
            <a:rPr lang="en-US"/>
            <a:t>Compliance / Strategic Review</a:t>
          </a:r>
        </a:p>
      </dgm:t>
    </dgm:pt>
    <dgm:pt modelId="{4E29DEE5-AA52-4F59-8418-79FB7DF3C875}" type="parTrans" cxnId="{ABB9C0B9-482B-43EF-B6B9-67D2FB72751C}">
      <dgm:prSet/>
      <dgm:spPr/>
      <dgm:t>
        <a:bodyPr/>
        <a:lstStyle/>
        <a:p>
          <a:endParaRPr lang="en-US"/>
        </a:p>
      </dgm:t>
    </dgm:pt>
    <dgm:pt modelId="{C8343BBE-26C4-4725-9558-AF71168D3DE2}" type="sibTrans" cxnId="{ABB9C0B9-482B-43EF-B6B9-67D2FB72751C}">
      <dgm:prSet/>
      <dgm:spPr/>
      <dgm:t>
        <a:bodyPr/>
        <a:lstStyle/>
        <a:p>
          <a:endParaRPr lang="en-US"/>
        </a:p>
      </dgm:t>
    </dgm:pt>
    <dgm:pt modelId="{D838F295-5B87-4F70-BBED-361D4B0FF19C}">
      <dgm:prSet/>
      <dgm:spPr/>
      <dgm:t>
        <a:bodyPr/>
        <a:lstStyle/>
        <a:p>
          <a:r>
            <a:rPr lang="en-US"/>
            <a:t>Upsell to Library Content or Content Refinement</a:t>
          </a:r>
        </a:p>
      </dgm:t>
    </dgm:pt>
    <dgm:pt modelId="{807E4C1A-6325-453E-A87B-D7C59CF3CE56}" type="parTrans" cxnId="{6AFED467-A51C-4CC0-BFCD-5FC5CFA44494}">
      <dgm:prSet/>
      <dgm:spPr/>
      <dgm:t>
        <a:bodyPr/>
        <a:lstStyle/>
        <a:p>
          <a:endParaRPr lang="en-US"/>
        </a:p>
      </dgm:t>
    </dgm:pt>
    <dgm:pt modelId="{C5B344BF-D0EE-4D45-B641-D9FC80981C91}" type="sibTrans" cxnId="{6AFED467-A51C-4CC0-BFCD-5FC5CFA44494}">
      <dgm:prSet/>
      <dgm:spPr/>
      <dgm:t>
        <a:bodyPr/>
        <a:lstStyle/>
        <a:p>
          <a:endParaRPr lang="en-US"/>
        </a:p>
      </dgm:t>
    </dgm:pt>
    <dgm:pt modelId="{9E44D720-236D-4081-8A7B-C14073D8F2D2}" type="pres">
      <dgm:prSet presAssocID="{9C1F5159-7CEE-4F1A-867F-465BE41B62E7}" presName="linear" presStyleCnt="0">
        <dgm:presLayoutVars>
          <dgm:dir/>
          <dgm:animLvl val="lvl"/>
          <dgm:resizeHandles val="exact"/>
        </dgm:presLayoutVars>
      </dgm:prSet>
      <dgm:spPr/>
    </dgm:pt>
    <dgm:pt modelId="{D5858A4E-B69F-4B3D-8931-C20AA1BA1680}" type="pres">
      <dgm:prSet presAssocID="{345F2645-56AA-4524-A951-BADA9D1BE144}" presName="parentLin" presStyleCnt="0"/>
      <dgm:spPr/>
    </dgm:pt>
    <dgm:pt modelId="{4668E29E-D849-40AA-939E-584E23687085}" type="pres">
      <dgm:prSet presAssocID="{345F2645-56AA-4524-A951-BADA9D1BE144}" presName="parentLeftMargin" presStyleLbl="node1" presStyleIdx="0" presStyleCnt="5"/>
      <dgm:spPr/>
    </dgm:pt>
    <dgm:pt modelId="{93565B09-952A-40DB-9ADC-E89825017B83}" type="pres">
      <dgm:prSet presAssocID="{345F2645-56AA-4524-A951-BADA9D1BE144}" presName="parentText" presStyleLbl="node1" presStyleIdx="0" presStyleCnt="5">
        <dgm:presLayoutVars>
          <dgm:chMax val="0"/>
          <dgm:bulletEnabled val="1"/>
        </dgm:presLayoutVars>
      </dgm:prSet>
      <dgm:spPr/>
    </dgm:pt>
    <dgm:pt modelId="{49A5206F-13D8-4ED4-A12F-62AFD7237D58}" type="pres">
      <dgm:prSet presAssocID="{345F2645-56AA-4524-A951-BADA9D1BE144}" presName="negativeSpace" presStyleCnt="0"/>
      <dgm:spPr/>
    </dgm:pt>
    <dgm:pt modelId="{E1D7539B-B82F-4BA3-AE05-FC27DD8DD42B}" type="pres">
      <dgm:prSet presAssocID="{345F2645-56AA-4524-A951-BADA9D1BE144}" presName="childText" presStyleLbl="conFgAcc1" presStyleIdx="0" presStyleCnt="5">
        <dgm:presLayoutVars>
          <dgm:bulletEnabled val="1"/>
        </dgm:presLayoutVars>
      </dgm:prSet>
      <dgm:spPr/>
    </dgm:pt>
    <dgm:pt modelId="{F8D8C5C3-CCAF-4251-9A3B-301FB19ABC61}" type="pres">
      <dgm:prSet presAssocID="{3EE1EF50-8A6E-46CA-8EF7-0470E6A6C091}" presName="spaceBetweenRectangles" presStyleCnt="0"/>
      <dgm:spPr/>
    </dgm:pt>
    <dgm:pt modelId="{572CA599-9C66-4B1A-AC04-88D1D83A3169}" type="pres">
      <dgm:prSet presAssocID="{F175E7D4-0E4D-4730-899A-A09662091DDE}" presName="parentLin" presStyleCnt="0"/>
      <dgm:spPr/>
    </dgm:pt>
    <dgm:pt modelId="{5E34EF48-E149-47B0-B64E-11CF449B6637}" type="pres">
      <dgm:prSet presAssocID="{F175E7D4-0E4D-4730-899A-A09662091DDE}" presName="parentLeftMargin" presStyleLbl="node1" presStyleIdx="0" presStyleCnt="5"/>
      <dgm:spPr/>
    </dgm:pt>
    <dgm:pt modelId="{81D10636-E3D6-44CC-94B5-4E1C91F4695F}" type="pres">
      <dgm:prSet presAssocID="{F175E7D4-0E4D-4730-899A-A09662091DDE}" presName="parentText" presStyleLbl="node1" presStyleIdx="1" presStyleCnt="5">
        <dgm:presLayoutVars>
          <dgm:chMax val="0"/>
          <dgm:bulletEnabled val="1"/>
        </dgm:presLayoutVars>
      </dgm:prSet>
      <dgm:spPr/>
    </dgm:pt>
    <dgm:pt modelId="{9BDA51FB-BD47-47C5-81BB-47F42EED8C48}" type="pres">
      <dgm:prSet presAssocID="{F175E7D4-0E4D-4730-899A-A09662091DDE}" presName="negativeSpace" presStyleCnt="0"/>
      <dgm:spPr/>
    </dgm:pt>
    <dgm:pt modelId="{F7F9CE8F-8DE9-4B9A-8EFA-61B74376C444}" type="pres">
      <dgm:prSet presAssocID="{F175E7D4-0E4D-4730-899A-A09662091DDE}" presName="childText" presStyleLbl="conFgAcc1" presStyleIdx="1" presStyleCnt="5">
        <dgm:presLayoutVars>
          <dgm:bulletEnabled val="1"/>
        </dgm:presLayoutVars>
      </dgm:prSet>
      <dgm:spPr/>
    </dgm:pt>
    <dgm:pt modelId="{40E22C5C-D465-481C-94C7-701364995CB0}" type="pres">
      <dgm:prSet presAssocID="{A0778A63-F74B-49E3-98F5-544BEAC2B908}" presName="spaceBetweenRectangles" presStyleCnt="0"/>
      <dgm:spPr/>
    </dgm:pt>
    <dgm:pt modelId="{CC54EB1C-264E-4951-9566-88AE2403496C}" type="pres">
      <dgm:prSet presAssocID="{F4BFFC20-164F-4E9C-AB0B-AD66B937FB91}" presName="parentLin" presStyleCnt="0"/>
      <dgm:spPr/>
    </dgm:pt>
    <dgm:pt modelId="{18453262-DADB-43F6-8945-4E70D9D2EF42}" type="pres">
      <dgm:prSet presAssocID="{F4BFFC20-164F-4E9C-AB0B-AD66B937FB91}" presName="parentLeftMargin" presStyleLbl="node1" presStyleIdx="1" presStyleCnt="5"/>
      <dgm:spPr/>
    </dgm:pt>
    <dgm:pt modelId="{C08FAC2E-429B-4749-93C1-7BD37CACBF80}" type="pres">
      <dgm:prSet presAssocID="{F4BFFC20-164F-4E9C-AB0B-AD66B937FB91}" presName="parentText" presStyleLbl="node1" presStyleIdx="2" presStyleCnt="5">
        <dgm:presLayoutVars>
          <dgm:chMax val="0"/>
          <dgm:bulletEnabled val="1"/>
        </dgm:presLayoutVars>
      </dgm:prSet>
      <dgm:spPr/>
    </dgm:pt>
    <dgm:pt modelId="{6615EE6D-9468-4DCF-8027-8F2C0F0BDD9C}" type="pres">
      <dgm:prSet presAssocID="{F4BFFC20-164F-4E9C-AB0B-AD66B937FB91}" presName="negativeSpace" presStyleCnt="0"/>
      <dgm:spPr/>
    </dgm:pt>
    <dgm:pt modelId="{BEC967CC-8B46-4FF0-9658-DE5E895327E5}" type="pres">
      <dgm:prSet presAssocID="{F4BFFC20-164F-4E9C-AB0B-AD66B937FB91}" presName="childText" presStyleLbl="conFgAcc1" presStyleIdx="2" presStyleCnt="5">
        <dgm:presLayoutVars>
          <dgm:bulletEnabled val="1"/>
        </dgm:presLayoutVars>
      </dgm:prSet>
      <dgm:spPr/>
    </dgm:pt>
    <dgm:pt modelId="{C36BA624-9E14-4199-B7BC-9B1FCA40CC17}" type="pres">
      <dgm:prSet presAssocID="{E9DE1517-15B8-41CD-B4C0-96FC825AFF3A}" presName="spaceBetweenRectangles" presStyleCnt="0"/>
      <dgm:spPr/>
    </dgm:pt>
    <dgm:pt modelId="{EC5DD3DF-672D-4190-B409-0D38683E1D06}" type="pres">
      <dgm:prSet presAssocID="{11905933-34CF-4DD5-8D52-3DE3FDC273C5}" presName="parentLin" presStyleCnt="0"/>
      <dgm:spPr/>
    </dgm:pt>
    <dgm:pt modelId="{57DA2959-A8A0-46D0-9B04-16F6B19290CC}" type="pres">
      <dgm:prSet presAssocID="{11905933-34CF-4DD5-8D52-3DE3FDC273C5}" presName="parentLeftMargin" presStyleLbl="node1" presStyleIdx="2" presStyleCnt="5"/>
      <dgm:spPr/>
    </dgm:pt>
    <dgm:pt modelId="{BA6CDB78-3C66-4613-8CC2-B05DF3A84070}" type="pres">
      <dgm:prSet presAssocID="{11905933-34CF-4DD5-8D52-3DE3FDC273C5}" presName="parentText" presStyleLbl="node1" presStyleIdx="3" presStyleCnt="5">
        <dgm:presLayoutVars>
          <dgm:chMax val="0"/>
          <dgm:bulletEnabled val="1"/>
        </dgm:presLayoutVars>
      </dgm:prSet>
      <dgm:spPr/>
    </dgm:pt>
    <dgm:pt modelId="{7F0D19E0-740D-48B8-B261-EB4F788FA80A}" type="pres">
      <dgm:prSet presAssocID="{11905933-34CF-4DD5-8D52-3DE3FDC273C5}" presName="negativeSpace" presStyleCnt="0"/>
      <dgm:spPr/>
    </dgm:pt>
    <dgm:pt modelId="{69AC4A0F-C04D-483A-B6E3-D0557542EC47}" type="pres">
      <dgm:prSet presAssocID="{11905933-34CF-4DD5-8D52-3DE3FDC273C5}" presName="childText" presStyleLbl="conFgAcc1" presStyleIdx="3" presStyleCnt="5">
        <dgm:presLayoutVars>
          <dgm:bulletEnabled val="1"/>
        </dgm:presLayoutVars>
      </dgm:prSet>
      <dgm:spPr/>
    </dgm:pt>
    <dgm:pt modelId="{9F4F4970-23A1-4F62-A1D3-3EDD9D5E6F66}" type="pres">
      <dgm:prSet presAssocID="{14DD9A9E-6785-4419-890A-F3809210D266}" presName="spaceBetweenRectangles" presStyleCnt="0"/>
      <dgm:spPr/>
    </dgm:pt>
    <dgm:pt modelId="{2ED6F7E9-A2AD-4DB3-A8F9-2C1D675AACA4}" type="pres">
      <dgm:prSet presAssocID="{E9AC529E-55DD-4540-9D29-0A84D955E05F}" presName="parentLin" presStyleCnt="0"/>
      <dgm:spPr/>
    </dgm:pt>
    <dgm:pt modelId="{F526966A-E2D9-4039-AA0D-3BCAA3A67ABB}" type="pres">
      <dgm:prSet presAssocID="{E9AC529E-55DD-4540-9D29-0A84D955E05F}" presName="parentLeftMargin" presStyleLbl="node1" presStyleIdx="3" presStyleCnt="5"/>
      <dgm:spPr/>
    </dgm:pt>
    <dgm:pt modelId="{9F3E46FE-8098-4CA8-A3D0-53FA42432EAE}" type="pres">
      <dgm:prSet presAssocID="{E9AC529E-55DD-4540-9D29-0A84D955E05F}" presName="parentText" presStyleLbl="node1" presStyleIdx="4" presStyleCnt="5">
        <dgm:presLayoutVars>
          <dgm:chMax val="0"/>
          <dgm:bulletEnabled val="1"/>
        </dgm:presLayoutVars>
      </dgm:prSet>
      <dgm:spPr/>
    </dgm:pt>
    <dgm:pt modelId="{AB7C4263-1FD0-49C1-B614-D31550C772DB}" type="pres">
      <dgm:prSet presAssocID="{E9AC529E-55DD-4540-9D29-0A84D955E05F}" presName="negativeSpace" presStyleCnt="0"/>
      <dgm:spPr/>
    </dgm:pt>
    <dgm:pt modelId="{BF8A40B6-331B-4741-877E-CAF04626CA52}" type="pres">
      <dgm:prSet presAssocID="{E9AC529E-55DD-4540-9D29-0A84D955E05F}" presName="childText" presStyleLbl="conFgAcc1" presStyleIdx="4" presStyleCnt="5">
        <dgm:presLayoutVars>
          <dgm:bulletEnabled val="1"/>
        </dgm:presLayoutVars>
      </dgm:prSet>
      <dgm:spPr/>
    </dgm:pt>
  </dgm:ptLst>
  <dgm:cxnLst>
    <dgm:cxn modelId="{CA807909-8175-47C9-90D8-D0D34F90F574}" srcId="{11905933-34CF-4DD5-8D52-3DE3FDC273C5}" destId="{9BFCE318-C77C-47ED-B3FC-888910D129B6}" srcOrd="0" destOrd="0" parTransId="{435DA365-E8FB-4D1A-A43F-C60804B360BB}" sibTransId="{87C75C50-1924-4F78-AC94-D8F5D27E8107}"/>
    <dgm:cxn modelId="{35D0AE18-EBAD-4060-8969-4493D7093B31}" type="presOf" srcId="{D838F295-5B87-4F70-BBED-361D4B0FF19C}" destId="{BF8A40B6-331B-4741-877E-CAF04626CA52}" srcOrd="0" destOrd="0" presId="urn:microsoft.com/office/officeart/2005/8/layout/list1"/>
    <dgm:cxn modelId="{A5D77B34-704F-4864-81AE-20D1D6E05208}" srcId="{F175E7D4-0E4D-4730-899A-A09662091DDE}" destId="{E3BA1613-41EE-4EF2-A99E-F16A763127B6}" srcOrd="0" destOrd="0" parTransId="{67E0ADCE-F140-413A-9ADA-12B8BD9F16DA}" sibTransId="{57E25B12-53CB-4A1A-9C43-E99D4FD02A29}"/>
    <dgm:cxn modelId="{86D4EA5D-9446-4D38-9C14-69604C592E78}" type="presOf" srcId="{11905933-34CF-4DD5-8D52-3DE3FDC273C5}" destId="{BA6CDB78-3C66-4613-8CC2-B05DF3A84070}" srcOrd="1" destOrd="0" presId="urn:microsoft.com/office/officeart/2005/8/layout/list1"/>
    <dgm:cxn modelId="{6AFED467-A51C-4CC0-BFCD-5FC5CFA44494}" srcId="{E9AC529E-55DD-4540-9D29-0A84D955E05F}" destId="{D838F295-5B87-4F70-BBED-361D4B0FF19C}" srcOrd="0" destOrd="0" parTransId="{807E4C1A-6325-453E-A87B-D7C59CF3CE56}" sibTransId="{C5B344BF-D0EE-4D45-B641-D9FC80981C91}"/>
    <dgm:cxn modelId="{12DF1468-9E5C-4955-9412-BB405855009C}" type="presOf" srcId="{E9AC529E-55DD-4540-9D29-0A84D955E05F}" destId="{9F3E46FE-8098-4CA8-A3D0-53FA42432EAE}" srcOrd="1" destOrd="0" presId="urn:microsoft.com/office/officeart/2005/8/layout/list1"/>
    <dgm:cxn modelId="{BE40B27C-65BE-46A4-8EE8-74DF4F4214B5}" srcId="{9C1F5159-7CEE-4F1A-867F-465BE41B62E7}" destId="{11905933-34CF-4DD5-8D52-3DE3FDC273C5}" srcOrd="3" destOrd="0" parTransId="{F3FC03D8-AB06-433D-A639-DF32CE5E8206}" sibTransId="{14DD9A9E-6785-4419-890A-F3809210D266}"/>
    <dgm:cxn modelId="{C5E83090-D2F2-40B8-8E1C-BC1EFE5AAC58}" srcId="{F4BFFC20-164F-4E9C-AB0B-AD66B937FB91}" destId="{5A97AEE2-81D5-4D77-8E5E-04FE488BE458}" srcOrd="0" destOrd="0" parTransId="{7F19D233-CC1D-4BC0-8F02-14E9A2F60318}" sibTransId="{817C2F69-1999-420D-A9A9-4D04B6597138}"/>
    <dgm:cxn modelId="{6A877992-FD5C-44B4-97AE-B17F1C514435}" type="presOf" srcId="{F4BFFC20-164F-4E9C-AB0B-AD66B937FB91}" destId="{18453262-DADB-43F6-8945-4E70D9D2EF42}" srcOrd="0" destOrd="0" presId="urn:microsoft.com/office/officeart/2005/8/layout/list1"/>
    <dgm:cxn modelId="{94618894-E851-4BD6-9BB3-6E9E53E4AD81}" srcId="{9C1F5159-7CEE-4F1A-867F-465BE41B62E7}" destId="{F4BFFC20-164F-4E9C-AB0B-AD66B937FB91}" srcOrd="2" destOrd="0" parTransId="{3D26E477-5177-473E-B609-5413F82550DD}" sibTransId="{E9DE1517-15B8-41CD-B4C0-96FC825AFF3A}"/>
    <dgm:cxn modelId="{547AA8A2-5A28-4B76-BA5D-E6548FE2ED09}" type="presOf" srcId="{11905933-34CF-4DD5-8D52-3DE3FDC273C5}" destId="{57DA2959-A8A0-46D0-9B04-16F6B19290CC}" srcOrd="0" destOrd="0" presId="urn:microsoft.com/office/officeart/2005/8/layout/list1"/>
    <dgm:cxn modelId="{05C31BA7-5FDD-4DFE-B243-6BEA62204CFC}" srcId="{9C1F5159-7CEE-4F1A-867F-465BE41B62E7}" destId="{F175E7D4-0E4D-4730-899A-A09662091DDE}" srcOrd="1" destOrd="0" parTransId="{D5513AAB-35F2-4D34-BAC1-2FC341049268}" sibTransId="{A0778A63-F74B-49E3-98F5-544BEAC2B908}"/>
    <dgm:cxn modelId="{2E1A4AA7-C10C-4A82-BB28-F743ED1A7DD9}" type="presOf" srcId="{E3BA1613-41EE-4EF2-A99E-F16A763127B6}" destId="{F7F9CE8F-8DE9-4B9A-8EFA-61B74376C444}" srcOrd="0" destOrd="0" presId="urn:microsoft.com/office/officeart/2005/8/layout/list1"/>
    <dgm:cxn modelId="{74EDD7B5-7F39-407F-9D72-83E44CAB4C85}" type="presOf" srcId="{345F2645-56AA-4524-A951-BADA9D1BE144}" destId="{4668E29E-D849-40AA-939E-584E23687085}" srcOrd="0" destOrd="0" presId="urn:microsoft.com/office/officeart/2005/8/layout/list1"/>
    <dgm:cxn modelId="{ABB9C0B9-482B-43EF-B6B9-67D2FB72751C}" srcId="{9C1F5159-7CEE-4F1A-867F-465BE41B62E7}" destId="{E9AC529E-55DD-4540-9D29-0A84D955E05F}" srcOrd="4" destOrd="0" parTransId="{4E29DEE5-AA52-4F59-8418-79FB7DF3C875}" sibTransId="{C8343BBE-26C4-4725-9558-AF71168D3DE2}"/>
    <dgm:cxn modelId="{D40216BB-3A92-47E6-81B4-CCE42508D0F1}" type="presOf" srcId="{F4BFFC20-164F-4E9C-AB0B-AD66B937FB91}" destId="{C08FAC2E-429B-4749-93C1-7BD37CACBF80}" srcOrd="1" destOrd="0" presId="urn:microsoft.com/office/officeart/2005/8/layout/list1"/>
    <dgm:cxn modelId="{B7662FC3-BE2D-412F-BFE2-20E6A7FF2318}" srcId="{9C1F5159-7CEE-4F1A-867F-465BE41B62E7}" destId="{345F2645-56AA-4524-A951-BADA9D1BE144}" srcOrd="0" destOrd="0" parTransId="{014DB59B-55C0-4DA0-B8BB-9230F647886F}" sibTransId="{3EE1EF50-8A6E-46CA-8EF7-0470E6A6C091}"/>
    <dgm:cxn modelId="{A0B2F4CE-7501-43DE-9BE5-BDA21A3CBE8D}" type="presOf" srcId="{9BFCE318-C77C-47ED-B3FC-888910D129B6}" destId="{69AC4A0F-C04D-483A-B6E3-D0557542EC47}" srcOrd="0" destOrd="0" presId="urn:microsoft.com/office/officeart/2005/8/layout/list1"/>
    <dgm:cxn modelId="{96A4F6D9-9C09-41D7-953B-7E44C24ECEA5}" type="presOf" srcId="{E9AC529E-55DD-4540-9D29-0A84D955E05F}" destId="{F526966A-E2D9-4039-AA0D-3BCAA3A67ABB}" srcOrd="0" destOrd="0" presId="urn:microsoft.com/office/officeart/2005/8/layout/list1"/>
    <dgm:cxn modelId="{6B80EADA-CBFE-4A53-8E5D-F6C1B957D5A5}" type="presOf" srcId="{345F2645-56AA-4524-A951-BADA9D1BE144}" destId="{93565B09-952A-40DB-9ADC-E89825017B83}" srcOrd="1" destOrd="0" presId="urn:microsoft.com/office/officeart/2005/8/layout/list1"/>
    <dgm:cxn modelId="{CD89E7DB-03CB-479C-BED4-1CDABF73C694}" type="presOf" srcId="{F175E7D4-0E4D-4730-899A-A09662091DDE}" destId="{5E34EF48-E149-47B0-B64E-11CF449B6637}" srcOrd="0" destOrd="0" presId="urn:microsoft.com/office/officeart/2005/8/layout/list1"/>
    <dgm:cxn modelId="{D791BFDF-3938-4AA8-9133-91902D911DC4}" type="presOf" srcId="{9C1F5159-7CEE-4F1A-867F-465BE41B62E7}" destId="{9E44D720-236D-4081-8A7B-C14073D8F2D2}" srcOrd="0" destOrd="0" presId="urn:microsoft.com/office/officeart/2005/8/layout/list1"/>
    <dgm:cxn modelId="{1948A9E2-B349-40F9-A3E9-862A74072417}" type="presOf" srcId="{5A97AEE2-81D5-4D77-8E5E-04FE488BE458}" destId="{BEC967CC-8B46-4FF0-9658-DE5E895327E5}" srcOrd="0" destOrd="0" presId="urn:microsoft.com/office/officeart/2005/8/layout/list1"/>
    <dgm:cxn modelId="{1A7A08EF-363E-4CF3-8E68-89EC45868C13}" type="presOf" srcId="{F175E7D4-0E4D-4730-899A-A09662091DDE}" destId="{81D10636-E3D6-44CC-94B5-4E1C91F4695F}" srcOrd="1" destOrd="0" presId="urn:microsoft.com/office/officeart/2005/8/layout/list1"/>
    <dgm:cxn modelId="{E7B2FD83-ED2C-4AD2-BDCB-EAD3780266AD}" type="presParOf" srcId="{9E44D720-236D-4081-8A7B-C14073D8F2D2}" destId="{D5858A4E-B69F-4B3D-8931-C20AA1BA1680}" srcOrd="0" destOrd="0" presId="urn:microsoft.com/office/officeart/2005/8/layout/list1"/>
    <dgm:cxn modelId="{08C64738-4645-43B2-8E7E-CC96EE0EA0E0}" type="presParOf" srcId="{D5858A4E-B69F-4B3D-8931-C20AA1BA1680}" destId="{4668E29E-D849-40AA-939E-584E23687085}" srcOrd="0" destOrd="0" presId="urn:microsoft.com/office/officeart/2005/8/layout/list1"/>
    <dgm:cxn modelId="{EDB867E3-E97A-4290-B91D-0EB1B01B0912}" type="presParOf" srcId="{D5858A4E-B69F-4B3D-8931-C20AA1BA1680}" destId="{93565B09-952A-40DB-9ADC-E89825017B83}" srcOrd="1" destOrd="0" presId="urn:microsoft.com/office/officeart/2005/8/layout/list1"/>
    <dgm:cxn modelId="{5627EA42-8F42-4FFD-A7EE-9C6F18D02740}" type="presParOf" srcId="{9E44D720-236D-4081-8A7B-C14073D8F2D2}" destId="{49A5206F-13D8-4ED4-A12F-62AFD7237D58}" srcOrd="1" destOrd="0" presId="urn:microsoft.com/office/officeart/2005/8/layout/list1"/>
    <dgm:cxn modelId="{3F2238A2-867C-4BDA-9D28-39407400C145}" type="presParOf" srcId="{9E44D720-236D-4081-8A7B-C14073D8F2D2}" destId="{E1D7539B-B82F-4BA3-AE05-FC27DD8DD42B}" srcOrd="2" destOrd="0" presId="urn:microsoft.com/office/officeart/2005/8/layout/list1"/>
    <dgm:cxn modelId="{D9EF614C-4075-4630-8621-51ABDBC49694}" type="presParOf" srcId="{9E44D720-236D-4081-8A7B-C14073D8F2D2}" destId="{F8D8C5C3-CCAF-4251-9A3B-301FB19ABC61}" srcOrd="3" destOrd="0" presId="urn:microsoft.com/office/officeart/2005/8/layout/list1"/>
    <dgm:cxn modelId="{C472FF02-F001-4502-960E-06999B60D3B0}" type="presParOf" srcId="{9E44D720-236D-4081-8A7B-C14073D8F2D2}" destId="{572CA599-9C66-4B1A-AC04-88D1D83A3169}" srcOrd="4" destOrd="0" presId="urn:microsoft.com/office/officeart/2005/8/layout/list1"/>
    <dgm:cxn modelId="{2532BA16-989A-457D-84AD-2DF9C1F6FA74}" type="presParOf" srcId="{572CA599-9C66-4B1A-AC04-88D1D83A3169}" destId="{5E34EF48-E149-47B0-B64E-11CF449B6637}" srcOrd="0" destOrd="0" presId="urn:microsoft.com/office/officeart/2005/8/layout/list1"/>
    <dgm:cxn modelId="{6A010888-C3DA-4C9F-AB8D-D384A4D26E11}" type="presParOf" srcId="{572CA599-9C66-4B1A-AC04-88D1D83A3169}" destId="{81D10636-E3D6-44CC-94B5-4E1C91F4695F}" srcOrd="1" destOrd="0" presId="urn:microsoft.com/office/officeart/2005/8/layout/list1"/>
    <dgm:cxn modelId="{DBE44C1B-5935-49D8-8ADA-1EE4C6D316EA}" type="presParOf" srcId="{9E44D720-236D-4081-8A7B-C14073D8F2D2}" destId="{9BDA51FB-BD47-47C5-81BB-47F42EED8C48}" srcOrd="5" destOrd="0" presId="urn:microsoft.com/office/officeart/2005/8/layout/list1"/>
    <dgm:cxn modelId="{80A85007-137C-454F-9FB5-ABAE44469E3B}" type="presParOf" srcId="{9E44D720-236D-4081-8A7B-C14073D8F2D2}" destId="{F7F9CE8F-8DE9-4B9A-8EFA-61B74376C444}" srcOrd="6" destOrd="0" presId="urn:microsoft.com/office/officeart/2005/8/layout/list1"/>
    <dgm:cxn modelId="{1D62E170-FF25-4B0D-8659-A58AC974F178}" type="presParOf" srcId="{9E44D720-236D-4081-8A7B-C14073D8F2D2}" destId="{40E22C5C-D465-481C-94C7-701364995CB0}" srcOrd="7" destOrd="0" presId="urn:microsoft.com/office/officeart/2005/8/layout/list1"/>
    <dgm:cxn modelId="{E767F241-47A3-425E-A328-5767081188F8}" type="presParOf" srcId="{9E44D720-236D-4081-8A7B-C14073D8F2D2}" destId="{CC54EB1C-264E-4951-9566-88AE2403496C}" srcOrd="8" destOrd="0" presId="urn:microsoft.com/office/officeart/2005/8/layout/list1"/>
    <dgm:cxn modelId="{283D0C8E-2FB0-413D-8390-8EBF3CDCA8FB}" type="presParOf" srcId="{CC54EB1C-264E-4951-9566-88AE2403496C}" destId="{18453262-DADB-43F6-8945-4E70D9D2EF42}" srcOrd="0" destOrd="0" presId="urn:microsoft.com/office/officeart/2005/8/layout/list1"/>
    <dgm:cxn modelId="{90B5D67F-269F-4462-BA9E-ABCDCE236915}" type="presParOf" srcId="{CC54EB1C-264E-4951-9566-88AE2403496C}" destId="{C08FAC2E-429B-4749-93C1-7BD37CACBF80}" srcOrd="1" destOrd="0" presId="urn:microsoft.com/office/officeart/2005/8/layout/list1"/>
    <dgm:cxn modelId="{E4987AF7-7EFB-4763-A21C-9F34DBC42ACF}" type="presParOf" srcId="{9E44D720-236D-4081-8A7B-C14073D8F2D2}" destId="{6615EE6D-9468-4DCF-8027-8F2C0F0BDD9C}" srcOrd="9" destOrd="0" presId="urn:microsoft.com/office/officeart/2005/8/layout/list1"/>
    <dgm:cxn modelId="{D1BA9E90-5D64-422E-A622-37B63344F7BE}" type="presParOf" srcId="{9E44D720-236D-4081-8A7B-C14073D8F2D2}" destId="{BEC967CC-8B46-4FF0-9658-DE5E895327E5}" srcOrd="10" destOrd="0" presId="urn:microsoft.com/office/officeart/2005/8/layout/list1"/>
    <dgm:cxn modelId="{10A6488F-951A-4285-A527-6AA6AD4F4EC9}" type="presParOf" srcId="{9E44D720-236D-4081-8A7B-C14073D8F2D2}" destId="{C36BA624-9E14-4199-B7BC-9B1FCA40CC17}" srcOrd="11" destOrd="0" presId="urn:microsoft.com/office/officeart/2005/8/layout/list1"/>
    <dgm:cxn modelId="{573E1F73-BE61-421E-86E9-9844907DD748}" type="presParOf" srcId="{9E44D720-236D-4081-8A7B-C14073D8F2D2}" destId="{EC5DD3DF-672D-4190-B409-0D38683E1D06}" srcOrd="12" destOrd="0" presId="urn:microsoft.com/office/officeart/2005/8/layout/list1"/>
    <dgm:cxn modelId="{BCE44111-8813-44D5-AC28-82EB05A5A150}" type="presParOf" srcId="{EC5DD3DF-672D-4190-B409-0D38683E1D06}" destId="{57DA2959-A8A0-46D0-9B04-16F6B19290CC}" srcOrd="0" destOrd="0" presId="urn:microsoft.com/office/officeart/2005/8/layout/list1"/>
    <dgm:cxn modelId="{4BE30012-715F-4DF5-9703-8D40AC479E53}" type="presParOf" srcId="{EC5DD3DF-672D-4190-B409-0D38683E1D06}" destId="{BA6CDB78-3C66-4613-8CC2-B05DF3A84070}" srcOrd="1" destOrd="0" presId="urn:microsoft.com/office/officeart/2005/8/layout/list1"/>
    <dgm:cxn modelId="{060A6B82-B766-467D-A02E-8CDBCA9B5106}" type="presParOf" srcId="{9E44D720-236D-4081-8A7B-C14073D8F2D2}" destId="{7F0D19E0-740D-48B8-B261-EB4F788FA80A}" srcOrd="13" destOrd="0" presId="urn:microsoft.com/office/officeart/2005/8/layout/list1"/>
    <dgm:cxn modelId="{24A9E22F-2841-4833-A231-0E55C94BCEFD}" type="presParOf" srcId="{9E44D720-236D-4081-8A7B-C14073D8F2D2}" destId="{69AC4A0F-C04D-483A-B6E3-D0557542EC47}" srcOrd="14" destOrd="0" presId="urn:microsoft.com/office/officeart/2005/8/layout/list1"/>
    <dgm:cxn modelId="{6F6EA105-61E0-4C7D-8640-0C8CBEAEBBDF}" type="presParOf" srcId="{9E44D720-236D-4081-8A7B-C14073D8F2D2}" destId="{9F4F4970-23A1-4F62-A1D3-3EDD9D5E6F66}" srcOrd="15" destOrd="0" presId="urn:microsoft.com/office/officeart/2005/8/layout/list1"/>
    <dgm:cxn modelId="{C6197306-2E79-48DB-A444-2BD7E6388E63}" type="presParOf" srcId="{9E44D720-236D-4081-8A7B-C14073D8F2D2}" destId="{2ED6F7E9-A2AD-4DB3-A8F9-2C1D675AACA4}" srcOrd="16" destOrd="0" presId="urn:microsoft.com/office/officeart/2005/8/layout/list1"/>
    <dgm:cxn modelId="{DB2AACC7-0580-4172-A47F-21980CE9AA50}" type="presParOf" srcId="{2ED6F7E9-A2AD-4DB3-A8F9-2C1D675AACA4}" destId="{F526966A-E2D9-4039-AA0D-3BCAA3A67ABB}" srcOrd="0" destOrd="0" presId="urn:microsoft.com/office/officeart/2005/8/layout/list1"/>
    <dgm:cxn modelId="{B02634DF-8F15-4B4D-8BFE-DD6F3FC0EDB2}" type="presParOf" srcId="{2ED6F7E9-A2AD-4DB3-A8F9-2C1D675AACA4}" destId="{9F3E46FE-8098-4CA8-A3D0-53FA42432EAE}" srcOrd="1" destOrd="0" presId="urn:microsoft.com/office/officeart/2005/8/layout/list1"/>
    <dgm:cxn modelId="{CD36B86C-2C37-4CB8-B1A5-E660BD189D8D}" type="presParOf" srcId="{9E44D720-236D-4081-8A7B-C14073D8F2D2}" destId="{AB7C4263-1FD0-49C1-B614-D31550C772DB}" srcOrd="17" destOrd="0" presId="urn:microsoft.com/office/officeart/2005/8/layout/list1"/>
    <dgm:cxn modelId="{6C389A07-14DF-4B03-9E0B-E3D807E0F0B5}" type="presParOf" srcId="{9E44D720-236D-4081-8A7B-C14073D8F2D2}" destId="{BF8A40B6-331B-4741-877E-CAF04626CA52}" srcOrd="18"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C00AE96-2880-4A8F-A04A-41E548013C0C}"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DA125357-8891-4E60-AA56-6EC92136DE89}">
      <dgm:prSet/>
      <dgm:spPr/>
      <dgm:t>
        <a:bodyPr/>
        <a:lstStyle/>
        <a:p>
          <a:pPr>
            <a:lnSpc>
              <a:spcPct val="100000"/>
            </a:lnSpc>
          </a:pPr>
          <a:r>
            <a:rPr lang="en-US"/>
            <a:t>Totally understand. Most companies underestimate how much work goes into a competitive, compliant, large-scale proposal.</a:t>
          </a:r>
        </a:p>
      </dgm:t>
    </dgm:pt>
    <dgm:pt modelId="{F8383BA6-6C46-43C2-8C29-4F33F0BF4D2E}" type="parTrans" cxnId="{69379EBC-78F5-40D8-A393-B365FA6C7E2C}">
      <dgm:prSet/>
      <dgm:spPr/>
      <dgm:t>
        <a:bodyPr/>
        <a:lstStyle/>
        <a:p>
          <a:endParaRPr lang="en-US"/>
        </a:p>
      </dgm:t>
    </dgm:pt>
    <dgm:pt modelId="{7755A883-A1AD-4C0E-BFD3-53DEC69E1E2F}" type="sibTrans" cxnId="{69379EBC-78F5-40D8-A393-B365FA6C7E2C}">
      <dgm:prSet/>
      <dgm:spPr/>
      <dgm:t>
        <a:bodyPr/>
        <a:lstStyle/>
        <a:p>
          <a:endParaRPr lang="en-US"/>
        </a:p>
      </dgm:t>
    </dgm:pt>
    <dgm:pt modelId="{507F4039-926F-452D-AB1C-9710807B95AE}">
      <dgm:prSet/>
      <dgm:spPr/>
      <dgm:t>
        <a:bodyPr/>
        <a:lstStyle/>
        <a:p>
          <a:pPr>
            <a:lnSpc>
              <a:spcPct val="100000"/>
            </a:lnSpc>
          </a:pPr>
          <a:r>
            <a:rPr lang="en-US"/>
            <a:t>Our pricing reflects the full project management, SME coordination, writing, strategy, compliance, and peer review that goes into delivering </a:t>
          </a:r>
          <a:r>
            <a:rPr lang="en-US" i="1"/>
            <a:t>a proposal that can win</a:t>
          </a:r>
          <a:r>
            <a:rPr lang="en-US"/>
            <a:t>.</a:t>
          </a:r>
        </a:p>
      </dgm:t>
    </dgm:pt>
    <dgm:pt modelId="{D3A6E431-EDD8-4CB1-BD3C-D40314E7477E}" type="parTrans" cxnId="{AD6EED12-3FBE-4F9B-A96C-AF2D7A4B2E79}">
      <dgm:prSet/>
      <dgm:spPr/>
      <dgm:t>
        <a:bodyPr/>
        <a:lstStyle/>
        <a:p>
          <a:endParaRPr lang="en-US"/>
        </a:p>
      </dgm:t>
    </dgm:pt>
    <dgm:pt modelId="{4CAEB4D6-1AB3-4166-A55C-17D188A91C16}" type="sibTrans" cxnId="{AD6EED12-3FBE-4F9B-A96C-AF2D7A4B2E79}">
      <dgm:prSet/>
      <dgm:spPr/>
      <dgm:t>
        <a:bodyPr/>
        <a:lstStyle/>
        <a:p>
          <a:endParaRPr lang="en-US"/>
        </a:p>
      </dgm:t>
    </dgm:pt>
    <dgm:pt modelId="{8ACB46EC-4496-4C17-85A5-EA2DCAC20BBD}">
      <dgm:prSet/>
      <dgm:spPr/>
      <dgm:t>
        <a:bodyPr/>
        <a:lstStyle/>
        <a:p>
          <a:pPr>
            <a:lnSpc>
              <a:spcPct val="100000"/>
            </a:lnSpc>
          </a:pPr>
          <a:r>
            <a:rPr lang="en-US"/>
            <a:t>And because this contract is valued at $_____, a strong response pays for itself many times over.</a:t>
          </a:r>
        </a:p>
      </dgm:t>
    </dgm:pt>
    <dgm:pt modelId="{BA479F1B-92BE-47B1-A006-89339C46EA1A}" type="parTrans" cxnId="{B2148AE2-CDF0-40D3-9AF5-9397EEECB126}">
      <dgm:prSet/>
      <dgm:spPr/>
      <dgm:t>
        <a:bodyPr/>
        <a:lstStyle/>
        <a:p>
          <a:endParaRPr lang="en-US"/>
        </a:p>
      </dgm:t>
    </dgm:pt>
    <dgm:pt modelId="{3AFA4945-5367-4256-BB93-9EA2B4BCB4D5}" type="sibTrans" cxnId="{B2148AE2-CDF0-40D3-9AF5-9397EEECB126}">
      <dgm:prSet/>
      <dgm:spPr/>
      <dgm:t>
        <a:bodyPr/>
        <a:lstStyle/>
        <a:p>
          <a:endParaRPr lang="en-US"/>
        </a:p>
      </dgm:t>
    </dgm:pt>
    <dgm:pt modelId="{F411F76A-67EA-4E07-9264-94DA27DD2716}" type="pres">
      <dgm:prSet presAssocID="{8C00AE96-2880-4A8F-A04A-41E548013C0C}" presName="root" presStyleCnt="0">
        <dgm:presLayoutVars>
          <dgm:dir/>
          <dgm:resizeHandles val="exact"/>
        </dgm:presLayoutVars>
      </dgm:prSet>
      <dgm:spPr/>
    </dgm:pt>
    <dgm:pt modelId="{56CD5026-4B38-4EEB-A595-62BE63DBF2F6}" type="pres">
      <dgm:prSet presAssocID="{DA125357-8891-4E60-AA56-6EC92136DE89}" presName="compNode" presStyleCnt="0"/>
      <dgm:spPr/>
    </dgm:pt>
    <dgm:pt modelId="{79670503-5B67-456C-A008-BFD69B1207A3}" type="pres">
      <dgm:prSet presAssocID="{DA125357-8891-4E60-AA56-6EC92136DE89}" presName="bgRect" presStyleLbl="bgShp" presStyleIdx="0" presStyleCnt="3"/>
      <dgm:spPr/>
    </dgm:pt>
    <dgm:pt modelId="{79D7D372-97C6-4A79-8D88-3EB4796D8ED5}" type="pres">
      <dgm:prSet presAssocID="{DA125357-8891-4E60-AA56-6EC92136DE89}"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oney"/>
        </a:ext>
      </dgm:extLst>
    </dgm:pt>
    <dgm:pt modelId="{9153F623-20DF-4304-A72E-2D1D39B50FA2}" type="pres">
      <dgm:prSet presAssocID="{DA125357-8891-4E60-AA56-6EC92136DE89}" presName="spaceRect" presStyleCnt="0"/>
      <dgm:spPr/>
    </dgm:pt>
    <dgm:pt modelId="{E7354123-B860-4CB2-B066-714C3AE159E0}" type="pres">
      <dgm:prSet presAssocID="{DA125357-8891-4E60-AA56-6EC92136DE89}" presName="parTx" presStyleLbl="revTx" presStyleIdx="0" presStyleCnt="3">
        <dgm:presLayoutVars>
          <dgm:chMax val="0"/>
          <dgm:chPref val="0"/>
        </dgm:presLayoutVars>
      </dgm:prSet>
      <dgm:spPr/>
    </dgm:pt>
    <dgm:pt modelId="{2A6CB8E5-9615-4CC6-9BC9-D292327AE449}" type="pres">
      <dgm:prSet presAssocID="{7755A883-A1AD-4C0E-BFD3-53DEC69E1E2F}" presName="sibTrans" presStyleCnt="0"/>
      <dgm:spPr/>
    </dgm:pt>
    <dgm:pt modelId="{5866D25A-1D48-420E-819E-910BFF4EB68D}" type="pres">
      <dgm:prSet presAssocID="{507F4039-926F-452D-AB1C-9710807B95AE}" presName="compNode" presStyleCnt="0"/>
      <dgm:spPr/>
    </dgm:pt>
    <dgm:pt modelId="{BD9C858A-33EC-46B6-A8E4-D476107E0D30}" type="pres">
      <dgm:prSet presAssocID="{507F4039-926F-452D-AB1C-9710807B95AE}" presName="bgRect" presStyleLbl="bgShp" presStyleIdx="1" presStyleCnt="3"/>
      <dgm:spPr/>
    </dgm:pt>
    <dgm:pt modelId="{6EBE8723-DA3D-43A8-8947-5627BD727A2D}" type="pres">
      <dgm:prSet presAssocID="{507F4039-926F-452D-AB1C-9710807B95AE}"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17FD6861-FE3A-4182-8105-44913C8D256E}" type="pres">
      <dgm:prSet presAssocID="{507F4039-926F-452D-AB1C-9710807B95AE}" presName="spaceRect" presStyleCnt="0"/>
      <dgm:spPr/>
    </dgm:pt>
    <dgm:pt modelId="{88836901-2AB0-4F90-9707-3A905DB2BA0B}" type="pres">
      <dgm:prSet presAssocID="{507F4039-926F-452D-AB1C-9710807B95AE}" presName="parTx" presStyleLbl="revTx" presStyleIdx="1" presStyleCnt="3">
        <dgm:presLayoutVars>
          <dgm:chMax val="0"/>
          <dgm:chPref val="0"/>
        </dgm:presLayoutVars>
      </dgm:prSet>
      <dgm:spPr/>
    </dgm:pt>
    <dgm:pt modelId="{38670F42-1452-447C-921C-D16E5C692150}" type="pres">
      <dgm:prSet presAssocID="{4CAEB4D6-1AB3-4166-A55C-17D188A91C16}" presName="sibTrans" presStyleCnt="0"/>
      <dgm:spPr/>
    </dgm:pt>
    <dgm:pt modelId="{9BE75F98-9FC2-4EDF-969D-537ACCE1F61B}" type="pres">
      <dgm:prSet presAssocID="{8ACB46EC-4496-4C17-85A5-EA2DCAC20BBD}" presName="compNode" presStyleCnt="0"/>
      <dgm:spPr/>
    </dgm:pt>
    <dgm:pt modelId="{F05FF7B0-E1CE-4FD4-9F9D-C3350064F3C9}" type="pres">
      <dgm:prSet presAssocID="{8ACB46EC-4496-4C17-85A5-EA2DCAC20BBD}" presName="bgRect" presStyleLbl="bgShp" presStyleIdx="2" presStyleCnt="3"/>
      <dgm:spPr/>
    </dgm:pt>
    <dgm:pt modelId="{2B195F37-70D5-4FF7-A6FF-579BDB1495DA}" type="pres">
      <dgm:prSet presAssocID="{8ACB46EC-4496-4C17-85A5-EA2DCAC20BBD}"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ollar"/>
        </a:ext>
      </dgm:extLst>
    </dgm:pt>
    <dgm:pt modelId="{705FAF46-400D-4D6E-82C1-6C36A871A882}" type="pres">
      <dgm:prSet presAssocID="{8ACB46EC-4496-4C17-85A5-EA2DCAC20BBD}" presName="spaceRect" presStyleCnt="0"/>
      <dgm:spPr/>
    </dgm:pt>
    <dgm:pt modelId="{D9CF0A81-3D23-4FD6-AA8C-08BDC2263E12}" type="pres">
      <dgm:prSet presAssocID="{8ACB46EC-4496-4C17-85A5-EA2DCAC20BBD}" presName="parTx" presStyleLbl="revTx" presStyleIdx="2" presStyleCnt="3">
        <dgm:presLayoutVars>
          <dgm:chMax val="0"/>
          <dgm:chPref val="0"/>
        </dgm:presLayoutVars>
      </dgm:prSet>
      <dgm:spPr/>
    </dgm:pt>
  </dgm:ptLst>
  <dgm:cxnLst>
    <dgm:cxn modelId="{AD6EED12-3FBE-4F9B-A96C-AF2D7A4B2E79}" srcId="{8C00AE96-2880-4A8F-A04A-41E548013C0C}" destId="{507F4039-926F-452D-AB1C-9710807B95AE}" srcOrd="1" destOrd="0" parTransId="{D3A6E431-EDD8-4CB1-BD3C-D40314E7477E}" sibTransId="{4CAEB4D6-1AB3-4166-A55C-17D188A91C16}"/>
    <dgm:cxn modelId="{2ACA9848-D417-4A8E-A588-329F48DE737E}" type="presOf" srcId="{8C00AE96-2880-4A8F-A04A-41E548013C0C}" destId="{F411F76A-67EA-4E07-9264-94DA27DD2716}" srcOrd="0" destOrd="0" presId="urn:microsoft.com/office/officeart/2018/2/layout/IconVerticalSolidList"/>
    <dgm:cxn modelId="{769349BC-A9E4-4BBA-86B1-58A53004B46C}" type="presOf" srcId="{DA125357-8891-4E60-AA56-6EC92136DE89}" destId="{E7354123-B860-4CB2-B066-714C3AE159E0}" srcOrd="0" destOrd="0" presId="urn:microsoft.com/office/officeart/2018/2/layout/IconVerticalSolidList"/>
    <dgm:cxn modelId="{69379EBC-78F5-40D8-A393-B365FA6C7E2C}" srcId="{8C00AE96-2880-4A8F-A04A-41E548013C0C}" destId="{DA125357-8891-4E60-AA56-6EC92136DE89}" srcOrd="0" destOrd="0" parTransId="{F8383BA6-6C46-43C2-8C29-4F33F0BF4D2E}" sibTransId="{7755A883-A1AD-4C0E-BFD3-53DEC69E1E2F}"/>
    <dgm:cxn modelId="{7C8E98C9-A403-46E9-8BBC-5175277E74CA}" type="presOf" srcId="{507F4039-926F-452D-AB1C-9710807B95AE}" destId="{88836901-2AB0-4F90-9707-3A905DB2BA0B}" srcOrd="0" destOrd="0" presId="urn:microsoft.com/office/officeart/2018/2/layout/IconVerticalSolidList"/>
    <dgm:cxn modelId="{B2148AE2-CDF0-40D3-9AF5-9397EEECB126}" srcId="{8C00AE96-2880-4A8F-A04A-41E548013C0C}" destId="{8ACB46EC-4496-4C17-85A5-EA2DCAC20BBD}" srcOrd="2" destOrd="0" parTransId="{BA479F1B-92BE-47B1-A006-89339C46EA1A}" sibTransId="{3AFA4945-5367-4256-BB93-9EA2B4BCB4D5}"/>
    <dgm:cxn modelId="{B1C463EF-95F2-4C8A-A86A-E9D7958968F4}" type="presOf" srcId="{8ACB46EC-4496-4C17-85A5-EA2DCAC20BBD}" destId="{D9CF0A81-3D23-4FD6-AA8C-08BDC2263E12}" srcOrd="0" destOrd="0" presId="urn:microsoft.com/office/officeart/2018/2/layout/IconVerticalSolidList"/>
    <dgm:cxn modelId="{736D3225-1922-4257-86D6-E8F49019BA0A}" type="presParOf" srcId="{F411F76A-67EA-4E07-9264-94DA27DD2716}" destId="{56CD5026-4B38-4EEB-A595-62BE63DBF2F6}" srcOrd="0" destOrd="0" presId="urn:microsoft.com/office/officeart/2018/2/layout/IconVerticalSolidList"/>
    <dgm:cxn modelId="{06CD9FCE-17B7-43F3-A5B8-8165F81C1DD5}" type="presParOf" srcId="{56CD5026-4B38-4EEB-A595-62BE63DBF2F6}" destId="{79670503-5B67-456C-A008-BFD69B1207A3}" srcOrd="0" destOrd="0" presId="urn:microsoft.com/office/officeart/2018/2/layout/IconVerticalSolidList"/>
    <dgm:cxn modelId="{30BF5B42-97AF-4170-8964-0036CC53517E}" type="presParOf" srcId="{56CD5026-4B38-4EEB-A595-62BE63DBF2F6}" destId="{79D7D372-97C6-4A79-8D88-3EB4796D8ED5}" srcOrd="1" destOrd="0" presId="urn:microsoft.com/office/officeart/2018/2/layout/IconVerticalSolidList"/>
    <dgm:cxn modelId="{C6956D28-694D-4D59-AADE-964B9B8CFAAA}" type="presParOf" srcId="{56CD5026-4B38-4EEB-A595-62BE63DBF2F6}" destId="{9153F623-20DF-4304-A72E-2D1D39B50FA2}" srcOrd="2" destOrd="0" presId="urn:microsoft.com/office/officeart/2018/2/layout/IconVerticalSolidList"/>
    <dgm:cxn modelId="{24A93F2F-7D0B-4FA3-B4F9-6AD83FB91F0C}" type="presParOf" srcId="{56CD5026-4B38-4EEB-A595-62BE63DBF2F6}" destId="{E7354123-B860-4CB2-B066-714C3AE159E0}" srcOrd="3" destOrd="0" presId="urn:microsoft.com/office/officeart/2018/2/layout/IconVerticalSolidList"/>
    <dgm:cxn modelId="{6A1B6DD8-FDE5-4736-99C9-B55323C149EA}" type="presParOf" srcId="{F411F76A-67EA-4E07-9264-94DA27DD2716}" destId="{2A6CB8E5-9615-4CC6-9BC9-D292327AE449}" srcOrd="1" destOrd="0" presId="urn:microsoft.com/office/officeart/2018/2/layout/IconVerticalSolidList"/>
    <dgm:cxn modelId="{159DB379-3E30-4EDC-8665-9206DDBFE18D}" type="presParOf" srcId="{F411F76A-67EA-4E07-9264-94DA27DD2716}" destId="{5866D25A-1D48-420E-819E-910BFF4EB68D}" srcOrd="2" destOrd="0" presId="urn:microsoft.com/office/officeart/2018/2/layout/IconVerticalSolidList"/>
    <dgm:cxn modelId="{5B503700-18E2-4586-8C28-E82926479BDD}" type="presParOf" srcId="{5866D25A-1D48-420E-819E-910BFF4EB68D}" destId="{BD9C858A-33EC-46B6-A8E4-D476107E0D30}" srcOrd="0" destOrd="0" presId="urn:microsoft.com/office/officeart/2018/2/layout/IconVerticalSolidList"/>
    <dgm:cxn modelId="{DE2C6019-5071-4119-B127-17C521F3B242}" type="presParOf" srcId="{5866D25A-1D48-420E-819E-910BFF4EB68D}" destId="{6EBE8723-DA3D-43A8-8947-5627BD727A2D}" srcOrd="1" destOrd="0" presId="urn:microsoft.com/office/officeart/2018/2/layout/IconVerticalSolidList"/>
    <dgm:cxn modelId="{F55D8417-3DE5-4531-9424-01A70A973F36}" type="presParOf" srcId="{5866D25A-1D48-420E-819E-910BFF4EB68D}" destId="{17FD6861-FE3A-4182-8105-44913C8D256E}" srcOrd="2" destOrd="0" presId="urn:microsoft.com/office/officeart/2018/2/layout/IconVerticalSolidList"/>
    <dgm:cxn modelId="{B0905F3F-0542-4812-A78E-D5D2127F77CD}" type="presParOf" srcId="{5866D25A-1D48-420E-819E-910BFF4EB68D}" destId="{88836901-2AB0-4F90-9707-3A905DB2BA0B}" srcOrd="3" destOrd="0" presId="urn:microsoft.com/office/officeart/2018/2/layout/IconVerticalSolidList"/>
    <dgm:cxn modelId="{00276B9E-D976-48CB-B75B-E4B0361CC66E}" type="presParOf" srcId="{F411F76A-67EA-4E07-9264-94DA27DD2716}" destId="{38670F42-1452-447C-921C-D16E5C692150}" srcOrd="3" destOrd="0" presId="urn:microsoft.com/office/officeart/2018/2/layout/IconVerticalSolidList"/>
    <dgm:cxn modelId="{8B4B7766-D4EF-4449-9711-A1BB49D59648}" type="presParOf" srcId="{F411F76A-67EA-4E07-9264-94DA27DD2716}" destId="{9BE75F98-9FC2-4EDF-969D-537ACCE1F61B}" srcOrd="4" destOrd="0" presId="urn:microsoft.com/office/officeart/2018/2/layout/IconVerticalSolidList"/>
    <dgm:cxn modelId="{E61931AC-0EA8-4AC4-8700-C413A86532DF}" type="presParOf" srcId="{9BE75F98-9FC2-4EDF-969D-537ACCE1F61B}" destId="{F05FF7B0-E1CE-4FD4-9F9D-C3350064F3C9}" srcOrd="0" destOrd="0" presId="urn:microsoft.com/office/officeart/2018/2/layout/IconVerticalSolidList"/>
    <dgm:cxn modelId="{A5D35B26-B622-4836-AC36-B9FE61063388}" type="presParOf" srcId="{9BE75F98-9FC2-4EDF-969D-537ACCE1F61B}" destId="{2B195F37-70D5-4FF7-A6FF-579BDB1495DA}" srcOrd="1" destOrd="0" presId="urn:microsoft.com/office/officeart/2018/2/layout/IconVerticalSolidList"/>
    <dgm:cxn modelId="{925B0269-079B-4F85-9D4C-08A79F2DD3B3}" type="presParOf" srcId="{9BE75F98-9FC2-4EDF-969D-537ACCE1F61B}" destId="{705FAF46-400D-4D6E-82C1-6C36A871A882}" srcOrd="2" destOrd="0" presId="urn:microsoft.com/office/officeart/2018/2/layout/IconVerticalSolidList"/>
    <dgm:cxn modelId="{9E2DA464-41A6-4EDC-9824-0B7F780C0570}" type="presParOf" srcId="{9BE75F98-9FC2-4EDF-969D-537ACCE1F61B}" destId="{D9CF0A81-3D23-4FD6-AA8C-08BDC2263E12}"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4129FD1-9AC6-4E93-86CD-CB813D641E32}" type="doc">
      <dgm:prSet loTypeId="urn:microsoft.com/office/officeart/2018/2/layout/IconVerticalSolidList" loCatId="icon" qsTypeId="urn:microsoft.com/office/officeart/2005/8/quickstyle/simple1" qsCatId="simple" csTypeId="urn:microsoft.com/office/officeart/2018/5/colors/Iconchunking_neutralbg_accent3_2" csCatId="accent3" phldr="1"/>
      <dgm:spPr/>
      <dgm:t>
        <a:bodyPr/>
        <a:lstStyle/>
        <a:p>
          <a:endParaRPr lang="en-US"/>
        </a:p>
      </dgm:t>
    </dgm:pt>
    <dgm:pt modelId="{41FC5547-CC94-4B46-BB46-7D8969E18BD5}">
      <dgm:prSet/>
      <dgm:spPr/>
      <dgm:t>
        <a:bodyPr/>
        <a:lstStyle/>
        <a:p>
          <a:r>
            <a:rPr lang="en-US"/>
            <a:t>We don’t discount this service because the scope doesn’t change, The proposal still requires the same strategy, writing, and compliance rigor.</a:t>
          </a:r>
        </a:p>
      </dgm:t>
    </dgm:pt>
    <dgm:pt modelId="{D9A08F69-7A29-464B-B085-8B7071BA2778}" type="parTrans" cxnId="{FA835D73-FD77-44C9-AA14-AE8D4A014E9D}">
      <dgm:prSet/>
      <dgm:spPr/>
      <dgm:t>
        <a:bodyPr/>
        <a:lstStyle/>
        <a:p>
          <a:endParaRPr lang="en-US"/>
        </a:p>
      </dgm:t>
    </dgm:pt>
    <dgm:pt modelId="{D982E10F-2124-4A1D-9F96-9A3AA514A9B7}" type="sibTrans" cxnId="{FA835D73-FD77-44C9-AA14-AE8D4A014E9D}">
      <dgm:prSet/>
      <dgm:spPr/>
      <dgm:t>
        <a:bodyPr/>
        <a:lstStyle/>
        <a:p>
          <a:endParaRPr lang="en-US"/>
        </a:p>
      </dgm:t>
    </dgm:pt>
    <dgm:pt modelId="{344BD7BD-DD76-4F6F-A70B-4FAEFFC4EDB8}">
      <dgm:prSet/>
      <dgm:spPr/>
      <dgm:t>
        <a:bodyPr/>
        <a:lstStyle/>
        <a:p>
          <a:r>
            <a:rPr lang="en-US"/>
            <a:t>What we </a:t>
          </a:r>
          <a:r>
            <a:rPr lang="en-US" i="1"/>
            <a:t>can</a:t>
          </a:r>
          <a:r>
            <a:rPr lang="en-US"/>
            <a:t> do is adjust the scope, if needed. For example, we can do Content Refinement or Strategic Review instead. </a:t>
          </a:r>
        </a:p>
      </dgm:t>
    </dgm:pt>
    <dgm:pt modelId="{656C5E56-0618-4084-A8F6-ACE5943D3D7D}" type="parTrans" cxnId="{0F5D4F2A-D692-4F0F-B194-4B2679566C00}">
      <dgm:prSet/>
      <dgm:spPr/>
      <dgm:t>
        <a:bodyPr/>
        <a:lstStyle/>
        <a:p>
          <a:endParaRPr lang="en-US"/>
        </a:p>
      </dgm:t>
    </dgm:pt>
    <dgm:pt modelId="{5F205FCF-1271-4B0D-8997-23205313A2A2}" type="sibTrans" cxnId="{0F5D4F2A-D692-4F0F-B194-4B2679566C00}">
      <dgm:prSet/>
      <dgm:spPr/>
      <dgm:t>
        <a:bodyPr/>
        <a:lstStyle/>
        <a:p>
          <a:endParaRPr lang="en-US"/>
        </a:p>
      </dgm:t>
    </dgm:pt>
    <dgm:pt modelId="{035601B8-484E-4081-B2F0-DA8973384CB7}" type="pres">
      <dgm:prSet presAssocID="{D4129FD1-9AC6-4E93-86CD-CB813D641E32}" presName="root" presStyleCnt="0">
        <dgm:presLayoutVars>
          <dgm:dir/>
          <dgm:resizeHandles val="exact"/>
        </dgm:presLayoutVars>
      </dgm:prSet>
      <dgm:spPr/>
    </dgm:pt>
    <dgm:pt modelId="{14B6CF6C-E693-493E-B75B-5B08AC53B1C5}" type="pres">
      <dgm:prSet presAssocID="{41FC5547-CC94-4B46-BB46-7D8969E18BD5}" presName="compNode" presStyleCnt="0"/>
      <dgm:spPr/>
    </dgm:pt>
    <dgm:pt modelId="{91AAEE82-1566-4768-A24E-5704494E37BC}" type="pres">
      <dgm:prSet presAssocID="{41FC5547-CC94-4B46-BB46-7D8969E18BD5}" presName="bgRect" presStyleLbl="bgShp" presStyleIdx="0" presStyleCnt="2"/>
      <dgm:spPr/>
    </dgm:pt>
    <dgm:pt modelId="{3D9BC566-885E-4522-A9EA-CFB86278A522}" type="pres">
      <dgm:prSet presAssocID="{41FC5547-CC94-4B46-BB46-7D8969E18BD5}"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uro"/>
        </a:ext>
      </dgm:extLst>
    </dgm:pt>
    <dgm:pt modelId="{6D2B2F46-3FB7-42F7-8084-F5BB377295BC}" type="pres">
      <dgm:prSet presAssocID="{41FC5547-CC94-4B46-BB46-7D8969E18BD5}" presName="spaceRect" presStyleCnt="0"/>
      <dgm:spPr/>
    </dgm:pt>
    <dgm:pt modelId="{37F9EFE1-7DF7-40EC-9EF4-9E95C8892A3E}" type="pres">
      <dgm:prSet presAssocID="{41FC5547-CC94-4B46-BB46-7D8969E18BD5}" presName="parTx" presStyleLbl="revTx" presStyleIdx="0" presStyleCnt="2">
        <dgm:presLayoutVars>
          <dgm:chMax val="0"/>
          <dgm:chPref val="0"/>
        </dgm:presLayoutVars>
      </dgm:prSet>
      <dgm:spPr/>
    </dgm:pt>
    <dgm:pt modelId="{ECC2EF91-FE20-447E-ADCF-6506E690AF06}" type="pres">
      <dgm:prSet presAssocID="{D982E10F-2124-4A1D-9F96-9A3AA514A9B7}" presName="sibTrans" presStyleCnt="0"/>
      <dgm:spPr/>
    </dgm:pt>
    <dgm:pt modelId="{61883D5D-AE97-4C76-A12B-4C02D3DC8227}" type="pres">
      <dgm:prSet presAssocID="{344BD7BD-DD76-4F6F-A70B-4FAEFFC4EDB8}" presName="compNode" presStyleCnt="0"/>
      <dgm:spPr/>
    </dgm:pt>
    <dgm:pt modelId="{FF2F8446-7EE8-4CD1-B637-49D455BAED9A}" type="pres">
      <dgm:prSet presAssocID="{344BD7BD-DD76-4F6F-A70B-4FAEFFC4EDB8}" presName="bgRect" presStyleLbl="bgShp" presStyleIdx="1" presStyleCnt="2"/>
      <dgm:spPr/>
    </dgm:pt>
    <dgm:pt modelId="{C846EB9D-CA2A-4690-9117-58782E5AE863}" type="pres">
      <dgm:prSet presAssocID="{344BD7BD-DD76-4F6F-A70B-4FAEFFC4EDB8}"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9E162F50-06B1-477E-A710-F3F5E9D0ACA7}" type="pres">
      <dgm:prSet presAssocID="{344BD7BD-DD76-4F6F-A70B-4FAEFFC4EDB8}" presName="spaceRect" presStyleCnt="0"/>
      <dgm:spPr/>
    </dgm:pt>
    <dgm:pt modelId="{84B4BE4C-63DA-4F3A-91EB-35524ED9F56B}" type="pres">
      <dgm:prSet presAssocID="{344BD7BD-DD76-4F6F-A70B-4FAEFFC4EDB8}" presName="parTx" presStyleLbl="revTx" presStyleIdx="1" presStyleCnt="2">
        <dgm:presLayoutVars>
          <dgm:chMax val="0"/>
          <dgm:chPref val="0"/>
        </dgm:presLayoutVars>
      </dgm:prSet>
      <dgm:spPr/>
    </dgm:pt>
  </dgm:ptLst>
  <dgm:cxnLst>
    <dgm:cxn modelId="{0F5D4F2A-D692-4F0F-B194-4B2679566C00}" srcId="{D4129FD1-9AC6-4E93-86CD-CB813D641E32}" destId="{344BD7BD-DD76-4F6F-A70B-4FAEFFC4EDB8}" srcOrd="1" destOrd="0" parTransId="{656C5E56-0618-4084-A8F6-ACE5943D3D7D}" sibTransId="{5F205FCF-1271-4B0D-8997-23205313A2A2}"/>
    <dgm:cxn modelId="{FA835D73-FD77-44C9-AA14-AE8D4A014E9D}" srcId="{D4129FD1-9AC6-4E93-86CD-CB813D641E32}" destId="{41FC5547-CC94-4B46-BB46-7D8969E18BD5}" srcOrd="0" destOrd="0" parTransId="{D9A08F69-7A29-464B-B085-8B7071BA2778}" sibTransId="{D982E10F-2124-4A1D-9F96-9A3AA514A9B7}"/>
    <dgm:cxn modelId="{D337E4CA-E2B8-4599-9111-E350754853B8}" type="presOf" srcId="{41FC5547-CC94-4B46-BB46-7D8969E18BD5}" destId="{37F9EFE1-7DF7-40EC-9EF4-9E95C8892A3E}" srcOrd="0" destOrd="0" presId="urn:microsoft.com/office/officeart/2018/2/layout/IconVerticalSolidList"/>
    <dgm:cxn modelId="{FBF3DCDD-C003-453D-A800-407E597C3AB4}" type="presOf" srcId="{344BD7BD-DD76-4F6F-A70B-4FAEFFC4EDB8}" destId="{84B4BE4C-63DA-4F3A-91EB-35524ED9F56B}" srcOrd="0" destOrd="0" presId="urn:microsoft.com/office/officeart/2018/2/layout/IconVerticalSolidList"/>
    <dgm:cxn modelId="{DDFAECE3-7B5F-4AB3-8643-C758DAD01C46}" type="presOf" srcId="{D4129FD1-9AC6-4E93-86CD-CB813D641E32}" destId="{035601B8-484E-4081-B2F0-DA8973384CB7}" srcOrd="0" destOrd="0" presId="urn:microsoft.com/office/officeart/2018/2/layout/IconVerticalSolidList"/>
    <dgm:cxn modelId="{0E3DA482-26CE-4EA6-A7CD-2FFD232817CA}" type="presParOf" srcId="{035601B8-484E-4081-B2F0-DA8973384CB7}" destId="{14B6CF6C-E693-493E-B75B-5B08AC53B1C5}" srcOrd="0" destOrd="0" presId="urn:microsoft.com/office/officeart/2018/2/layout/IconVerticalSolidList"/>
    <dgm:cxn modelId="{13230053-E10B-4964-9086-0A48679592E8}" type="presParOf" srcId="{14B6CF6C-E693-493E-B75B-5B08AC53B1C5}" destId="{91AAEE82-1566-4768-A24E-5704494E37BC}" srcOrd="0" destOrd="0" presId="urn:microsoft.com/office/officeart/2018/2/layout/IconVerticalSolidList"/>
    <dgm:cxn modelId="{462725A8-A375-4D9F-ABF2-23905962AA29}" type="presParOf" srcId="{14B6CF6C-E693-493E-B75B-5B08AC53B1C5}" destId="{3D9BC566-885E-4522-A9EA-CFB86278A522}" srcOrd="1" destOrd="0" presId="urn:microsoft.com/office/officeart/2018/2/layout/IconVerticalSolidList"/>
    <dgm:cxn modelId="{594EEF27-29DE-47E0-8C6D-B303B2140EB8}" type="presParOf" srcId="{14B6CF6C-E693-493E-B75B-5B08AC53B1C5}" destId="{6D2B2F46-3FB7-42F7-8084-F5BB377295BC}" srcOrd="2" destOrd="0" presId="urn:microsoft.com/office/officeart/2018/2/layout/IconVerticalSolidList"/>
    <dgm:cxn modelId="{74B78358-87F7-4438-B3D0-DBE3A7985059}" type="presParOf" srcId="{14B6CF6C-E693-493E-B75B-5B08AC53B1C5}" destId="{37F9EFE1-7DF7-40EC-9EF4-9E95C8892A3E}" srcOrd="3" destOrd="0" presId="urn:microsoft.com/office/officeart/2018/2/layout/IconVerticalSolidList"/>
    <dgm:cxn modelId="{3E52818C-28A0-4C1C-86F4-C6E9967F7910}" type="presParOf" srcId="{035601B8-484E-4081-B2F0-DA8973384CB7}" destId="{ECC2EF91-FE20-447E-ADCF-6506E690AF06}" srcOrd="1" destOrd="0" presId="urn:microsoft.com/office/officeart/2018/2/layout/IconVerticalSolidList"/>
    <dgm:cxn modelId="{2944346A-A422-4056-8CF0-59ECBA8BEF72}" type="presParOf" srcId="{035601B8-484E-4081-B2F0-DA8973384CB7}" destId="{61883D5D-AE97-4C76-A12B-4C02D3DC8227}" srcOrd="2" destOrd="0" presId="urn:microsoft.com/office/officeart/2018/2/layout/IconVerticalSolidList"/>
    <dgm:cxn modelId="{11196485-6D61-4FA8-A43E-6157F8A0F316}" type="presParOf" srcId="{61883D5D-AE97-4C76-A12B-4C02D3DC8227}" destId="{FF2F8446-7EE8-4CD1-B637-49D455BAED9A}" srcOrd="0" destOrd="0" presId="urn:microsoft.com/office/officeart/2018/2/layout/IconVerticalSolidList"/>
    <dgm:cxn modelId="{51808EFA-FB9F-4529-8CA9-841A5C6DF53E}" type="presParOf" srcId="{61883D5D-AE97-4C76-A12B-4C02D3DC8227}" destId="{C846EB9D-CA2A-4690-9117-58782E5AE863}" srcOrd="1" destOrd="0" presId="urn:microsoft.com/office/officeart/2018/2/layout/IconVerticalSolidList"/>
    <dgm:cxn modelId="{5C00BEE1-1BFA-4F84-AD4B-70B1BFA55441}" type="presParOf" srcId="{61883D5D-AE97-4C76-A12B-4C02D3DC8227}" destId="{9E162F50-06B1-477E-A710-F3F5E9D0ACA7}" srcOrd="2" destOrd="0" presId="urn:microsoft.com/office/officeart/2018/2/layout/IconVerticalSolidList"/>
    <dgm:cxn modelId="{903EDEDF-AE90-4892-8CAB-B1834579D48F}" type="presParOf" srcId="{61883D5D-AE97-4C76-A12B-4C02D3DC8227}" destId="{84B4BE4C-63DA-4F3A-91EB-35524ED9F56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6401EAB-BE5A-4964-8638-E1268B33F574}">
      <dsp:nvSpPr>
        <dsp:cNvPr id="0" name=""/>
        <dsp:cNvSpPr/>
      </dsp:nvSpPr>
      <dsp:spPr>
        <a:xfrm>
          <a:off x="0" y="1375902"/>
          <a:ext cx="6291714" cy="595350"/>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8307" tIns="291592" rIns="488307"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Upsell to library content or DFY Set-Up</a:t>
          </a:r>
        </a:p>
      </dsp:txBody>
      <dsp:txXfrm>
        <a:off x="0" y="1375902"/>
        <a:ext cx="6291714" cy="595350"/>
      </dsp:txXfrm>
    </dsp:sp>
    <dsp:sp modelId="{9E3A8CBB-B1E9-46CB-9AE4-5086A86AD581}">
      <dsp:nvSpPr>
        <dsp:cNvPr id="0" name=""/>
        <dsp:cNvSpPr/>
      </dsp:nvSpPr>
      <dsp:spPr>
        <a:xfrm>
          <a:off x="314585" y="1169262"/>
          <a:ext cx="4404199" cy="4132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6468" tIns="0" rIns="166468" bIns="0" numCol="1" spcCol="1270" anchor="ctr" anchorCtr="0">
          <a:noAutofit/>
        </a:bodyPr>
        <a:lstStyle/>
        <a:p>
          <a:pPr marL="0" lvl="0" indent="0" algn="l" defTabSz="622300">
            <a:lnSpc>
              <a:spcPct val="90000"/>
            </a:lnSpc>
            <a:spcBef>
              <a:spcPct val="0"/>
            </a:spcBef>
            <a:spcAft>
              <a:spcPct val="35000"/>
            </a:spcAft>
            <a:buNone/>
          </a:pPr>
          <a:r>
            <a:rPr lang="en-US" sz="1400" kern="1200"/>
            <a:t>Express (Avatar done)</a:t>
          </a:r>
        </a:p>
      </dsp:txBody>
      <dsp:txXfrm>
        <a:off x="334760" y="1189437"/>
        <a:ext cx="4363849" cy="372930"/>
      </dsp:txXfrm>
    </dsp:sp>
    <dsp:sp modelId="{CE915C0E-CDBA-412A-96C4-ABAEE78FC8EE}">
      <dsp:nvSpPr>
        <dsp:cNvPr id="0" name=""/>
        <dsp:cNvSpPr/>
      </dsp:nvSpPr>
      <dsp:spPr>
        <a:xfrm>
          <a:off x="0" y="2253492"/>
          <a:ext cx="6291714" cy="595350"/>
        </a:xfrm>
        <a:prstGeom prst="rect">
          <a:avLst/>
        </a:prstGeom>
        <a:solidFill>
          <a:schemeClr val="lt1">
            <a:alpha val="90000"/>
            <a:hueOff val="0"/>
            <a:satOff val="0"/>
            <a:lumOff val="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8307" tIns="291592" rIns="488307"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Upsell to Full Audit</a:t>
          </a:r>
        </a:p>
      </dsp:txBody>
      <dsp:txXfrm>
        <a:off x="0" y="2253492"/>
        <a:ext cx="6291714" cy="595350"/>
      </dsp:txXfrm>
    </dsp:sp>
    <dsp:sp modelId="{54479665-FA46-4596-8003-87DDFE13BE25}">
      <dsp:nvSpPr>
        <dsp:cNvPr id="0" name=""/>
        <dsp:cNvSpPr/>
      </dsp:nvSpPr>
      <dsp:spPr>
        <a:xfrm>
          <a:off x="314585" y="2046852"/>
          <a:ext cx="4404199" cy="413280"/>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6468" tIns="0" rIns="166468" bIns="0" numCol="1" spcCol="1270" anchor="ctr" anchorCtr="0">
          <a:noAutofit/>
        </a:bodyPr>
        <a:lstStyle/>
        <a:p>
          <a:pPr marL="0" lvl="0" indent="0" algn="l" defTabSz="622300">
            <a:lnSpc>
              <a:spcPct val="90000"/>
            </a:lnSpc>
            <a:spcBef>
              <a:spcPct val="0"/>
            </a:spcBef>
            <a:spcAft>
              <a:spcPct val="35000"/>
            </a:spcAft>
            <a:buNone/>
          </a:pPr>
          <a:r>
            <a:rPr lang="en-US" sz="1400" kern="1200"/>
            <a:t>Audit Lite (Avatar done)</a:t>
          </a:r>
        </a:p>
      </dsp:txBody>
      <dsp:txXfrm>
        <a:off x="334760" y="2067027"/>
        <a:ext cx="4363849" cy="372930"/>
      </dsp:txXfrm>
    </dsp:sp>
    <dsp:sp modelId="{6FDFEE3F-11C8-4572-BA15-BDEF5D53F053}">
      <dsp:nvSpPr>
        <dsp:cNvPr id="0" name=""/>
        <dsp:cNvSpPr/>
      </dsp:nvSpPr>
      <dsp:spPr>
        <a:xfrm>
          <a:off x="0" y="3131082"/>
          <a:ext cx="6291714" cy="595350"/>
        </a:xfrm>
        <a:prstGeom prst="rect">
          <a:avLst/>
        </a:prstGeom>
        <a:solidFill>
          <a:schemeClr val="lt1">
            <a:alpha val="90000"/>
            <a:hueOff val="0"/>
            <a:satOff val="0"/>
            <a:lumOff val="0"/>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8307" tIns="291592" rIns="488307" bIns="99568" numCol="1" spcCol="1270" anchor="t" anchorCtr="0">
          <a:noAutofit/>
        </a:bodyPr>
        <a:lstStyle/>
        <a:p>
          <a:pPr marL="114300" lvl="1" indent="-114300" algn="l" defTabSz="622300">
            <a:lnSpc>
              <a:spcPct val="90000"/>
            </a:lnSpc>
            <a:spcBef>
              <a:spcPct val="0"/>
            </a:spcBef>
            <a:spcAft>
              <a:spcPct val="15000"/>
            </a:spcAft>
            <a:buChar char="•"/>
          </a:pPr>
          <a:r>
            <a:rPr lang="en-US" sz="1400" kern="1200"/>
            <a:t>Upsell to Compliance / Strategic Review</a:t>
          </a:r>
        </a:p>
      </dsp:txBody>
      <dsp:txXfrm>
        <a:off x="0" y="3131082"/>
        <a:ext cx="6291714" cy="595350"/>
      </dsp:txXfrm>
    </dsp:sp>
    <dsp:sp modelId="{92532A82-5638-41C8-BC24-84320E9CA764}">
      <dsp:nvSpPr>
        <dsp:cNvPr id="0" name=""/>
        <dsp:cNvSpPr/>
      </dsp:nvSpPr>
      <dsp:spPr>
        <a:xfrm>
          <a:off x="314585" y="2924442"/>
          <a:ext cx="4404199" cy="413280"/>
        </a:xfrm>
        <a:prstGeom prst="round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6468" tIns="0" rIns="166468" bIns="0" numCol="1" spcCol="1270" anchor="ctr" anchorCtr="0">
          <a:noAutofit/>
        </a:bodyPr>
        <a:lstStyle/>
        <a:p>
          <a:pPr marL="0" lvl="0" indent="0" algn="l" defTabSz="622300">
            <a:lnSpc>
              <a:spcPct val="90000"/>
            </a:lnSpc>
            <a:spcBef>
              <a:spcPct val="0"/>
            </a:spcBef>
            <a:spcAft>
              <a:spcPct val="35000"/>
            </a:spcAft>
            <a:buNone/>
          </a:pPr>
          <a:r>
            <a:rPr lang="en-US" sz="1400" kern="1200" dirty="0"/>
            <a:t>Content Library (need to talk to Cheri)</a:t>
          </a:r>
        </a:p>
      </dsp:txBody>
      <dsp:txXfrm>
        <a:off x="334760" y="2944617"/>
        <a:ext cx="4363849" cy="372930"/>
      </dsp:txXfrm>
    </dsp:sp>
    <dsp:sp modelId="{FD1CCE3B-E7D7-4D2D-B8B9-4319EAA3FDD8}">
      <dsp:nvSpPr>
        <dsp:cNvPr id="0" name=""/>
        <dsp:cNvSpPr/>
      </dsp:nvSpPr>
      <dsp:spPr>
        <a:xfrm>
          <a:off x="0" y="4008672"/>
          <a:ext cx="6291714" cy="352800"/>
        </a:xfrm>
        <a:prstGeom prst="rect">
          <a:avLst/>
        </a:prstGeom>
        <a:solidFill>
          <a:schemeClr val="lt1">
            <a:alpha val="90000"/>
            <a:hueOff val="0"/>
            <a:satOff val="0"/>
            <a:lumOff val="0"/>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dsp:style>
    </dsp:sp>
    <dsp:sp modelId="{6D99CFD0-4A8E-4608-82B7-A0697697781B}">
      <dsp:nvSpPr>
        <dsp:cNvPr id="0" name=""/>
        <dsp:cNvSpPr/>
      </dsp:nvSpPr>
      <dsp:spPr>
        <a:xfrm>
          <a:off x="314585" y="3802032"/>
          <a:ext cx="4404199" cy="41328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6468" tIns="0" rIns="166468" bIns="0" numCol="1" spcCol="1270" anchor="ctr" anchorCtr="0">
          <a:noAutofit/>
        </a:bodyPr>
        <a:lstStyle/>
        <a:p>
          <a:pPr marL="0" lvl="0" indent="0" algn="l" defTabSz="622300">
            <a:lnSpc>
              <a:spcPct val="90000"/>
            </a:lnSpc>
            <a:spcBef>
              <a:spcPct val="0"/>
            </a:spcBef>
            <a:spcAft>
              <a:spcPct val="35000"/>
            </a:spcAft>
            <a:buNone/>
          </a:pPr>
          <a:r>
            <a:rPr lang="en-US" sz="1400" kern="1200"/>
            <a:t>Compliance / Strategic Review (need to talk to Cheri) </a:t>
          </a:r>
        </a:p>
      </dsp:txBody>
      <dsp:txXfrm>
        <a:off x="334760" y="3822207"/>
        <a:ext cx="4363849" cy="37293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D7539B-B82F-4BA3-AE05-FC27DD8DD42B}">
      <dsp:nvSpPr>
        <dsp:cNvPr id="0" name=""/>
        <dsp:cNvSpPr/>
      </dsp:nvSpPr>
      <dsp:spPr>
        <a:xfrm>
          <a:off x="0" y="1067697"/>
          <a:ext cx="6291714" cy="327600"/>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3565B09-952A-40DB-9ADC-E89825017B83}">
      <dsp:nvSpPr>
        <dsp:cNvPr id="0" name=""/>
        <dsp:cNvSpPr/>
      </dsp:nvSpPr>
      <dsp:spPr>
        <a:xfrm>
          <a:off x="314585" y="875817"/>
          <a:ext cx="4404199" cy="38376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6468" tIns="0" rIns="166468" bIns="0" numCol="1" spcCol="1270" anchor="ctr" anchorCtr="0">
          <a:noAutofit/>
        </a:bodyPr>
        <a:lstStyle/>
        <a:p>
          <a:pPr marL="0" lvl="0" indent="0" algn="l" defTabSz="577850">
            <a:lnSpc>
              <a:spcPct val="90000"/>
            </a:lnSpc>
            <a:spcBef>
              <a:spcPct val="0"/>
            </a:spcBef>
            <a:spcAft>
              <a:spcPct val="35000"/>
            </a:spcAft>
            <a:buNone/>
          </a:pPr>
          <a:r>
            <a:rPr lang="en-US" sz="1300" kern="1200"/>
            <a:t>Full Response Mgmt (Avatar done; Strategy in process)</a:t>
          </a:r>
        </a:p>
      </dsp:txBody>
      <dsp:txXfrm>
        <a:off x="333319" y="894551"/>
        <a:ext cx="4366731" cy="346292"/>
      </dsp:txXfrm>
    </dsp:sp>
    <dsp:sp modelId="{F7F9CE8F-8DE9-4B9A-8EFA-61B74376C444}">
      <dsp:nvSpPr>
        <dsp:cNvPr id="0" name=""/>
        <dsp:cNvSpPr/>
      </dsp:nvSpPr>
      <dsp:spPr>
        <a:xfrm>
          <a:off x="0" y="1657377"/>
          <a:ext cx="6291714" cy="552825"/>
        </a:xfrm>
        <a:prstGeom prst="rect">
          <a:avLst/>
        </a:prstGeom>
        <a:solidFill>
          <a:schemeClr val="lt1">
            <a:alpha val="90000"/>
            <a:hueOff val="0"/>
            <a:satOff val="0"/>
            <a:lumOff val="0"/>
            <a:alphaOff val="0"/>
          </a:schemeClr>
        </a:solidFill>
        <a:ln w="19050" cap="flat" cmpd="sng" algn="ctr">
          <a:solidFill>
            <a:schemeClr val="accent2">
              <a:hueOff val="1610903"/>
              <a:satOff val="-4623"/>
              <a:lumOff val="-7402"/>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8307" tIns="270764" rIns="48830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a:t>Upsell to Full Response Mgmt</a:t>
          </a:r>
        </a:p>
      </dsp:txBody>
      <dsp:txXfrm>
        <a:off x="0" y="1657377"/>
        <a:ext cx="6291714" cy="552825"/>
      </dsp:txXfrm>
    </dsp:sp>
    <dsp:sp modelId="{81D10636-E3D6-44CC-94B5-4E1C91F4695F}">
      <dsp:nvSpPr>
        <dsp:cNvPr id="0" name=""/>
        <dsp:cNvSpPr/>
      </dsp:nvSpPr>
      <dsp:spPr>
        <a:xfrm>
          <a:off x="314585" y="1465497"/>
          <a:ext cx="4404199" cy="383760"/>
        </a:xfrm>
        <a:prstGeom prst="roundRect">
          <a:avLst/>
        </a:prstGeom>
        <a:solidFill>
          <a:schemeClr val="accent2">
            <a:hueOff val="1610903"/>
            <a:satOff val="-4623"/>
            <a:lumOff val="-740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6468" tIns="0" rIns="166468" bIns="0" numCol="1" spcCol="1270" anchor="ctr" anchorCtr="0">
          <a:noAutofit/>
        </a:bodyPr>
        <a:lstStyle/>
        <a:p>
          <a:pPr marL="0" lvl="0" indent="0" algn="l" defTabSz="577850">
            <a:lnSpc>
              <a:spcPct val="90000"/>
            </a:lnSpc>
            <a:spcBef>
              <a:spcPct val="0"/>
            </a:spcBef>
            <a:spcAft>
              <a:spcPct val="35000"/>
            </a:spcAft>
            <a:buNone/>
          </a:pPr>
          <a:r>
            <a:rPr lang="en-US" sz="1300" kern="1200"/>
            <a:t>Content Refinement</a:t>
          </a:r>
        </a:p>
      </dsp:txBody>
      <dsp:txXfrm>
        <a:off x="333319" y="1484231"/>
        <a:ext cx="4366731" cy="346292"/>
      </dsp:txXfrm>
    </dsp:sp>
    <dsp:sp modelId="{BEC967CC-8B46-4FF0-9658-DE5E895327E5}">
      <dsp:nvSpPr>
        <dsp:cNvPr id="0" name=""/>
        <dsp:cNvSpPr/>
      </dsp:nvSpPr>
      <dsp:spPr>
        <a:xfrm>
          <a:off x="0" y="2472282"/>
          <a:ext cx="6291714" cy="552825"/>
        </a:xfrm>
        <a:prstGeom prst="rect">
          <a:avLst/>
        </a:prstGeom>
        <a:solidFill>
          <a:schemeClr val="lt1">
            <a:alpha val="90000"/>
            <a:hueOff val="0"/>
            <a:satOff val="0"/>
            <a:lumOff val="0"/>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8307" tIns="270764" rIns="48830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a:t>Upsell to any of the other four services</a:t>
          </a:r>
        </a:p>
      </dsp:txBody>
      <dsp:txXfrm>
        <a:off x="0" y="2472282"/>
        <a:ext cx="6291714" cy="552825"/>
      </dsp:txXfrm>
    </dsp:sp>
    <dsp:sp modelId="{C08FAC2E-429B-4749-93C1-7BD37CACBF80}">
      <dsp:nvSpPr>
        <dsp:cNvPr id="0" name=""/>
        <dsp:cNvSpPr/>
      </dsp:nvSpPr>
      <dsp:spPr>
        <a:xfrm>
          <a:off x="314585" y="2280402"/>
          <a:ext cx="4404199" cy="383760"/>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6468" tIns="0" rIns="166468" bIns="0" numCol="1" spcCol="1270" anchor="ctr" anchorCtr="0">
          <a:noAutofit/>
        </a:bodyPr>
        <a:lstStyle/>
        <a:p>
          <a:pPr marL="0" lvl="0" indent="0" algn="l" defTabSz="577850">
            <a:lnSpc>
              <a:spcPct val="90000"/>
            </a:lnSpc>
            <a:spcBef>
              <a:spcPct val="0"/>
            </a:spcBef>
            <a:spcAft>
              <a:spcPct val="35000"/>
            </a:spcAft>
            <a:buNone/>
          </a:pPr>
          <a:r>
            <a:rPr lang="en-US" sz="1300" kern="1200"/>
            <a:t>Full Audit (Avatar done)</a:t>
          </a:r>
        </a:p>
      </dsp:txBody>
      <dsp:txXfrm>
        <a:off x="333319" y="2299136"/>
        <a:ext cx="4366731" cy="346292"/>
      </dsp:txXfrm>
    </dsp:sp>
    <dsp:sp modelId="{69AC4A0F-C04D-483A-B6E3-D0557542EC47}">
      <dsp:nvSpPr>
        <dsp:cNvPr id="0" name=""/>
        <dsp:cNvSpPr/>
      </dsp:nvSpPr>
      <dsp:spPr>
        <a:xfrm>
          <a:off x="0" y="3287187"/>
          <a:ext cx="6291714" cy="552825"/>
        </a:xfrm>
        <a:prstGeom prst="rect">
          <a:avLst/>
        </a:prstGeom>
        <a:solidFill>
          <a:schemeClr val="lt1">
            <a:alpha val="90000"/>
            <a:hueOff val="0"/>
            <a:satOff val="0"/>
            <a:lumOff val="0"/>
            <a:alphaOff val="0"/>
          </a:schemeClr>
        </a:solidFill>
        <a:ln w="19050" cap="flat" cmpd="sng" algn="ctr">
          <a:solidFill>
            <a:schemeClr val="accent2">
              <a:hueOff val="4832710"/>
              <a:satOff val="-13870"/>
              <a:lumOff val="-2220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8307" tIns="270764" rIns="48830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a:t>Upsell to Strategic Review or Content Refinement</a:t>
          </a:r>
        </a:p>
      </dsp:txBody>
      <dsp:txXfrm>
        <a:off x="0" y="3287187"/>
        <a:ext cx="6291714" cy="552825"/>
      </dsp:txXfrm>
    </dsp:sp>
    <dsp:sp modelId="{BA6CDB78-3C66-4613-8CC2-B05DF3A84070}">
      <dsp:nvSpPr>
        <dsp:cNvPr id="0" name=""/>
        <dsp:cNvSpPr/>
      </dsp:nvSpPr>
      <dsp:spPr>
        <a:xfrm>
          <a:off x="314585" y="3095307"/>
          <a:ext cx="4404199" cy="383760"/>
        </a:xfrm>
        <a:prstGeom prst="roundRect">
          <a:avLst/>
        </a:prstGeom>
        <a:solidFill>
          <a:schemeClr val="accent2">
            <a:hueOff val="4832710"/>
            <a:satOff val="-13870"/>
            <a:lumOff val="-2220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6468" tIns="0" rIns="166468" bIns="0" numCol="1" spcCol="1270" anchor="ctr" anchorCtr="0">
          <a:noAutofit/>
        </a:bodyPr>
        <a:lstStyle/>
        <a:p>
          <a:pPr marL="0" lvl="0" indent="0" algn="l" defTabSz="577850">
            <a:lnSpc>
              <a:spcPct val="90000"/>
            </a:lnSpc>
            <a:spcBef>
              <a:spcPct val="0"/>
            </a:spcBef>
            <a:spcAft>
              <a:spcPct val="35000"/>
            </a:spcAft>
            <a:buNone/>
          </a:pPr>
          <a:r>
            <a:rPr lang="en-US" sz="1300" kern="1200"/>
            <a:t>Content Library</a:t>
          </a:r>
        </a:p>
      </dsp:txBody>
      <dsp:txXfrm>
        <a:off x="333319" y="3114041"/>
        <a:ext cx="4366731" cy="346292"/>
      </dsp:txXfrm>
    </dsp:sp>
    <dsp:sp modelId="{BF8A40B6-331B-4741-877E-CAF04626CA52}">
      <dsp:nvSpPr>
        <dsp:cNvPr id="0" name=""/>
        <dsp:cNvSpPr/>
      </dsp:nvSpPr>
      <dsp:spPr>
        <a:xfrm>
          <a:off x="0" y="4102092"/>
          <a:ext cx="6291714" cy="552825"/>
        </a:xfrm>
        <a:prstGeom prst="rect">
          <a:avLst/>
        </a:prstGeom>
        <a:solidFill>
          <a:schemeClr val="lt1">
            <a:alpha val="90000"/>
            <a:hueOff val="0"/>
            <a:satOff val="0"/>
            <a:lumOff val="0"/>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88307" tIns="270764" rIns="488307" bIns="92456" numCol="1" spcCol="1270" anchor="t" anchorCtr="0">
          <a:noAutofit/>
        </a:bodyPr>
        <a:lstStyle/>
        <a:p>
          <a:pPr marL="114300" lvl="1" indent="-114300" algn="l" defTabSz="577850">
            <a:lnSpc>
              <a:spcPct val="90000"/>
            </a:lnSpc>
            <a:spcBef>
              <a:spcPct val="0"/>
            </a:spcBef>
            <a:spcAft>
              <a:spcPct val="15000"/>
            </a:spcAft>
            <a:buChar char="•"/>
          </a:pPr>
          <a:r>
            <a:rPr lang="en-US" sz="1300" kern="1200"/>
            <a:t>Upsell to Library Content or Content Refinement</a:t>
          </a:r>
        </a:p>
      </dsp:txBody>
      <dsp:txXfrm>
        <a:off x="0" y="4102092"/>
        <a:ext cx="6291714" cy="552825"/>
      </dsp:txXfrm>
    </dsp:sp>
    <dsp:sp modelId="{9F3E46FE-8098-4CA8-A3D0-53FA42432EAE}">
      <dsp:nvSpPr>
        <dsp:cNvPr id="0" name=""/>
        <dsp:cNvSpPr/>
      </dsp:nvSpPr>
      <dsp:spPr>
        <a:xfrm>
          <a:off x="314585" y="3910212"/>
          <a:ext cx="4404199" cy="38376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6468" tIns="0" rIns="166468" bIns="0" numCol="1" spcCol="1270" anchor="ctr" anchorCtr="0">
          <a:noAutofit/>
        </a:bodyPr>
        <a:lstStyle/>
        <a:p>
          <a:pPr marL="0" lvl="0" indent="0" algn="l" defTabSz="577850">
            <a:lnSpc>
              <a:spcPct val="90000"/>
            </a:lnSpc>
            <a:spcBef>
              <a:spcPct val="0"/>
            </a:spcBef>
            <a:spcAft>
              <a:spcPct val="35000"/>
            </a:spcAft>
            <a:buNone/>
          </a:pPr>
          <a:r>
            <a:rPr lang="en-US" sz="1300" kern="1200"/>
            <a:t>Compliance / Strategic Review</a:t>
          </a:r>
        </a:p>
      </dsp:txBody>
      <dsp:txXfrm>
        <a:off x="333319" y="3928946"/>
        <a:ext cx="4366731" cy="3462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9670503-5B67-456C-A008-BFD69B1207A3}">
      <dsp:nvSpPr>
        <dsp:cNvPr id="0" name=""/>
        <dsp:cNvSpPr/>
      </dsp:nvSpPr>
      <dsp:spPr>
        <a:xfrm>
          <a:off x="0" y="682"/>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D7D372-97C6-4A79-8D88-3EB4796D8ED5}">
      <dsp:nvSpPr>
        <dsp:cNvPr id="0" name=""/>
        <dsp:cNvSpPr/>
      </dsp:nvSpPr>
      <dsp:spPr>
        <a:xfrm>
          <a:off x="482961" y="359909"/>
          <a:ext cx="878111" cy="8781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7354123-B860-4CB2-B066-714C3AE159E0}">
      <dsp:nvSpPr>
        <dsp:cNvPr id="0" name=""/>
        <dsp:cNvSpPr/>
      </dsp:nvSpPr>
      <dsp:spPr>
        <a:xfrm>
          <a:off x="1844034" y="682"/>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755650">
            <a:lnSpc>
              <a:spcPct val="100000"/>
            </a:lnSpc>
            <a:spcBef>
              <a:spcPct val="0"/>
            </a:spcBef>
            <a:spcAft>
              <a:spcPct val="35000"/>
            </a:spcAft>
            <a:buNone/>
          </a:pPr>
          <a:r>
            <a:rPr lang="en-US" sz="1700" kern="1200"/>
            <a:t>Totally understand. Most companies underestimate how much work goes into a competitive, compliant, large-scale proposal.</a:t>
          </a:r>
        </a:p>
      </dsp:txBody>
      <dsp:txXfrm>
        <a:off x="1844034" y="682"/>
        <a:ext cx="4401230" cy="1596566"/>
      </dsp:txXfrm>
    </dsp:sp>
    <dsp:sp modelId="{BD9C858A-33EC-46B6-A8E4-D476107E0D30}">
      <dsp:nvSpPr>
        <dsp:cNvPr id="0" name=""/>
        <dsp:cNvSpPr/>
      </dsp:nvSpPr>
      <dsp:spPr>
        <a:xfrm>
          <a:off x="0" y="1996390"/>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EBE8723-DA3D-43A8-8947-5627BD727A2D}">
      <dsp:nvSpPr>
        <dsp:cNvPr id="0" name=""/>
        <dsp:cNvSpPr/>
      </dsp:nvSpPr>
      <dsp:spPr>
        <a:xfrm>
          <a:off x="482961" y="2355617"/>
          <a:ext cx="878111" cy="8781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8836901-2AB0-4F90-9707-3A905DB2BA0B}">
      <dsp:nvSpPr>
        <dsp:cNvPr id="0" name=""/>
        <dsp:cNvSpPr/>
      </dsp:nvSpPr>
      <dsp:spPr>
        <a:xfrm>
          <a:off x="1844034" y="1996390"/>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755650">
            <a:lnSpc>
              <a:spcPct val="100000"/>
            </a:lnSpc>
            <a:spcBef>
              <a:spcPct val="0"/>
            </a:spcBef>
            <a:spcAft>
              <a:spcPct val="35000"/>
            </a:spcAft>
            <a:buNone/>
          </a:pPr>
          <a:r>
            <a:rPr lang="en-US" sz="1700" kern="1200"/>
            <a:t>Our pricing reflects the full project management, SME coordination, writing, strategy, compliance, and peer review that goes into delivering </a:t>
          </a:r>
          <a:r>
            <a:rPr lang="en-US" sz="1700" i="1" kern="1200"/>
            <a:t>a proposal that can win</a:t>
          </a:r>
          <a:r>
            <a:rPr lang="en-US" sz="1700" kern="1200"/>
            <a:t>.</a:t>
          </a:r>
        </a:p>
      </dsp:txBody>
      <dsp:txXfrm>
        <a:off x="1844034" y="1996390"/>
        <a:ext cx="4401230" cy="1596566"/>
      </dsp:txXfrm>
    </dsp:sp>
    <dsp:sp modelId="{F05FF7B0-E1CE-4FD4-9F9D-C3350064F3C9}">
      <dsp:nvSpPr>
        <dsp:cNvPr id="0" name=""/>
        <dsp:cNvSpPr/>
      </dsp:nvSpPr>
      <dsp:spPr>
        <a:xfrm>
          <a:off x="0" y="3992098"/>
          <a:ext cx="6245265" cy="159656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195F37-70D5-4FF7-A6FF-579BDB1495DA}">
      <dsp:nvSpPr>
        <dsp:cNvPr id="0" name=""/>
        <dsp:cNvSpPr/>
      </dsp:nvSpPr>
      <dsp:spPr>
        <a:xfrm>
          <a:off x="482961" y="4351325"/>
          <a:ext cx="878111" cy="8781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CF0A81-3D23-4FD6-AA8C-08BDC2263E12}">
      <dsp:nvSpPr>
        <dsp:cNvPr id="0" name=""/>
        <dsp:cNvSpPr/>
      </dsp:nvSpPr>
      <dsp:spPr>
        <a:xfrm>
          <a:off x="1844034" y="3992098"/>
          <a:ext cx="4401230" cy="15965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8970" tIns="168970" rIns="168970" bIns="168970" numCol="1" spcCol="1270" anchor="ctr" anchorCtr="0">
          <a:noAutofit/>
        </a:bodyPr>
        <a:lstStyle/>
        <a:p>
          <a:pPr marL="0" lvl="0" indent="0" algn="l" defTabSz="755650">
            <a:lnSpc>
              <a:spcPct val="100000"/>
            </a:lnSpc>
            <a:spcBef>
              <a:spcPct val="0"/>
            </a:spcBef>
            <a:spcAft>
              <a:spcPct val="35000"/>
            </a:spcAft>
            <a:buNone/>
          </a:pPr>
          <a:r>
            <a:rPr lang="en-US" sz="1700" kern="1200"/>
            <a:t>And because this contract is valued at $_____, a strong response pays for itself many times over.</a:t>
          </a:r>
        </a:p>
      </dsp:txBody>
      <dsp:txXfrm>
        <a:off x="1844034" y="3992098"/>
        <a:ext cx="4401230" cy="159656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AAEE82-1566-4768-A24E-5704494E37BC}">
      <dsp:nvSpPr>
        <dsp:cNvPr id="0" name=""/>
        <dsp:cNvSpPr/>
      </dsp:nvSpPr>
      <dsp:spPr>
        <a:xfrm>
          <a:off x="0" y="894511"/>
          <a:ext cx="6263640" cy="16514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D9BC566-885E-4522-A9EA-CFB86278A522}">
      <dsp:nvSpPr>
        <dsp:cNvPr id="0" name=""/>
        <dsp:cNvSpPr/>
      </dsp:nvSpPr>
      <dsp:spPr>
        <a:xfrm>
          <a:off x="499550" y="1266078"/>
          <a:ext cx="908273" cy="90827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7F9EFE1-7DF7-40EC-9EF4-9E95C8892A3E}">
      <dsp:nvSpPr>
        <dsp:cNvPr id="0" name=""/>
        <dsp:cNvSpPr/>
      </dsp:nvSpPr>
      <dsp:spPr>
        <a:xfrm>
          <a:off x="1907374" y="894511"/>
          <a:ext cx="4356265" cy="1651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774" tIns="174774" rIns="174774" bIns="174774" numCol="1" spcCol="1270" anchor="ctr" anchorCtr="0">
          <a:noAutofit/>
        </a:bodyPr>
        <a:lstStyle/>
        <a:p>
          <a:pPr marL="0" lvl="0" indent="0" algn="l" defTabSz="844550">
            <a:lnSpc>
              <a:spcPct val="90000"/>
            </a:lnSpc>
            <a:spcBef>
              <a:spcPct val="0"/>
            </a:spcBef>
            <a:spcAft>
              <a:spcPct val="35000"/>
            </a:spcAft>
            <a:buNone/>
          </a:pPr>
          <a:r>
            <a:rPr lang="en-US" sz="1900" kern="1200"/>
            <a:t>We don’t discount this service because the scope doesn’t change, The proposal still requires the same strategy, writing, and compliance rigor.</a:t>
          </a:r>
        </a:p>
      </dsp:txBody>
      <dsp:txXfrm>
        <a:off x="1907374" y="894511"/>
        <a:ext cx="4356265" cy="1651406"/>
      </dsp:txXfrm>
    </dsp:sp>
    <dsp:sp modelId="{FF2F8446-7EE8-4CD1-B637-49D455BAED9A}">
      <dsp:nvSpPr>
        <dsp:cNvPr id="0" name=""/>
        <dsp:cNvSpPr/>
      </dsp:nvSpPr>
      <dsp:spPr>
        <a:xfrm>
          <a:off x="0" y="2958769"/>
          <a:ext cx="6263640" cy="1651406"/>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846EB9D-CA2A-4690-9117-58782E5AE863}">
      <dsp:nvSpPr>
        <dsp:cNvPr id="0" name=""/>
        <dsp:cNvSpPr/>
      </dsp:nvSpPr>
      <dsp:spPr>
        <a:xfrm>
          <a:off x="499550" y="3330336"/>
          <a:ext cx="908273" cy="90827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4B4BE4C-63DA-4F3A-91EB-35524ED9F56B}">
      <dsp:nvSpPr>
        <dsp:cNvPr id="0" name=""/>
        <dsp:cNvSpPr/>
      </dsp:nvSpPr>
      <dsp:spPr>
        <a:xfrm>
          <a:off x="1907374" y="2958769"/>
          <a:ext cx="4356265" cy="165140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4774" tIns="174774" rIns="174774" bIns="174774" numCol="1" spcCol="1270" anchor="ctr" anchorCtr="0">
          <a:noAutofit/>
        </a:bodyPr>
        <a:lstStyle/>
        <a:p>
          <a:pPr marL="0" lvl="0" indent="0" algn="l" defTabSz="844550">
            <a:lnSpc>
              <a:spcPct val="90000"/>
            </a:lnSpc>
            <a:spcBef>
              <a:spcPct val="0"/>
            </a:spcBef>
            <a:spcAft>
              <a:spcPct val="35000"/>
            </a:spcAft>
            <a:buNone/>
          </a:pPr>
          <a:r>
            <a:rPr lang="en-US" sz="1900" kern="1200"/>
            <a:t>What we </a:t>
          </a:r>
          <a:r>
            <a:rPr lang="en-US" sz="1900" i="1" kern="1200"/>
            <a:t>can</a:t>
          </a:r>
          <a:r>
            <a:rPr lang="en-US" sz="1900" kern="1200"/>
            <a:t> do is adjust the scope, if needed. For example, we can do Content Refinement or Strategic Review instead. </a:t>
          </a:r>
        </a:p>
      </dsp:txBody>
      <dsp:txXfrm>
        <a:off x="1907374" y="2958769"/>
        <a:ext cx="4356265" cy="1651406"/>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AC3AB8-CCB4-4709-826D-E6C0A9EC00DD}" type="datetimeFigureOut">
              <a:rPr lang="en-US" smtClean="0"/>
              <a:t>2/16/2026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3FBFE5-D6EC-40F5-8290-FF537D5EBB9C}" type="slidenum">
              <a:rPr lang="en-US" smtClean="0"/>
              <a:t>‹#›</a:t>
            </a:fld>
            <a:endParaRPr lang="en-US"/>
          </a:p>
        </p:txBody>
      </p:sp>
    </p:spTree>
    <p:extLst>
      <p:ext uri="{BB962C8B-B14F-4D97-AF65-F5344CB8AC3E}">
        <p14:creationId xmlns:p14="http://schemas.microsoft.com/office/powerpoint/2010/main" val="42181582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3FBFE5-D6EC-40F5-8290-FF537D5EBB9C}" type="slidenum">
              <a:rPr lang="en-US" smtClean="0"/>
              <a:t>3</a:t>
            </a:fld>
            <a:endParaRPr lang="en-US"/>
          </a:p>
        </p:txBody>
      </p:sp>
    </p:spTree>
    <p:extLst>
      <p:ext uri="{BB962C8B-B14F-4D97-AF65-F5344CB8AC3E}">
        <p14:creationId xmlns:p14="http://schemas.microsoft.com/office/powerpoint/2010/main" val="10042979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EEB8B-6217-F713-1D12-B0225695F3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0B34DF-0472-5A02-9323-236D42BE02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9B599C-1BCF-F19F-832C-8147433A2D24}"/>
              </a:ext>
            </a:extLst>
          </p:cNvPr>
          <p:cNvSpPr>
            <a:spLocks noGrp="1"/>
          </p:cNvSpPr>
          <p:nvPr>
            <p:ph type="body" idx="1"/>
          </p:nvPr>
        </p:nvSpPr>
        <p:spPr/>
        <p:txBody>
          <a:bodyPr/>
          <a:lstStyle/>
          <a:p>
            <a:pPr marL="0" indent="0">
              <a:buFont typeface="+mj-lt"/>
              <a:buNone/>
            </a:pPr>
            <a:r>
              <a:rPr lang="en-US" dirty="0"/>
              <a:t>CHERI QUESTIONS:</a:t>
            </a:r>
          </a:p>
          <a:p>
            <a:pPr marL="228600" indent="-228600">
              <a:buFont typeface="+mj-lt"/>
              <a:buAutoNum type="arabicPeriod"/>
            </a:pPr>
            <a:r>
              <a:rPr lang="en-US" dirty="0"/>
              <a:t>Is this what our future wine clients are looking for? I think a lot of our current wine clients don’t want DIY/advisory – they want us to do it for them. So then confirming, this is what we’ll market to as our wine clients? I PUT THIS IN HERE BECAUSE I DIDN’T WANT TO LEAVE IT OUT; I DID TAKE OUT “LIGHT TOUCH” UNDER ADVISORY MODEL. WE WILL BE MARKETING ADVISORY SERVICES AS WE WEED OUT FRM FOR ALL SIZES/LOWER PRICES (AKA NOT PROFITABLE CLIENT ENGAGEMENTS)</a:t>
            </a:r>
          </a:p>
          <a:p>
            <a:pPr marL="228600" indent="-228600">
              <a:buFont typeface="+mj-lt"/>
              <a:buAutoNum type="arabicPeriod"/>
            </a:pPr>
            <a:r>
              <a:rPr lang="en-US" dirty="0"/>
              <a:t>And I know marketing efforts will hopefully steer them to other services, but what if we do get these smaller businesses as defined above as wanting FRM – we just weed them out once we price? EVENTUALLY WE WILL NO LONGER TAKE FRM CLIENTS OTHER THAN PREMIER. I’LL MAKE THE CALL WHEN IT’S TIME TO STOP TAKING THEM. OBVIOUSLY I DON’T JUST WANT TO CUT THEM OFF COMPLETELY. </a:t>
            </a:r>
          </a:p>
        </p:txBody>
      </p:sp>
      <p:sp>
        <p:nvSpPr>
          <p:cNvPr id="4" name="Slide Number Placeholder 3">
            <a:extLst>
              <a:ext uri="{FF2B5EF4-FFF2-40B4-BE49-F238E27FC236}">
                <a16:creationId xmlns:a16="http://schemas.microsoft.com/office/drawing/2014/main" id="{675EB46E-7D46-4AB1-D6F8-E8AD5747667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BEA1FAA-C1E9-4E91-90CB-B165D37F0CF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8231388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0A7AF-06B7-E8F8-A8D8-3B6E25ACE4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7147A-AAA6-8D30-E966-8D03783095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392E7A-7547-2865-92D4-88B400E0D28B}"/>
              </a:ext>
            </a:extLst>
          </p:cNvPr>
          <p:cNvSpPr>
            <a:spLocks noGrp="1"/>
          </p:cNvSpPr>
          <p:nvPr>
            <p:ph type="body" idx="1"/>
          </p:nvPr>
        </p:nvSpPr>
        <p:spPr/>
        <p:txBody>
          <a:bodyPr/>
          <a:lstStyle/>
          <a:p>
            <a:pPr marL="0" indent="0">
              <a:buFont typeface="+mj-lt"/>
              <a:buNone/>
            </a:pPr>
            <a:r>
              <a:rPr lang="en-US" dirty="0"/>
              <a:t>CHERI COMMENTS:</a:t>
            </a:r>
          </a:p>
          <a:p>
            <a:pPr marL="228600" indent="-228600">
              <a:buFont typeface="+mj-lt"/>
              <a:buAutoNum type="arabicPeriod"/>
            </a:pPr>
            <a:r>
              <a:rPr lang="en-US" dirty="0"/>
              <a:t>Content Library – let me know what you wanted to discuss with me on this (LISA NOTE: based on the Avatar worksheets)</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dirty="0"/>
              <a:t>Compliance / Strategic Review - let me know what you wanted to discuss with me on this (LISA NOTE: based on the Avatar worksheets)</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a:tabLst/>
              <a:defRPr/>
            </a:pPr>
            <a:r>
              <a:rPr lang="en-US" dirty="0"/>
              <a:t>would an upsell be content refinement?</a:t>
            </a:r>
          </a:p>
          <a:p>
            <a:pPr marL="685800" marR="0" lvl="1" indent="-228600" algn="l" defTabSz="914400" rtl="0" eaLnBrk="1" fontAlgn="auto" latinLnBrk="0" hangingPunct="1">
              <a:lnSpc>
                <a:spcPct val="100000"/>
              </a:lnSpc>
              <a:spcBef>
                <a:spcPts val="0"/>
              </a:spcBef>
              <a:spcAft>
                <a:spcPts val="0"/>
              </a:spcAft>
              <a:buClrTx/>
              <a:buSzTx/>
              <a:buFont typeface="+mj-lt"/>
              <a:buAutoNum type="alphaLcPeriod"/>
              <a:tabLst/>
              <a:defRPr/>
            </a:pPr>
            <a:endParaRPr lang="en-US" dirty="0"/>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dirty="0"/>
              <a:t>CHERI – I NEED TO REVIEW YOUR COMMENTS ON THE AVATAR WORKSHEETS AND THEN YOU AND I CAN DISCUSS THESE</a:t>
            </a:r>
          </a:p>
          <a:p>
            <a:pPr marL="228600" indent="-228600">
              <a:buFont typeface="+mj-lt"/>
              <a:buAutoNum type="arabicPeriod"/>
            </a:pPr>
            <a:endParaRPr lang="en-US" dirty="0"/>
          </a:p>
        </p:txBody>
      </p:sp>
      <p:sp>
        <p:nvSpPr>
          <p:cNvPr id="4" name="Slide Number Placeholder 3">
            <a:extLst>
              <a:ext uri="{FF2B5EF4-FFF2-40B4-BE49-F238E27FC236}">
                <a16:creationId xmlns:a16="http://schemas.microsoft.com/office/drawing/2014/main" id="{A2865462-68A7-C62E-4419-1F4FCF6E7B1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BEA1FAA-C1E9-4E91-90CB-B165D37F0CFF}"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9500681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FE10B4-0F56-AF28-C989-BEC0BCA425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D7DC54-5F2E-1FCB-169C-22A33B967C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44B21B-DF56-34BA-A8D3-954524E8306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3C94E5-EC5C-3C84-6C4D-CBA95F510877}"/>
              </a:ext>
            </a:extLst>
          </p:cNvPr>
          <p:cNvSpPr>
            <a:spLocks noGrp="1"/>
          </p:cNvSpPr>
          <p:nvPr>
            <p:ph type="sldNum" sz="quarter" idx="5"/>
          </p:nvPr>
        </p:nvSpPr>
        <p:spPr/>
        <p:txBody>
          <a:bodyPr/>
          <a:lstStyle/>
          <a:p>
            <a:fld id="{C13FBFE5-D6EC-40F5-8290-FF537D5EBB9C}" type="slidenum">
              <a:rPr lang="en-US" smtClean="0"/>
              <a:t>6</a:t>
            </a:fld>
            <a:endParaRPr lang="en-US"/>
          </a:p>
        </p:txBody>
      </p:sp>
    </p:spTree>
    <p:extLst>
      <p:ext uri="{BB962C8B-B14F-4D97-AF65-F5344CB8AC3E}">
        <p14:creationId xmlns:p14="http://schemas.microsoft.com/office/powerpoint/2010/main" val="38094192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8115D-4A02-2DDC-D8AA-01EB24512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F62294-583E-D610-70A9-17485DB8A1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6331A4-49B2-96A8-0572-D49A5A3EECD6}"/>
              </a:ext>
            </a:extLst>
          </p:cNvPr>
          <p:cNvSpPr>
            <a:spLocks noGrp="1"/>
          </p:cNvSpPr>
          <p:nvPr>
            <p:ph type="body" idx="1"/>
          </p:nvPr>
        </p:nvSpPr>
        <p:spPr/>
        <p:txBody>
          <a:bodyPr/>
          <a:lstStyle/>
          <a:p>
            <a:pPr marL="0" indent="0">
              <a:buFont typeface="+mj-lt"/>
              <a:buNone/>
            </a:pPr>
            <a:endParaRPr lang="en-US" sz="1200" dirty="0"/>
          </a:p>
        </p:txBody>
      </p:sp>
      <p:sp>
        <p:nvSpPr>
          <p:cNvPr id="4" name="Slide Number Placeholder 3">
            <a:extLst>
              <a:ext uri="{FF2B5EF4-FFF2-40B4-BE49-F238E27FC236}">
                <a16:creationId xmlns:a16="http://schemas.microsoft.com/office/drawing/2014/main" id="{EFC7D8F2-61C3-4151-0C13-F0CE7CFA6176}"/>
              </a:ext>
            </a:extLst>
          </p:cNvPr>
          <p:cNvSpPr>
            <a:spLocks noGrp="1"/>
          </p:cNvSpPr>
          <p:nvPr>
            <p:ph type="sldNum" sz="quarter" idx="5"/>
          </p:nvPr>
        </p:nvSpPr>
        <p:spPr/>
        <p:txBody>
          <a:bodyPr/>
          <a:lstStyle/>
          <a:p>
            <a:fld id="{6BEA1FAA-C1E9-4E91-90CB-B165D37F0CFF}" type="slidenum">
              <a:rPr lang="en-US" smtClean="0"/>
              <a:t>7</a:t>
            </a:fld>
            <a:endParaRPr lang="en-US"/>
          </a:p>
        </p:txBody>
      </p:sp>
    </p:spTree>
    <p:extLst>
      <p:ext uri="{BB962C8B-B14F-4D97-AF65-F5344CB8AC3E}">
        <p14:creationId xmlns:p14="http://schemas.microsoft.com/office/powerpoint/2010/main" val="2875050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0CBEB9-6497-2462-5733-708B143FC3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5730A0-D661-06AF-839B-5DE4BC12D6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DC9ACE-5676-7B70-1CF3-1ED32D8C31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7CD764-881E-78F9-80BA-0E91A65C3E8E}"/>
              </a:ext>
            </a:extLst>
          </p:cNvPr>
          <p:cNvSpPr>
            <a:spLocks noGrp="1"/>
          </p:cNvSpPr>
          <p:nvPr>
            <p:ph type="sldNum" sz="quarter" idx="5"/>
          </p:nvPr>
        </p:nvSpPr>
        <p:spPr/>
        <p:txBody>
          <a:bodyPr/>
          <a:lstStyle/>
          <a:p>
            <a:fld id="{6BEA1FAA-C1E9-4E91-90CB-B165D37F0CFF}" type="slidenum">
              <a:rPr lang="en-US" smtClean="0"/>
              <a:t>8</a:t>
            </a:fld>
            <a:endParaRPr lang="en-US"/>
          </a:p>
        </p:txBody>
      </p:sp>
    </p:spTree>
    <p:extLst>
      <p:ext uri="{BB962C8B-B14F-4D97-AF65-F5344CB8AC3E}">
        <p14:creationId xmlns:p14="http://schemas.microsoft.com/office/powerpoint/2010/main" val="8522411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eaLnBrk="0" fontAlgn="base" hangingPunct="0">
              <a:spcBef>
                <a:spcPct val="0"/>
              </a:spcBef>
              <a:spcAft>
                <a:spcPts val="600"/>
              </a:spcAft>
              <a:buFont typeface="+mj-lt"/>
              <a:buAutoNum type="arabicPeriod"/>
            </a:pPr>
            <a:r>
              <a:rPr lang="en-US" altLang="en-US" sz="1200" dirty="0">
                <a:solidFill>
                  <a:schemeClr val="tx1">
                    <a:alpha val="80000"/>
                  </a:schemeClr>
                </a:solidFill>
              </a:rPr>
              <a:t>Comprehensive Bid Strategy – confirming this is related to the specific RFP ‘re helping with (win themes, differentiators) as opposed to their overall bid strategy? YES, THE OTHER WOULD BE THEIR BUSINESS DEVELOPMENT STRATEGY</a:t>
            </a:r>
          </a:p>
          <a:p>
            <a:pPr marL="228600" marR="0" lvl="0" indent="-228600" algn="l" defTabSz="914400" rtl="0" eaLnBrk="0" fontAlgn="base" latinLnBrk="0" hangingPunct="0">
              <a:lnSpc>
                <a:spcPct val="100000"/>
              </a:lnSpc>
              <a:spcBef>
                <a:spcPct val="0"/>
              </a:spcBef>
              <a:spcAft>
                <a:spcPts val="600"/>
              </a:spcAft>
              <a:buClrTx/>
              <a:buSzTx/>
              <a:buFont typeface="+mj-lt"/>
              <a:buAutoNum type="arabicPeriod"/>
              <a:tabLst/>
              <a:defRPr/>
            </a:pPr>
            <a:r>
              <a:rPr lang="en-US" altLang="en-US" sz="1200" dirty="0">
                <a:solidFill>
                  <a:schemeClr val="tx1">
                    <a:alpha val="80000"/>
                  </a:schemeClr>
                </a:solidFill>
              </a:rPr>
              <a:t>Full Compliance Check (2x) – are you referring to ensuring they can comply to requirements, that the actual response has been checked to make sure to addresses/includes everything needed, or both? And 2x means? THE LATTER; I REMOVED 2X, NOT SURE WHAT THAT WAS. LOL. </a:t>
            </a:r>
          </a:p>
          <a:p>
            <a:pPr marL="228600" marR="0" lvl="0" indent="-228600" algn="l" defTabSz="914400" rtl="0" eaLnBrk="0" fontAlgn="base" latinLnBrk="0" hangingPunct="0">
              <a:lnSpc>
                <a:spcPct val="100000"/>
              </a:lnSpc>
              <a:spcBef>
                <a:spcPct val="0"/>
              </a:spcBef>
              <a:spcAft>
                <a:spcPts val="600"/>
              </a:spcAft>
              <a:buClrTx/>
              <a:buSzTx/>
              <a:buFont typeface="+mj-lt"/>
              <a:buAutoNum type="arabicPeriod"/>
              <a:tabLst/>
              <a:defRPr/>
            </a:pPr>
            <a:r>
              <a:rPr lang="en-US" altLang="en-US" sz="1200" dirty="0">
                <a:solidFill>
                  <a:schemeClr val="tx1">
                    <a:alpha val="80000"/>
                  </a:schemeClr>
                </a:solidFill>
              </a:rPr>
              <a:t>“Full proposal formatting” – what will this entail? Formatting like we are used to? Or will champagne clients expect say something like 24Hr has done with the Mercer proposals? FORMATTING LIKE WE CURRENTLY DO; WE DEFINITELY WANT TO UNDERSELL GRAPHICS WHERE WE CAN</a:t>
            </a:r>
          </a:p>
          <a:p>
            <a:pPr marL="228600" marR="0" lvl="0" indent="-228600" algn="l" defTabSz="914400" rtl="0" eaLnBrk="0" fontAlgn="base" latinLnBrk="0" hangingPunct="0">
              <a:lnSpc>
                <a:spcPct val="100000"/>
              </a:lnSpc>
              <a:spcBef>
                <a:spcPct val="0"/>
              </a:spcBef>
              <a:spcAft>
                <a:spcPts val="600"/>
              </a:spcAft>
              <a:buClrTx/>
              <a:buSzTx/>
              <a:buFont typeface="+mj-lt"/>
              <a:buAutoNum type="arabicPeriod"/>
              <a:tabLst/>
              <a:defRPr/>
            </a:pPr>
            <a:r>
              <a:rPr lang="en-US" altLang="en-US" sz="1200" dirty="0">
                <a:solidFill>
                  <a:schemeClr val="tx1">
                    <a:alpha val="80000"/>
                  </a:schemeClr>
                </a:solidFill>
              </a:rPr>
              <a:t>Library Content Management – what do you see us doing here? AS THEY WORK WITH US, WE’LL BE BUILDING OUT LIBRARY CONTENT SO WE CAN USE IT FOR THEIR FUTURE RESPONSES; THIS IS ASSUMING THEY SIGN UP TO WORK WITH US ON AN ONGOING BASIS</a:t>
            </a:r>
          </a:p>
        </p:txBody>
      </p:sp>
      <p:sp>
        <p:nvSpPr>
          <p:cNvPr id="4" name="Slide Number Placeholder 3"/>
          <p:cNvSpPr>
            <a:spLocks noGrp="1"/>
          </p:cNvSpPr>
          <p:nvPr>
            <p:ph type="sldNum" sz="quarter" idx="5"/>
          </p:nvPr>
        </p:nvSpPr>
        <p:spPr/>
        <p:txBody>
          <a:bodyPr/>
          <a:lstStyle/>
          <a:p>
            <a:fld id="{C13FBFE5-D6EC-40F5-8290-FF537D5EBB9C}" type="slidenum">
              <a:rPr lang="en-US" smtClean="0"/>
              <a:t>9</a:t>
            </a:fld>
            <a:endParaRPr lang="en-US"/>
          </a:p>
        </p:txBody>
      </p:sp>
    </p:spTree>
    <p:extLst>
      <p:ext uri="{BB962C8B-B14F-4D97-AF65-F5344CB8AC3E}">
        <p14:creationId xmlns:p14="http://schemas.microsoft.com/office/powerpoint/2010/main" val="28506428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ChatGPT:</a:t>
            </a:r>
          </a:p>
          <a:p>
            <a:r>
              <a:rPr lang="en-US" dirty="0"/>
              <a:t>Base Fee ($28K)</a:t>
            </a:r>
          </a:p>
          <a:p>
            <a:r>
              <a:rPr lang="en-US" dirty="0"/>
              <a:t>+ Page Count Factor ($150–$250 per page over 75 pages)</a:t>
            </a:r>
          </a:p>
          <a:p>
            <a:r>
              <a:rPr lang="en-US" dirty="0"/>
              <a:t>+ SME Factor ($1,000 per SME over 3 SMEs)</a:t>
            </a:r>
          </a:p>
          <a:p>
            <a:r>
              <a:rPr lang="en-US" dirty="0"/>
              <a:t>+ Timeline Factor (20–40% markup)</a:t>
            </a:r>
          </a:p>
          <a:p>
            <a:r>
              <a:rPr lang="en-US" dirty="0"/>
              <a:t>+ Complexity Factor (10–30% markup</a:t>
            </a:r>
          </a:p>
          <a:p>
            <a:endParaRPr lang="en-US" dirty="0"/>
          </a:p>
          <a:p>
            <a:endParaRPr lang="en-US" dirty="0"/>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dirty="0">
                <a:solidFill>
                  <a:schemeClr val="tx1">
                    <a:alpha val="80000"/>
                  </a:schemeClr>
                </a:solidFill>
              </a:rPr>
              <a:t>Accelerated timelines – will we define this? i.e. due in 10-14 days; will we set limit? i.e. we can’t do a good job in 5 days – I SUGGEST THAT IF IT’S THEIR FAULT THAT THERE’S AN ACCELERATED TIMELINE; I UPDATED THE NEXT BULLET TO BE A SUB-BULLET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dirty="0">
                <a:solidFill>
                  <a:schemeClr val="tx1">
                    <a:alpha val="80000"/>
                  </a:schemeClr>
                </a:solidFill>
              </a:rPr>
              <a:t>Large # of SMEs to interview, One or more subcontractors to incorporate, Difficult Client – noting we will need to scope these out more in sales calls – WE WILL LEARN THIS AS WE SEE HOW THIS PLAYS OUT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US" dirty="0">
              <a:solidFill>
                <a:schemeClr val="tx1">
                  <a:alpha val="80000"/>
                </a:schemeClr>
              </a:solidFill>
            </a:endParaRPr>
          </a:p>
          <a:p>
            <a:pPr marL="228600" indent="-228600">
              <a:buFont typeface="+mj-lt"/>
              <a:buAutoNum type="arabicPeriod"/>
            </a:pPr>
            <a:endParaRPr lang="en-US" dirty="0"/>
          </a:p>
        </p:txBody>
      </p:sp>
      <p:sp>
        <p:nvSpPr>
          <p:cNvPr id="4" name="Slide Number Placeholder 3"/>
          <p:cNvSpPr>
            <a:spLocks noGrp="1"/>
          </p:cNvSpPr>
          <p:nvPr>
            <p:ph type="sldNum" sz="quarter" idx="5"/>
          </p:nvPr>
        </p:nvSpPr>
        <p:spPr/>
        <p:txBody>
          <a:bodyPr/>
          <a:lstStyle/>
          <a:p>
            <a:fld id="{C13FBFE5-D6EC-40F5-8290-FF537D5EBB9C}" type="slidenum">
              <a:rPr lang="en-US" smtClean="0"/>
              <a:t>10</a:t>
            </a:fld>
            <a:endParaRPr lang="en-US"/>
          </a:p>
        </p:txBody>
      </p:sp>
    </p:spTree>
    <p:extLst>
      <p:ext uri="{BB962C8B-B14F-4D97-AF65-F5344CB8AC3E}">
        <p14:creationId xmlns:p14="http://schemas.microsoft.com/office/powerpoint/2010/main" val="37644864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a:solidFill>
                  <a:schemeClr val="tx1">
                    <a:alpha val="80000"/>
                  </a:schemeClr>
                </a:solidFill>
              </a:rPr>
              <a:t>“This is </a:t>
            </a:r>
            <a:r>
              <a:rPr lang="en-US" sz="1200" b="1" dirty="0">
                <a:solidFill>
                  <a:schemeClr val="tx1">
                    <a:alpha val="80000"/>
                  </a:schemeClr>
                </a:solidFill>
              </a:rPr>
              <a:t>expert rewriting through the evaluator’s lens</a:t>
            </a:r>
            <a:r>
              <a:rPr lang="en-US" sz="1200" dirty="0">
                <a:solidFill>
                  <a:schemeClr val="tx1">
                    <a:alpha val="80000"/>
                  </a:schemeClr>
                </a:solidFill>
              </a:rPr>
              <a:t>  without owning the full response.” – suggest expert persuasive rewriting (they provide technical draft) DONE</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a:solidFill>
                  <a:schemeClr val="tx1">
                    <a:alpha val="80000"/>
                  </a:schemeClr>
                </a:solidFill>
              </a:rPr>
              <a:t>“Rewrite key sections to be:” – we need to define what these are? May vary between RFPs; go with general high-level themes of sections maybe – can go with scoring weight (if available) I THINK THIS SHOULD BE BASED ON EVALUATION CRITERIA? MAYBE THE TOP 3 BUT THEN NEED TO DECIDE IF THERE’S LITTLE TO NO CRITERIA – THOUGHTS? (BTW I’M GOING TO BE SCHEDULING A CALL WITH YOU AND I TO TALK THROUGH A COUPLE OF THE AVATARS SO WE CAN ADDRESS ANY OUTSTANDING QUESTIONS HERE DURING THAT CALL TOO)</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US" sz="1200" dirty="0">
              <a:solidFill>
                <a:schemeClr val="tx1">
                  <a:alpha val="80000"/>
                </a:schemeClr>
              </a:solidFill>
            </a:endParaRPr>
          </a:p>
          <a:p>
            <a:pPr marL="228600" indent="-228600">
              <a:buFont typeface="+mj-lt"/>
              <a:buAutoNum type="arabicPeriod"/>
            </a:pPr>
            <a:endParaRPr lang="en-US" dirty="0"/>
          </a:p>
        </p:txBody>
      </p:sp>
      <p:sp>
        <p:nvSpPr>
          <p:cNvPr id="4" name="Slide Number Placeholder 3"/>
          <p:cNvSpPr>
            <a:spLocks noGrp="1"/>
          </p:cNvSpPr>
          <p:nvPr>
            <p:ph type="sldNum" sz="quarter" idx="5"/>
          </p:nvPr>
        </p:nvSpPr>
        <p:spPr/>
        <p:txBody>
          <a:bodyPr/>
          <a:lstStyle/>
          <a:p>
            <a:fld id="{C13FBFE5-D6EC-40F5-8290-FF537D5EBB9C}" type="slidenum">
              <a:rPr lang="en-US" smtClean="0"/>
              <a:t>11</a:t>
            </a:fld>
            <a:endParaRPr lang="en-US"/>
          </a:p>
        </p:txBody>
      </p:sp>
    </p:spTree>
    <p:extLst>
      <p:ext uri="{BB962C8B-B14F-4D97-AF65-F5344CB8AC3E}">
        <p14:creationId xmlns:p14="http://schemas.microsoft.com/office/powerpoint/2010/main" val="17632056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“Formal compliance review - Written findings + prioritized recommendations” – we can discuss what this means to you. We usually leave in document comments (i.e. highlight portion of requirement and comment “this is not addressed”) AGREED; DO WE NEED TO CHANGE THE WORDING?</a:t>
            </a:r>
          </a:p>
          <a:p>
            <a:pPr marL="228600" indent="-228600">
              <a:buFont typeface="+mj-lt"/>
              <a:buAutoNum type="arabicPeriod"/>
            </a:pPr>
            <a:endParaRPr lang="en-US" dirty="0"/>
          </a:p>
        </p:txBody>
      </p:sp>
      <p:sp>
        <p:nvSpPr>
          <p:cNvPr id="4" name="Slide Number Placeholder 3"/>
          <p:cNvSpPr>
            <a:spLocks noGrp="1"/>
          </p:cNvSpPr>
          <p:nvPr>
            <p:ph type="sldNum" sz="quarter" idx="5"/>
          </p:nvPr>
        </p:nvSpPr>
        <p:spPr/>
        <p:txBody>
          <a:bodyPr/>
          <a:lstStyle/>
          <a:p>
            <a:fld id="{C13FBFE5-D6EC-40F5-8290-FF537D5EBB9C}" type="slidenum">
              <a:rPr lang="en-US" smtClean="0"/>
              <a:t>13</a:t>
            </a:fld>
            <a:endParaRPr lang="en-US"/>
          </a:p>
        </p:txBody>
      </p:sp>
    </p:spTree>
    <p:extLst>
      <p:ext uri="{BB962C8B-B14F-4D97-AF65-F5344CB8AC3E}">
        <p14:creationId xmlns:p14="http://schemas.microsoft.com/office/powerpoint/2010/main" val="815720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Font typeface="+mj-lt"/>
              <a:buAutoNum type="arabicPeriod"/>
            </a:pPr>
            <a:r>
              <a:rPr lang="en-US" dirty="0"/>
              <a:t>Need a How to phrase it? (i.e. </a:t>
            </a:r>
            <a:r>
              <a:rPr lang="en-US" b="0" dirty="0"/>
              <a:t>This option is ideal for teams who want to own execution and feel they produce technical and strategic content but want our senior team to ensure compliance and provide guidance on better positioning</a:t>
            </a:r>
            <a:r>
              <a:rPr lang="en-US" dirty="0"/>
              <a:t>.) DID I CAPTURE THIS APPROPRIATELY? </a:t>
            </a:r>
          </a:p>
          <a:p>
            <a:pPr marL="228600" indent="-228600">
              <a:buFont typeface="+mj-lt"/>
              <a:buAutoNum type="arabicPeriod"/>
            </a:pPr>
            <a:endParaRPr lang="en-US" dirty="0"/>
          </a:p>
        </p:txBody>
      </p:sp>
      <p:sp>
        <p:nvSpPr>
          <p:cNvPr id="4" name="Slide Number Placeholder 3"/>
          <p:cNvSpPr>
            <a:spLocks noGrp="1"/>
          </p:cNvSpPr>
          <p:nvPr>
            <p:ph type="sldNum" sz="quarter" idx="5"/>
          </p:nvPr>
        </p:nvSpPr>
        <p:spPr/>
        <p:txBody>
          <a:bodyPr/>
          <a:lstStyle/>
          <a:p>
            <a:fld id="{C13FBFE5-D6EC-40F5-8290-FF537D5EBB9C}" type="slidenum">
              <a:rPr lang="en-US" smtClean="0"/>
              <a:t>14</a:t>
            </a:fld>
            <a:endParaRPr lang="en-US"/>
          </a:p>
        </p:txBody>
      </p:sp>
    </p:spTree>
    <p:extLst>
      <p:ext uri="{BB962C8B-B14F-4D97-AF65-F5344CB8AC3E}">
        <p14:creationId xmlns:p14="http://schemas.microsoft.com/office/powerpoint/2010/main" val="30175274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dirty="0"/>
              <a:t>“</a:t>
            </a:r>
            <a:r>
              <a:rPr lang="en-US" sz="1200" dirty="0">
                <a:solidFill>
                  <a:schemeClr val="tx1">
                    <a:alpha val="80000"/>
                  </a:schemeClr>
                </a:solidFill>
              </a:rPr>
              <a:t>It takes senior experienced expertise” – suggest senior experienced and strategic expertise; and do we want to add “and </a:t>
            </a:r>
            <a:r>
              <a:rPr lang="en-US" sz="1200" b="0" i="0" kern="1200" dirty="0">
                <a:solidFill>
                  <a:schemeClr val="tx1"/>
                </a:solidFill>
                <a:effectLst/>
                <a:latin typeface="+mn-lt"/>
                <a:ea typeface="+mn-ea"/>
                <a:cs typeface="+mn-cs"/>
              </a:rPr>
              <a:t>not fragmented unskilled resources.” from strategy worksheet? DONE</a:t>
            </a:r>
            <a:endParaRPr lang="en-US" sz="1200" dirty="0">
              <a:solidFill>
                <a:schemeClr val="tx1">
                  <a:alpha val="80000"/>
                </a:schemeClr>
              </a:solidFill>
            </a:endParaRPr>
          </a:p>
        </p:txBody>
      </p:sp>
      <p:sp>
        <p:nvSpPr>
          <p:cNvPr id="4" name="Slide Number Placeholder 3"/>
          <p:cNvSpPr>
            <a:spLocks noGrp="1"/>
          </p:cNvSpPr>
          <p:nvPr>
            <p:ph type="sldNum" sz="quarter" idx="5"/>
          </p:nvPr>
        </p:nvSpPr>
        <p:spPr/>
        <p:txBody>
          <a:bodyPr/>
          <a:lstStyle/>
          <a:p>
            <a:fld id="{C13FBFE5-D6EC-40F5-8290-FF537D5EBB9C}" type="slidenum">
              <a:rPr lang="en-US" smtClean="0"/>
              <a:t>15</a:t>
            </a:fld>
            <a:endParaRPr lang="en-US"/>
          </a:p>
        </p:txBody>
      </p:sp>
    </p:spTree>
    <p:extLst>
      <p:ext uri="{BB962C8B-B14F-4D97-AF65-F5344CB8AC3E}">
        <p14:creationId xmlns:p14="http://schemas.microsoft.com/office/powerpoint/2010/main" val="11942136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rtl="0" fontAlgn="base">
              <a:buFont typeface="+mj-lt"/>
              <a:buAutoNum type="arabicPeriod"/>
            </a:pPr>
            <a:r>
              <a:rPr lang="en-US" sz="1200" b="0" i="0" kern="1200" dirty="0">
                <a:solidFill>
                  <a:schemeClr val="tx1"/>
                </a:solidFill>
                <a:effectLst/>
                <a:latin typeface="+mn-lt"/>
                <a:ea typeface="+mn-ea"/>
                <a:cs typeface="+mn-cs"/>
              </a:rPr>
              <a:t>From strategy worksheet, this is the only mindset shift I don’t see on these 2 slides. Should it be? “Treating proposals as revenue assets, not administrative tasks, leads to better outcomes.” DONE</a:t>
            </a:r>
          </a:p>
          <a:p>
            <a:endParaRPr lang="en-US" dirty="0"/>
          </a:p>
        </p:txBody>
      </p:sp>
      <p:sp>
        <p:nvSpPr>
          <p:cNvPr id="4" name="Slide Number Placeholder 3"/>
          <p:cNvSpPr>
            <a:spLocks noGrp="1"/>
          </p:cNvSpPr>
          <p:nvPr>
            <p:ph type="sldNum" sz="quarter" idx="5"/>
          </p:nvPr>
        </p:nvSpPr>
        <p:spPr/>
        <p:txBody>
          <a:bodyPr/>
          <a:lstStyle/>
          <a:p>
            <a:fld id="{C13FBFE5-D6EC-40F5-8290-FF537D5EBB9C}" type="slidenum">
              <a:rPr lang="en-US" smtClean="0"/>
              <a:t>16</a:t>
            </a:fld>
            <a:endParaRPr lang="en-US"/>
          </a:p>
        </p:txBody>
      </p:sp>
    </p:spTree>
    <p:extLst>
      <p:ext uri="{BB962C8B-B14F-4D97-AF65-F5344CB8AC3E}">
        <p14:creationId xmlns:p14="http://schemas.microsoft.com/office/powerpoint/2010/main" val="410056058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a:solidFill>
                  <a:schemeClr val="tx1">
                    <a:lumMod val="65000"/>
                    <a:lumOff val="35000"/>
                  </a:schemeClr>
                </a:solidFill>
              </a:rPr>
              <a:t>“Full team that would cost you upwards of $400k annually” – add specifics? PMs, writers, reviewers, editor THIS IS JUST AN INTERNAL DOCUMENT, BUT IF YOU WANT TO INCLUDE THAT LIST ABOVE SO YOU DON’T FORGET IT, WE CAN</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a:solidFill>
                  <a:schemeClr val="tx1">
                    <a:lumMod val="65000"/>
                    <a:lumOff val="35000"/>
                  </a:schemeClr>
                </a:solidFill>
              </a:rPr>
              <a:t>“</a:t>
            </a:r>
            <a:r>
              <a:rPr lang="en-US" sz="1200" b="1" dirty="0">
                <a:solidFill>
                  <a:schemeClr val="tx1">
                    <a:lumMod val="65000"/>
                    <a:lumOff val="35000"/>
                  </a:schemeClr>
                </a:solidFill>
              </a:rPr>
              <a:t>Other firms’ pricing: </a:t>
            </a:r>
            <a:r>
              <a:rPr lang="en-US" sz="1200" dirty="0">
                <a:solidFill>
                  <a:schemeClr val="tx1">
                    <a:lumMod val="65000"/>
                    <a:lumOff val="35000"/>
                  </a:schemeClr>
                </a:solidFill>
              </a:rPr>
              <a:t>Most high-end consultancies charge $35K–$55K for the same scope.” – if they ask who, what would we say WELL, WE AREN’T GOING TO NAME THEM. LOL. I WOULD JUST SAY THAT THERE ARE MANY FIRMS AT VARYING DEGREES OF PRICING, WE SIT IN THE PREMIER SPACE WITH THAT LEVEL OF CONSULTANCY (OR SOMETHING LIKE THAT)</a:t>
            </a:r>
          </a:p>
          <a:p>
            <a:pPr marL="228600" indent="-228600">
              <a:buFont typeface="+mj-lt"/>
              <a:buAutoNum type="arabicPeriod"/>
            </a:pPr>
            <a:endParaRPr lang="en-US" dirty="0"/>
          </a:p>
        </p:txBody>
      </p:sp>
      <p:sp>
        <p:nvSpPr>
          <p:cNvPr id="4" name="Slide Number Placeholder 3"/>
          <p:cNvSpPr>
            <a:spLocks noGrp="1"/>
          </p:cNvSpPr>
          <p:nvPr>
            <p:ph type="sldNum" sz="quarter" idx="5"/>
          </p:nvPr>
        </p:nvSpPr>
        <p:spPr/>
        <p:txBody>
          <a:bodyPr/>
          <a:lstStyle/>
          <a:p>
            <a:fld id="{C13FBFE5-D6EC-40F5-8290-FF537D5EBB9C}" type="slidenum">
              <a:rPr lang="en-US" smtClean="0"/>
              <a:t>18</a:t>
            </a:fld>
            <a:endParaRPr lang="en-US"/>
          </a:p>
        </p:txBody>
      </p:sp>
    </p:spTree>
    <p:extLst>
      <p:ext uri="{BB962C8B-B14F-4D97-AF65-F5344CB8AC3E}">
        <p14:creationId xmlns:p14="http://schemas.microsoft.com/office/powerpoint/2010/main" val="9628899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dirty="0"/>
              <a:t>“And because this contract is valued at $_____, a strong response pays for itself many times over.” – what if we don’t have this info? A lot of times the RFP doesn’t state a budget and it’s up to the clint what they are pricing. We could try and find similar contracts, but that could take too much time in this process I ASK THAT QUESTION FIRST, IF THEY KNOW THE VALUE; IF THEY DON’T KNOW IT, I WOULDN’T GO TO THIS COMMENT</a:t>
            </a:r>
          </a:p>
        </p:txBody>
      </p:sp>
      <p:sp>
        <p:nvSpPr>
          <p:cNvPr id="4" name="Slide Number Placeholder 3"/>
          <p:cNvSpPr>
            <a:spLocks noGrp="1"/>
          </p:cNvSpPr>
          <p:nvPr>
            <p:ph type="sldNum" sz="quarter" idx="5"/>
          </p:nvPr>
        </p:nvSpPr>
        <p:spPr/>
        <p:txBody>
          <a:bodyPr/>
          <a:lstStyle/>
          <a:p>
            <a:fld id="{C13FBFE5-D6EC-40F5-8290-FF537D5EBB9C}" type="slidenum">
              <a:rPr lang="en-US" smtClean="0"/>
              <a:t>19</a:t>
            </a:fld>
            <a:endParaRPr lang="en-US"/>
          </a:p>
        </p:txBody>
      </p:sp>
    </p:spTree>
    <p:extLst>
      <p:ext uri="{BB962C8B-B14F-4D97-AF65-F5344CB8AC3E}">
        <p14:creationId xmlns:p14="http://schemas.microsoft.com/office/powerpoint/2010/main" val="47511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3FBFE5-D6EC-40F5-8290-FF537D5EBB9C}" type="slidenum">
              <a:rPr lang="en-US" smtClean="0"/>
              <a:t>20</a:t>
            </a:fld>
            <a:endParaRPr lang="en-US"/>
          </a:p>
        </p:txBody>
      </p:sp>
    </p:spTree>
    <p:extLst>
      <p:ext uri="{BB962C8B-B14F-4D97-AF65-F5344CB8AC3E}">
        <p14:creationId xmlns:p14="http://schemas.microsoft.com/office/powerpoint/2010/main" val="4357532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3FBFE5-D6EC-40F5-8290-FF537D5EBB9C}" type="slidenum">
              <a:rPr lang="en-US" smtClean="0"/>
              <a:t>21</a:t>
            </a:fld>
            <a:endParaRPr lang="en-US"/>
          </a:p>
        </p:txBody>
      </p:sp>
    </p:spTree>
    <p:extLst>
      <p:ext uri="{BB962C8B-B14F-4D97-AF65-F5344CB8AC3E}">
        <p14:creationId xmlns:p14="http://schemas.microsoft.com/office/powerpoint/2010/main" val="15574221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13FBFE5-D6EC-40F5-8290-FF537D5EBB9C}" type="slidenum">
              <a:rPr lang="en-US" smtClean="0"/>
              <a:t>22</a:t>
            </a:fld>
            <a:endParaRPr lang="en-US"/>
          </a:p>
        </p:txBody>
      </p:sp>
    </p:spTree>
    <p:extLst>
      <p:ext uri="{BB962C8B-B14F-4D97-AF65-F5344CB8AC3E}">
        <p14:creationId xmlns:p14="http://schemas.microsoft.com/office/powerpoint/2010/main" val="19799527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7ADC2-168D-FF71-D413-371DEDBE54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FFFBCB-830B-01FA-0490-888897BD5B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52CEED-16F6-6794-8B86-220B770C0DE1}"/>
              </a:ext>
            </a:extLst>
          </p:cNvPr>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dirty="0"/>
              <a:t>“If this opportunity is worth $___ to your organization, the question becomes:” – same comment as slide 19 – how do we know this if budget isn’t specifically stated in the IF THEY DON’T KNOW THE APPROXIMATE VALUE, THEN THIS ONE IS HARD TO ANSWER; FRANKLY I MIGHT SAY SOMETHING LIKE, “WE DEFINITELY WANT TO GIVE YOU THE ROI, WITHOUT KNOWING WHAT THE VALUE IS TO YOUR ORGANIZATION, THAT’S DIFFICULT FOR US TO ADDRESS.” FRANKLY, IF THEY HAVE NO IDEA WHAT THE VALUE TO THEIR ORGANIZATION IS, THEY AREN’T A PREMIER PROSPECT FOR US. </a:t>
            </a:r>
          </a:p>
        </p:txBody>
      </p:sp>
      <p:sp>
        <p:nvSpPr>
          <p:cNvPr id="4" name="Slide Number Placeholder 3">
            <a:extLst>
              <a:ext uri="{FF2B5EF4-FFF2-40B4-BE49-F238E27FC236}">
                <a16:creationId xmlns:a16="http://schemas.microsoft.com/office/drawing/2014/main" id="{B6042149-18B1-653C-3579-5F786445847C}"/>
              </a:ext>
            </a:extLst>
          </p:cNvPr>
          <p:cNvSpPr>
            <a:spLocks noGrp="1"/>
          </p:cNvSpPr>
          <p:nvPr>
            <p:ph type="sldNum" sz="quarter" idx="5"/>
          </p:nvPr>
        </p:nvSpPr>
        <p:spPr/>
        <p:txBody>
          <a:bodyPr/>
          <a:lstStyle/>
          <a:p>
            <a:fld id="{C13FBFE5-D6EC-40F5-8290-FF537D5EBB9C}" type="slidenum">
              <a:rPr lang="en-US" smtClean="0"/>
              <a:t>23</a:t>
            </a:fld>
            <a:endParaRPr lang="en-US"/>
          </a:p>
        </p:txBody>
      </p:sp>
    </p:spTree>
    <p:extLst>
      <p:ext uri="{BB962C8B-B14F-4D97-AF65-F5344CB8AC3E}">
        <p14:creationId xmlns:p14="http://schemas.microsoft.com/office/powerpoint/2010/main" val="41251574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2746FF-92AD-41B8-770E-D27DF53C7C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400FE5A-E28F-5ACB-2D16-358A4DFAA3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B18111A-4586-FCAD-E2F5-9C2915942154}"/>
              </a:ext>
            </a:extLst>
          </p:cNvPr>
          <p:cNvSpPr>
            <a:spLocks noGrp="1"/>
          </p:cNvSpPr>
          <p:nvPr>
            <p:ph type="dt" sz="half" idx="10"/>
          </p:nvPr>
        </p:nvSpPr>
        <p:spPr/>
        <p:txBody>
          <a:bodyPr/>
          <a:lstStyle/>
          <a:p>
            <a:fld id="{D699C810-94B8-45B4-88BD-4FC4760959F6}" type="datetimeFigureOut">
              <a:rPr lang="en-US" smtClean="0"/>
              <a:t>2/16/2026</a:t>
            </a:fld>
            <a:endParaRPr lang="en-US"/>
          </a:p>
        </p:txBody>
      </p:sp>
      <p:sp>
        <p:nvSpPr>
          <p:cNvPr id="5" name="Footer Placeholder 4">
            <a:extLst>
              <a:ext uri="{FF2B5EF4-FFF2-40B4-BE49-F238E27FC236}">
                <a16:creationId xmlns:a16="http://schemas.microsoft.com/office/drawing/2014/main" id="{2541BE09-97C6-0CD5-5B61-F188699481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07535B-A4B0-B578-B863-BAD898ED4313}"/>
              </a:ext>
            </a:extLst>
          </p:cNvPr>
          <p:cNvSpPr>
            <a:spLocks noGrp="1"/>
          </p:cNvSpPr>
          <p:nvPr>
            <p:ph type="sldNum" sz="quarter" idx="12"/>
          </p:nvPr>
        </p:nvSpPr>
        <p:spPr/>
        <p:txBody>
          <a:bodyPr/>
          <a:lstStyle/>
          <a:p>
            <a:fld id="{D0579882-380C-4AC4-A5A7-42F8BA0C7F18}" type="slidenum">
              <a:rPr lang="en-US" smtClean="0"/>
              <a:t>‹#›</a:t>
            </a:fld>
            <a:endParaRPr lang="en-US"/>
          </a:p>
        </p:txBody>
      </p:sp>
    </p:spTree>
    <p:extLst>
      <p:ext uri="{BB962C8B-B14F-4D97-AF65-F5344CB8AC3E}">
        <p14:creationId xmlns:p14="http://schemas.microsoft.com/office/powerpoint/2010/main" val="32192800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2B3E60-4638-D86F-15C1-403650691A2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40F9FE-86F9-EFE0-C99A-9829361A09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171A0B-E3C0-AF56-3718-1E3E87A370DB}"/>
              </a:ext>
            </a:extLst>
          </p:cNvPr>
          <p:cNvSpPr>
            <a:spLocks noGrp="1"/>
          </p:cNvSpPr>
          <p:nvPr>
            <p:ph type="dt" sz="half" idx="10"/>
          </p:nvPr>
        </p:nvSpPr>
        <p:spPr/>
        <p:txBody>
          <a:bodyPr/>
          <a:lstStyle/>
          <a:p>
            <a:fld id="{D699C810-94B8-45B4-88BD-4FC4760959F6}" type="datetimeFigureOut">
              <a:rPr lang="en-US" smtClean="0"/>
              <a:t>2/16/2026</a:t>
            </a:fld>
            <a:endParaRPr lang="en-US"/>
          </a:p>
        </p:txBody>
      </p:sp>
      <p:sp>
        <p:nvSpPr>
          <p:cNvPr id="5" name="Footer Placeholder 4">
            <a:extLst>
              <a:ext uri="{FF2B5EF4-FFF2-40B4-BE49-F238E27FC236}">
                <a16:creationId xmlns:a16="http://schemas.microsoft.com/office/drawing/2014/main" id="{07F3C1F8-62E9-077B-F86E-8254C571F1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BDDDB6-D660-D3A6-D661-81EC43CDE6D0}"/>
              </a:ext>
            </a:extLst>
          </p:cNvPr>
          <p:cNvSpPr>
            <a:spLocks noGrp="1"/>
          </p:cNvSpPr>
          <p:nvPr>
            <p:ph type="sldNum" sz="quarter" idx="12"/>
          </p:nvPr>
        </p:nvSpPr>
        <p:spPr/>
        <p:txBody>
          <a:bodyPr/>
          <a:lstStyle/>
          <a:p>
            <a:fld id="{D0579882-380C-4AC4-A5A7-42F8BA0C7F18}" type="slidenum">
              <a:rPr lang="en-US" smtClean="0"/>
              <a:t>‹#›</a:t>
            </a:fld>
            <a:endParaRPr lang="en-US"/>
          </a:p>
        </p:txBody>
      </p:sp>
    </p:spTree>
    <p:extLst>
      <p:ext uri="{BB962C8B-B14F-4D97-AF65-F5344CB8AC3E}">
        <p14:creationId xmlns:p14="http://schemas.microsoft.com/office/powerpoint/2010/main" val="3716274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C7BB88-3E3B-B231-7A6C-B07A5ABDAA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2648EA7-A808-2BE1-FD82-06F8C8EFDE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14ADFF-F093-7FC5-F0BA-AAC715403611}"/>
              </a:ext>
            </a:extLst>
          </p:cNvPr>
          <p:cNvSpPr>
            <a:spLocks noGrp="1"/>
          </p:cNvSpPr>
          <p:nvPr>
            <p:ph type="dt" sz="half" idx="10"/>
          </p:nvPr>
        </p:nvSpPr>
        <p:spPr/>
        <p:txBody>
          <a:bodyPr/>
          <a:lstStyle/>
          <a:p>
            <a:fld id="{D699C810-94B8-45B4-88BD-4FC4760959F6}" type="datetimeFigureOut">
              <a:rPr lang="en-US" smtClean="0"/>
              <a:t>2/16/2026</a:t>
            </a:fld>
            <a:endParaRPr lang="en-US"/>
          </a:p>
        </p:txBody>
      </p:sp>
      <p:sp>
        <p:nvSpPr>
          <p:cNvPr id="5" name="Footer Placeholder 4">
            <a:extLst>
              <a:ext uri="{FF2B5EF4-FFF2-40B4-BE49-F238E27FC236}">
                <a16:creationId xmlns:a16="http://schemas.microsoft.com/office/drawing/2014/main" id="{B51D9ED3-2CDF-BD1D-F498-7FBCCE4AB9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7453B9-71EA-14F5-D429-6ADA32AFBB9D}"/>
              </a:ext>
            </a:extLst>
          </p:cNvPr>
          <p:cNvSpPr>
            <a:spLocks noGrp="1"/>
          </p:cNvSpPr>
          <p:nvPr>
            <p:ph type="sldNum" sz="quarter" idx="12"/>
          </p:nvPr>
        </p:nvSpPr>
        <p:spPr/>
        <p:txBody>
          <a:bodyPr/>
          <a:lstStyle/>
          <a:p>
            <a:fld id="{D0579882-380C-4AC4-A5A7-42F8BA0C7F18}" type="slidenum">
              <a:rPr lang="en-US" smtClean="0"/>
              <a:t>‹#›</a:t>
            </a:fld>
            <a:endParaRPr lang="en-US"/>
          </a:p>
        </p:txBody>
      </p:sp>
    </p:spTree>
    <p:extLst>
      <p:ext uri="{BB962C8B-B14F-4D97-AF65-F5344CB8AC3E}">
        <p14:creationId xmlns:p14="http://schemas.microsoft.com/office/powerpoint/2010/main" val="1514337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F49BB1-F704-326C-9B8E-4BAC2DC3CD3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674123-C5BE-DAD6-E1D2-FC5D34A7A5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88ED541-65A4-CBDF-236D-1A9A5C4BED1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C3A29D5-D353-23BB-F071-85BE92CEC6F8}"/>
              </a:ext>
            </a:extLst>
          </p:cNvPr>
          <p:cNvSpPr>
            <a:spLocks noGrp="1"/>
          </p:cNvSpPr>
          <p:nvPr>
            <p:ph type="dt" sz="half" idx="10"/>
          </p:nvPr>
        </p:nvSpPr>
        <p:spPr/>
        <p:txBody>
          <a:bodyPr/>
          <a:lstStyle/>
          <a:p>
            <a:fld id="{D699C810-94B8-45B4-88BD-4FC4760959F6}" type="datetimeFigureOut">
              <a:rPr lang="en-US" smtClean="0"/>
              <a:t>2/16/2026</a:t>
            </a:fld>
            <a:endParaRPr lang="en-US"/>
          </a:p>
        </p:txBody>
      </p:sp>
      <p:sp>
        <p:nvSpPr>
          <p:cNvPr id="6" name="Footer Placeholder 5">
            <a:extLst>
              <a:ext uri="{FF2B5EF4-FFF2-40B4-BE49-F238E27FC236}">
                <a16:creationId xmlns:a16="http://schemas.microsoft.com/office/drawing/2014/main" id="{291A39AB-A4FC-77A5-BD41-D69DE40740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4281F8-2900-A13B-B20B-74055B935F5A}"/>
              </a:ext>
            </a:extLst>
          </p:cNvPr>
          <p:cNvSpPr>
            <a:spLocks noGrp="1"/>
          </p:cNvSpPr>
          <p:nvPr>
            <p:ph type="sldNum" sz="quarter" idx="12"/>
          </p:nvPr>
        </p:nvSpPr>
        <p:spPr/>
        <p:txBody>
          <a:bodyPr/>
          <a:lstStyle/>
          <a:p>
            <a:fld id="{D0579882-380C-4AC4-A5A7-42F8BA0C7F18}" type="slidenum">
              <a:rPr lang="en-US" smtClean="0"/>
              <a:t>‹#›</a:t>
            </a:fld>
            <a:endParaRPr lang="en-US"/>
          </a:p>
        </p:txBody>
      </p:sp>
    </p:spTree>
    <p:extLst>
      <p:ext uri="{BB962C8B-B14F-4D97-AF65-F5344CB8AC3E}">
        <p14:creationId xmlns:p14="http://schemas.microsoft.com/office/powerpoint/2010/main" val="3287067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5CB09-03D7-4E7D-8C1D-4DC564FD22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9A1AE57-CE55-7A9E-3590-79675D278B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1903F3-CE4A-DE18-6314-E8EFE31BCAB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789A204-069D-12F5-461F-285C2052E25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99B72F-62B6-099A-61E2-25EBE49EC30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CFE01E3-F87A-A207-1119-6BBF38BC1C7A}"/>
              </a:ext>
            </a:extLst>
          </p:cNvPr>
          <p:cNvSpPr>
            <a:spLocks noGrp="1"/>
          </p:cNvSpPr>
          <p:nvPr>
            <p:ph type="dt" sz="half" idx="10"/>
          </p:nvPr>
        </p:nvSpPr>
        <p:spPr/>
        <p:txBody>
          <a:bodyPr/>
          <a:lstStyle/>
          <a:p>
            <a:fld id="{D699C810-94B8-45B4-88BD-4FC4760959F6}" type="datetimeFigureOut">
              <a:rPr lang="en-US" smtClean="0"/>
              <a:t>2/16/2026</a:t>
            </a:fld>
            <a:endParaRPr lang="en-US"/>
          </a:p>
        </p:txBody>
      </p:sp>
      <p:sp>
        <p:nvSpPr>
          <p:cNvPr id="8" name="Footer Placeholder 7">
            <a:extLst>
              <a:ext uri="{FF2B5EF4-FFF2-40B4-BE49-F238E27FC236}">
                <a16:creationId xmlns:a16="http://schemas.microsoft.com/office/drawing/2014/main" id="{10D94043-D6C3-6491-ABAB-49CA8D93345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DA57057-A052-7936-A2E4-51C1CBB587E4}"/>
              </a:ext>
            </a:extLst>
          </p:cNvPr>
          <p:cNvSpPr>
            <a:spLocks noGrp="1"/>
          </p:cNvSpPr>
          <p:nvPr>
            <p:ph type="sldNum" sz="quarter" idx="12"/>
          </p:nvPr>
        </p:nvSpPr>
        <p:spPr/>
        <p:txBody>
          <a:bodyPr/>
          <a:lstStyle/>
          <a:p>
            <a:fld id="{D0579882-380C-4AC4-A5A7-42F8BA0C7F18}" type="slidenum">
              <a:rPr lang="en-US" smtClean="0"/>
              <a:t>‹#›</a:t>
            </a:fld>
            <a:endParaRPr lang="en-US"/>
          </a:p>
        </p:txBody>
      </p:sp>
    </p:spTree>
    <p:extLst>
      <p:ext uri="{BB962C8B-B14F-4D97-AF65-F5344CB8AC3E}">
        <p14:creationId xmlns:p14="http://schemas.microsoft.com/office/powerpoint/2010/main" val="15340415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DB9FC0-F362-BEB7-845A-50F94F45E1B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7594EC1-9983-0549-62AE-3F4E2006A108}"/>
              </a:ext>
            </a:extLst>
          </p:cNvPr>
          <p:cNvSpPr>
            <a:spLocks noGrp="1"/>
          </p:cNvSpPr>
          <p:nvPr>
            <p:ph type="dt" sz="half" idx="10"/>
          </p:nvPr>
        </p:nvSpPr>
        <p:spPr/>
        <p:txBody>
          <a:bodyPr/>
          <a:lstStyle/>
          <a:p>
            <a:fld id="{D699C810-94B8-45B4-88BD-4FC4760959F6}" type="datetimeFigureOut">
              <a:rPr lang="en-US" smtClean="0"/>
              <a:t>2/16/2026</a:t>
            </a:fld>
            <a:endParaRPr lang="en-US"/>
          </a:p>
        </p:txBody>
      </p:sp>
      <p:sp>
        <p:nvSpPr>
          <p:cNvPr id="4" name="Footer Placeholder 3">
            <a:extLst>
              <a:ext uri="{FF2B5EF4-FFF2-40B4-BE49-F238E27FC236}">
                <a16:creationId xmlns:a16="http://schemas.microsoft.com/office/drawing/2014/main" id="{FDA378D8-77D3-67F5-0F49-29963D818A9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111E02E-5761-1FDC-A3B0-16E8186FF2C6}"/>
              </a:ext>
            </a:extLst>
          </p:cNvPr>
          <p:cNvSpPr>
            <a:spLocks noGrp="1"/>
          </p:cNvSpPr>
          <p:nvPr>
            <p:ph type="sldNum" sz="quarter" idx="12"/>
          </p:nvPr>
        </p:nvSpPr>
        <p:spPr/>
        <p:txBody>
          <a:bodyPr/>
          <a:lstStyle/>
          <a:p>
            <a:fld id="{D0579882-380C-4AC4-A5A7-42F8BA0C7F18}" type="slidenum">
              <a:rPr lang="en-US" smtClean="0"/>
              <a:t>‹#›</a:t>
            </a:fld>
            <a:endParaRPr lang="en-US"/>
          </a:p>
        </p:txBody>
      </p:sp>
    </p:spTree>
    <p:extLst>
      <p:ext uri="{BB962C8B-B14F-4D97-AF65-F5344CB8AC3E}">
        <p14:creationId xmlns:p14="http://schemas.microsoft.com/office/powerpoint/2010/main" val="40656591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8D283-116E-DAFA-493E-F5E6FF5503DB}"/>
              </a:ext>
            </a:extLst>
          </p:cNvPr>
          <p:cNvSpPr>
            <a:spLocks noGrp="1"/>
          </p:cNvSpPr>
          <p:nvPr>
            <p:ph type="dt" sz="half" idx="10"/>
          </p:nvPr>
        </p:nvSpPr>
        <p:spPr/>
        <p:txBody>
          <a:bodyPr/>
          <a:lstStyle/>
          <a:p>
            <a:fld id="{D699C810-94B8-45B4-88BD-4FC4760959F6}" type="datetimeFigureOut">
              <a:rPr lang="en-US" smtClean="0"/>
              <a:t>2/16/2026</a:t>
            </a:fld>
            <a:endParaRPr lang="en-US"/>
          </a:p>
        </p:txBody>
      </p:sp>
      <p:sp>
        <p:nvSpPr>
          <p:cNvPr id="3" name="Footer Placeholder 2">
            <a:extLst>
              <a:ext uri="{FF2B5EF4-FFF2-40B4-BE49-F238E27FC236}">
                <a16:creationId xmlns:a16="http://schemas.microsoft.com/office/drawing/2014/main" id="{D33F00D8-DAD2-6EEC-65D4-C17915A26A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212BE9-667D-ABC1-8086-9461C5927D16}"/>
              </a:ext>
            </a:extLst>
          </p:cNvPr>
          <p:cNvSpPr>
            <a:spLocks noGrp="1"/>
          </p:cNvSpPr>
          <p:nvPr>
            <p:ph type="sldNum" sz="quarter" idx="12"/>
          </p:nvPr>
        </p:nvSpPr>
        <p:spPr/>
        <p:txBody>
          <a:bodyPr/>
          <a:lstStyle/>
          <a:p>
            <a:fld id="{D0579882-380C-4AC4-A5A7-42F8BA0C7F18}" type="slidenum">
              <a:rPr lang="en-US" smtClean="0"/>
              <a:t>‹#›</a:t>
            </a:fld>
            <a:endParaRPr lang="en-US"/>
          </a:p>
        </p:txBody>
      </p:sp>
    </p:spTree>
    <p:extLst>
      <p:ext uri="{BB962C8B-B14F-4D97-AF65-F5344CB8AC3E}">
        <p14:creationId xmlns:p14="http://schemas.microsoft.com/office/powerpoint/2010/main" val="2129415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6DFD5-7F8D-50CC-77A6-06EA339863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B812B76-5D87-39AA-30D0-1C52649394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8DA9AD4-DF6E-8F54-A929-10848BEAC4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2391C3D-EBB4-62B6-515E-E0F0F66214A4}"/>
              </a:ext>
            </a:extLst>
          </p:cNvPr>
          <p:cNvSpPr>
            <a:spLocks noGrp="1"/>
          </p:cNvSpPr>
          <p:nvPr>
            <p:ph type="dt" sz="half" idx="10"/>
          </p:nvPr>
        </p:nvSpPr>
        <p:spPr/>
        <p:txBody>
          <a:bodyPr/>
          <a:lstStyle/>
          <a:p>
            <a:fld id="{D699C810-94B8-45B4-88BD-4FC4760959F6}" type="datetimeFigureOut">
              <a:rPr lang="en-US" smtClean="0"/>
              <a:t>2/16/2026</a:t>
            </a:fld>
            <a:endParaRPr lang="en-US"/>
          </a:p>
        </p:txBody>
      </p:sp>
      <p:sp>
        <p:nvSpPr>
          <p:cNvPr id="6" name="Footer Placeholder 5">
            <a:extLst>
              <a:ext uri="{FF2B5EF4-FFF2-40B4-BE49-F238E27FC236}">
                <a16:creationId xmlns:a16="http://schemas.microsoft.com/office/drawing/2014/main" id="{A5F835D6-6796-5938-B320-725B5E535CF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8E7481B-83C5-0D58-22FC-8D01A92E157E}"/>
              </a:ext>
            </a:extLst>
          </p:cNvPr>
          <p:cNvSpPr>
            <a:spLocks noGrp="1"/>
          </p:cNvSpPr>
          <p:nvPr>
            <p:ph type="sldNum" sz="quarter" idx="12"/>
          </p:nvPr>
        </p:nvSpPr>
        <p:spPr/>
        <p:txBody>
          <a:bodyPr/>
          <a:lstStyle/>
          <a:p>
            <a:fld id="{D0579882-380C-4AC4-A5A7-42F8BA0C7F18}" type="slidenum">
              <a:rPr lang="en-US" smtClean="0"/>
              <a:t>‹#›</a:t>
            </a:fld>
            <a:endParaRPr lang="en-US"/>
          </a:p>
        </p:txBody>
      </p:sp>
    </p:spTree>
    <p:extLst>
      <p:ext uri="{BB962C8B-B14F-4D97-AF65-F5344CB8AC3E}">
        <p14:creationId xmlns:p14="http://schemas.microsoft.com/office/powerpoint/2010/main" val="24827250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0F448-4BA5-E244-7796-891C5374CB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ADFAFDE-FDAC-7EC2-0CC8-9F0DFAE8CD7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FA2C33D-D8DA-6599-FAAF-40F792CE5F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AF987A-3AB9-C8C8-724B-BAA0B85B68A9}"/>
              </a:ext>
            </a:extLst>
          </p:cNvPr>
          <p:cNvSpPr>
            <a:spLocks noGrp="1"/>
          </p:cNvSpPr>
          <p:nvPr>
            <p:ph type="dt" sz="half" idx="10"/>
          </p:nvPr>
        </p:nvSpPr>
        <p:spPr/>
        <p:txBody>
          <a:bodyPr/>
          <a:lstStyle/>
          <a:p>
            <a:fld id="{D699C810-94B8-45B4-88BD-4FC4760959F6}" type="datetimeFigureOut">
              <a:rPr lang="en-US" smtClean="0"/>
              <a:t>2/16/2026</a:t>
            </a:fld>
            <a:endParaRPr lang="en-US"/>
          </a:p>
        </p:txBody>
      </p:sp>
      <p:sp>
        <p:nvSpPr>
          <p:cNvPr id="6" name="Footer Placeholder 5">
            <a:extLst>
              <a:ext uri="{FF2B5EF4-FFF2-40B4-BE49-F238E27FC236}">
                <a16:creationId xmlns:a16="http://schemas.microsoft.com/office/drawing/2014/main" id="{5E4A462E-7C1E-F27D-350F-F7FD3FF7EF1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99CAD8-0A7E-5BF4-92C8-8B799B31BBF2}"/>
              </a:ext>
            </a:extLst>
          </p:cNvPr>
          <p:cNvSpPr>
            <a:spLocks noGrp="1"/>
          </p:cNvSpPr>
          <p:nvPr>
            <p:ph type="sldNum" sz="quarter" idx="12"/>
          </p:nvPr>
        </p:nvSpPr>
        <p:spPr/>
        <p:txBody>
          <a:bodyPr/>
          <a:lstStyle/>
          <a:p>
            <a:fld id="{D0579882-380C-4AC4-A5A7-42F8BA0C7F18}" type="slidenum">
              <a:rPr lang="en-US" smtClean="0"/>
              <a:t>‹#›</a:t>
            </a:fld>
            <a:endParaRPr lang="en-US"/>
          </a:p>
        </p:txBody>
      </p:sp>
    </p:spTree>
    <p:extLst>
      <p:ext uri="{BB962C8B-B14F-4D97-AF65-F5344CB8AC3E}">
        <p14:creationId xmlns:p14="http://schemas.microsoft.com/office/powerpoint/2010/main" val="37413276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64610-38A0-28A5-DA1B-644068E8358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E1E561B-B6D3-AD90-32EE-3A79F7D27BE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1453134-6887-AF20-43F8-1AC865A5394F}"/>
              </a:ext>
            </a:extLst>
          </p:cNvPr>
          <p:cNvSpPr>
            <a:spLocks noGrp="1"/>
          </p:cNvSpPr>
          <p:nvPr>
            <p:ph type="dt" sz="half" idx="10"/>
          </p:nvPr>
        </p:nvSpPr>
        <p:spPr/>
        <p:txBody>
          <a:bodyPr/>
          <a:lstStyle/>
          <a:p>
            <a:fld id="{D699C810-94B8-45B4-88BD-4FC4760959F6}" type="datetimeFigureOut">
              <a:rPr lang="en-US" smtClean="0"/>
              <a:t>2/16/2026</a:t>
            </a:fld>
            <a:endParaRPr lang="en-US"/>
          </a:p>
        </p:txBody>
      </p:sp>
      <p:sp>
        <p:nvSpPr>
          <p:cNvPr id="5" name="Footer Placeholder 4">
            <a:extLst>
              <a:ext uri="{FF2B5EF4-FFF2-40B4-BE49-F238E27FC236}">
                <a16:creationId xmlns:a16="http://schemas.microsoft.com/office/drawing/2014/main" id="{08243640-7B25-250F-19EA-28DB668110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863C1C-7593-5F46-0C3C-5E4E9D6BA67C}"/>
              </a:ext>
            </a:extLst>
          </p:cNvPr>
          <p:cNvSpPr>
            <a:spLocks noGrp="1"/>
          </p:cNvSpPr>
          <p:nvPr>
            <p:ph type="sldNum" sz="quarter" idx="12"/>
          </p:nvPr>
        </p:nvSpPr>
        <p:spPr/>
        <p:txBody>
          <a:bodyPr/>
          <a:lstStyle/>
          <a:p>
            <a:fld id="{D0579882-380C-4AC4-A5A7-42F8BA0C7F18}" type="slidenum">
              <a:rPr lang="en-US" smtClean="0"/>
              <a:t>‹#›</a:t>
            </a:fld>
            <a:endParaRPr lang="en-US"/>
          </a:p>
        </p:txBody>
      </p:sp>
    </p:spTree>
    <p:extLst>
      <p:ext uri="{BB962C8B-B14F-4D97-AF65-F5344CB8AC3E}">
        <p14:creationId xmlns:p14="http://schemas.microsoft.com/office/powerpoint/2010/main" val="10822976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F777F7B-A8D2-8542-460C-0F78E7D4C28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C9A0F4C-0BAC-A299-7446-E77738806E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E02F21-4D02-5B15-AECA-D02D013DCF5E}"/>
              </a:ext>
            </a:extLst>
          </p:cNvPr>
          <p:cNvSpPr>
            <a:spLocks noGrp="1"/>
          </p:cNvSpPr>
          <p:nvPr>
            <p:ph type="dt" sz="half" idx="10"/>
          </p:nvPr>
        </p:nvSpPr>
        <p:spPr/>
        <p:txBody>
          <a:bodyPr/>
          <a:lstStyle/>
          <a:p>
            <a:fld id="{D699C810-94B8-45B4-88BD-4FC4760959F6}" type="datetimeFigureOut">
              <a:rPr lang="en-US" smtClean="0"/>
              <a:t>2/16/2026</a:t>
            </a:fld>
            <a:endParaRPr lang="en-US"/>
          </a:p>
        </p:txBody>
      </p:sp>
      <p:sp>
        <p:nvSpPr>
          <p:cNvPr id="5" name="Footer Placeholder 4">
            <a:extLst>
              <a:ext uri="{FF2B5EF4-FFF2-40B4-BE49-F238E27FC236}">
                <a16:creationId xmlns:a16="http://schemas.microsoft.com/office/drawing/2014/main" id="{4CA1A7D4-888D-24DC-736B-CB194128E8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7DE037-E7D1-651D-DB96-4B2E159EEB7C}"/>
              </a:ext>
            </a:extLst>
          </p:cNvPr>
          <p:cNvSpPr>
            <a:spLocks noGrp="1"/>
          </p:cNvSpPr>
          <p:nvPr>
            <p:ph type="sldNum" sz="quarter" idx="12"/>
          </p:nvPr>
        </p:nvSpPr>
        <p:spPr/>
        <p:txBody>
          <a:bodyPr/>
          <a:lstStyle/>
          <a:p>
            <a:fld id="{D0579882-380C-4AC4-A5A7-42F8BA0C7F18}" type="slidenum">
              <a:rPr lang="en-US" smtClean="0"/>
              <a:t>‹#›</a:t>
            </a:fld>
            <a:endParaRPr lang="en-US"/>
          </a:p>
        </p:txBody>
      </p:sp>
    </p:spTree>
    <p:extLst>
      <p:ext uri="{BB962C8B-B14F-4D97-AF65-F5344CB8AC3E}">
        <p14:creationId xmlns:p14="http://schemas.microsoft.com/office/powerpoint/2010/main" val="2687292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5361562-CD44-B05F-0D21-26332289166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42E01C-B24B-766A-AD76-904554C949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19753D-2CEE-0821-CB51-84DD92FC6BF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99C810-94B8-45B4-88BD-4FC4760959F6}" type="datetimeFigureOut">
              <a:rPr lang="en-US" smtClean="0"/>
              <a:t>2/16/2026</a:t>
            </a:fld>
            <a:endParaRPr lang="en-US"/>
          </a:p>
        </p:txBody>
      </p:sp>
      <p:sp>
        <p:nvSpPr>
          <p:cNvPr id="5" name="Footer Placeholder 4">
            <a:extLst>
              <a:ext uri="{FF2B5EF4-FFF2-40B4-BE49-F238E27FC236}">
                <a16:creationId xmlns:a16="http://schemas.microsoft.com/office/drawing/2014/main" id="{ABEB2FB4-2754-09E0-481D-4E97702073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1CDDA69-BEC9-6D98-4ECD-DC2EC20617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0579882-380C-4AC4-A5A7-42F8BA0C7F18}" type="slidenum">
              <a:rPr lang="en-US" smtClean="0"/>
              <a:t>‹#›</a:t>
            </a:fld>
            <a:endParaRPr lang="en-US"/>
          </a:p>
        </p:txBody>
      </p:sp>
    </p:spTree>
    <p:extLst>
      <p:ext uri="{BB962C8B-B14F-4D97-AF65-F5344CB8AC3E}">
        <p14:creationId xmlns:p14="http://schemas.microsoft.com/office/powerpoint/2010/main" val="40442113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4.sv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6.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DC704E53-1064-D55B-7B5A-7D4D624ED4E1}"/>
              </a:ext>
            </a:extLst>
          </p:cNvPr>
          <p:cNvSpPr>
            <a:spLocks noGrp="1"/>
          </p:cNvSpPr>
          <p:nvPr>
            <p:ph type="ctrTitle"/>
          </p:nvPr>
        </p:nvSpPr>
        <p:spPr>
          <a:xfrm>
            <a:off x="2704700" y="583345"/>
            <a:ext cx="8336088" cy="4164820"/>
          </a:xfrm>
        </p:spPr>
        <p:txBody>
          <a:bodyPr anchor="t">
            <a:normAutofit/>
          </a:bodyPr>
          <a:lstStyle/>
          <a:p>
            <a:pPr algn="r"/>
            <a:r>
              <a:rPr lang="en-US" sz="8000" dirty="0">
                <a:solidFill>
                  <a:srgbClr val="FFFFFF"/>
                </a:solidFill>
              </a:rPr>
              <a:t>Wine &amp; Champagne Client Descriptions</a:t>
            </a:r>
          </a:p>
        </p:txBody>
      </p:sp>
      <p:sp>
        <p:nvSpPr>
          <p:cNvPr id="3" name="Subtitle 2">
            <a:extLst>
              <a:ext uri="{FF2B5EF4-FFF2-40B4-BE49-F238E27FC236}">
                <a16:creationId xmlns:a16="http://schemas.microsoft.com/office/drawing/2014/main" id="{9F0014AA-4E40-FD06-69B4-FF77F340B314}"/>
              </a:ext>
            </a:extLst>
          </p:cNvPr>
          <p:cNvSpPr>
            <a:spLocks noGrp="1"/>
          </p:cNvSpPr>
          <p:nvPr>
            <p:ph type="subTitle" idx="1"/>
          </p:nvPr>
        </p:nvSpPr>
        <p:spPr>
          <a:xfrm>
            <a:off x="1208228" y="5972174"/>
            <a:ext cx="8578699" cy="504825"/>
          </a:xfrm>
        </p:spPr>
        <p:txBody>
          <a:bodyPr>
            <a:normAutofit/>
          </a:bodyPr>
          <a:lstStyle/>
          <a:p>
            <a:pPr algn="l"/>
            <a:r>
              <a:rPr lang="en-US" sz="2000" dirty="0">
                <a:solidFill>
                  <a:srgbClr val="FFFFFF"/>
                </a:solidFill>
              </a:rPr>
              <a:t>New Positioning and Pricing Structure 2026</a:t>
            </a: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8"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0"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17035638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F848ACC1-C77D-1085-477C-EF1EF67E4E8B}"/>
              </a:ext>
            </a:extLst>
          </p:cNvPr>
          <p:cNvSpPr>
            <a:spLocks noGrp="1"/>
          </p:cNvSpPr>
          <p:nvPr>
            <p:ph type="title"/>
          </p:nvPr>
        </p:nvSpPr>
        <p:spPr>
          <a:xfrm>
            <a:off x="1188069" y="381935"/>
            <a:ext cx="4008583" cy="5974414"/>
          </a:xfrm>
        </p:spPr>
        <p:txBody>
          <a:bodyPr anchor="ctr">
            <a:normAutofit/>
          </a:bodyPr>
          <a:lstStyle/>
          <a:p>
            <a:r>
              <a:rPr lang="en-US" sz="5600">
                <a:solidFill>
                  <a:srgbClr val="FFFFFF"/>
                </a:solidFill>
              </a:rPr>
              <a:t>Wine vs Champagne Clients</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31E5066D-0211-D2A7-D3D7-91CC195672D1}"/>
              </a:ext>
            </a:extLst>
          </p:cNvPr>
          <p:cNvSpPr>
            <a:spLocks noGrp="1"/>
          </p:cNvSpPr>
          <p:nvPr>
            <p:ph idx="1"/>
          </p:nvPr>
        </p:nvSpPr>
        <p:spPr>
          <a:xfrm>
            <a:off x="6297233" y="518400"/>
            <a:ext cx="4771607" cy="5837949"/>
          </a:xfrm>
        </p:spPr>
        <p:txBody>
          <a:bodyPr anchor="ctr">
            <a:normAutofit/>
          </a:bodyPr>
          <a:lstStyle/>
          <a:p>
            <a:pPr marL="0" indent="0">
              <a:buNone/>
            </a:pPr>
            <a:r>
              <a:rPr lang="en-US" sz="1400">
                <a:solidFill>
                  <a:schemeClr val="tx1">
                    <a:alpha val="80000"/>
                  </a:schemeClr>
                </a:solidFill>
              </a:rPr>
              <a:t>In 2026, we are separating our markets into two: </a:t>
            </a:r>
          </a:p>
          <a:p>
            <a:pPr marL="514350" indent="-514350">
              <a:buAutoNum type="arabicPeriod"/>
            </a:pPr>
            <a:r>
              <a:rPr lang="en-US" sz="1400">
                <a:solidFill>
                  <a:schemeClr val="tx1">
                    <a:alpha val="80000"/>
                  </a:schemeClr>
                </a:solidFill>
              </a:rPr>
              <a:t>Wine Clients</a:t>
            </a:r>
          </a:p>
          <a:p>
            <a:pPr lvl="1">
              <a:buFont typeface="Wingdings" panose="05000000000000000000" pitchFamily="2" charset="2"/>
              <a:buChar char="§"/>
            </a:pPr>
            <a:r>
              <a:rPr lang="en-US" sz="1400">
                <a:solidFill>
                  <a:schemeClr val="tx1">
                    <a:alpha val="80000"/>
                  </a:schemeClr>
                </a:solidFill>
              </a:rPr>
              <a:t>Our wine clients are who we have now, including our Express clients</a:t>
            </a:r>
          </a:p>
          <a:p>
            <a:pPr lvl="1">
              <a:buFont typeface="Wingdings" panose="05000000000000000000" pitchFamily="2" charset="2"/>
              <a:buChar char="§"/>
            </a:pPr>
            <a:r>
              <a:rPr lang="en-US" sz="1400">
                <a:solidFill>
                  <a:schemeClr val="tx1">
                    <a:alpha val="80000"/>
                  </a:schemeClr>
                </a:solidFill>
              </a:rPr>
              <a:t>Other than our current clients, we don’t want to sell FRM to our wine clients; it’s not profitable for us to offer this to them</a:t>
            </a:r>
          </a:p>
          <a:p>
            <a:pPr marL="457200" lvl="1" indent="0">
              <a:buNone/>
            </a:pPr>
            <a:endParaRPr lang="en-US" sz="1400">
              <a:solidFill>
                <a:schemeClr val="tx1">
                  <a:alpha val="80000"/>
                </a:schemeClr>
              </a:solidFill>
            </a:endParaRPr>
          </a:p>
          <a:p>
            <a:pPr marL="514350" indent="-514350">
              <a:buAutoNum type="arabicPeriod"/>
            </a:pPr>
            <a:r>
              <a:rPr lang="en-US" sz="1400">
                <a:solidFill>
                  <a:schemeClr val="tx1">
                    <a:alpha val="80000"/>
                  </a:schemeClr>
                </a:solidFill>
              </a:rPr>
              <a:t>Champagne Clients</a:t>
            </a:r>
          </a:p>
          <a:p>
            <a:pPr lvl="1">
              <a:buFont typeface="Wingdings" panose="05000000000000000000" pitchFamily="2" charset="2"/>
              <a:buChar char="§"/>
            </a:pPr>
            <a:r>
              <a:rPr lang="en-US" sz="1400">
                <a:solidFill>
                  <a:schemeClr val="tx1">
                    <a:alpha val="80000"/>
                  </a:schemeClr>
                </a:solidFill>
              </a:rPr>
              <a:t>Think of our Champagne clients as the Mercedes; you wouldn’t go into a Mercedes dealership and expect to wheel and deal or expect to compete with a Toyota price</a:t>
            </a:r>
          </a:p>
          <a:p>
            <a:pPr lvl="1">
              <a:buFont typeface="Wingdings" panose="05000000000000000000" pitchFamily="2" charset="2"/>
              <a:buChar char="§"/>
            </a:pPr>
            <a:r>
              <a:rPr lang="en-US" sz="1400">
                <a:solidFill>
                  <a:schemeClr val="tx1">
                    <a:alpha val="80000"/>
                  </a:schemeClr>
                </a:solidFill>
              </a:rPr>
              <a:t>We will only offer Champagne Clients FRM at a premium, with higher-priced down-sell offers of Content Refinement and Strategic Review (at premium prices as this will be an expectation of this level client)</a:t>
            </a:r>
          </a:p>
          <a:p>
            <a:pPr lvl="1">
              <a:buFont typeface="Wingdings" panose="05000000000000000000" pitchFamily="2" charset="2"/>
              <a:buChar char="§"/>
            </a:pPr>
            <a:r>
              <a:rPr lang="en-US" sz="1400">
                <a:solidFill>
                  <a:schemeClr val="tx1">
                    <a:alpha val="80000"/>
                  </a:schemeClr>
                </a:solidFill>
              </a:rPr>
              <a:t>We will be changing our verbiage to only attract serious Champagne clients</a:t>
            </a:r>
          </a:p>
          <a:p>
            <a:pPr lvl="1">
              <a:buFont typeface="Wingdings" panose="05000000000000000000" pitchFamily="2" charset="2"/>
              <a:buChar char="§"/>
            </a:pPr>
            <a:r>
              <a:rPr lang="en-US" sz="1400">
                <a:solidFill>
                  <a:schemeClr val="tx1">
                    <a:alpha val="80000"/>
                  </a:schemeClr>
                </a:solidFill>
              </a:rPr>
              <a:t>Champagne clients value outsourced help and our expertise</a:t>
            </a:r>
          </a:p>
          <a:p>
            <a:pPr lvl="1">
              <a:buFont typeface="Wingdings" panose="05000000000000000000" pitchFamily="2" charset="2"/>
              <a:buChar char="§"/>
            </a:pPr>
            <a:r>
              <a:rPr lang="en-US" sz="1400">
                <a:solidFill>
                  <a:schemeClr val="tx1">
                    <a:alpha val="80000"/>
                  </a:schemeClr>
                </a:solidFill>
              </a:rPr>
              <a:t>The rest of this presentation focuses on our Champagne client focus</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41828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A3C89F8-0D2F-47FF-B903-151248265F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B402F5F8-55E9-87D9-B47C-6BD744867352}"/>
              </a:ext>
            </a:extLst>
          </p:cNvPr>
          <p:cNvSpPr>
            <a:spLocks noGrp="1"/>
          </p:cNvSpPr>
          <p:nvPr>
            <p:ph type="ctrTitle"/>
          </p:nvPr>
        </p:nvSpPr>
        <p:spPr>
          <a:xfrm>
            <a:off x="3880430" y="583345"/>
            <a:ext cx="7160357" cy="4164820"/>
          </a:xfrm>
        </p:spPr>
        <p:txBody>
          <a:bodyPr anchor="t">
            <a:normAutofit/>
          </a:bodyPr>
          <a:lstStyle/>
          <a:p>
            <a:pPr algn="r"/>
            <a:r>
              <a:rPr lang="en-US" sz="8000" dirty="0">
                <a:solidFill>
                  <a:srgbClr val="FFFFFF"/>
                </a:solidFill>
              </a:rPr>
              <a:t>Wine Clients</a:t>
            </a:r>
          </a:p>
        </p:txBody>
      </p:sp>
      <p:sp>
        <p:nvSpPr>
          <p:cNvPr id="10" name="Graphic 13">
            <a:extLst>
              <a:ext uri="{FF2B5EF4-FFF2-40B4-BE49-F238E27FC236}">
                <a16:creationId xmlns:a16="http://schemas.microsoft.com/office/drawing/2014/main" id="{C5CB530E-515E-412C-9DF1-5F8FFBD6F3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712D4376-A578-4FF1-94FC-245E7A6A4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AEA7509D-F04F-40CB-A0B3-EEF16499CC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8" name="Graphic 22">
            <a:extLst>
              <a:ext uri="{FF2B5EF4-FFF2-40B4-BE49-F238E27FC236}">
                <a16:creationId xmlns:a16="http://schemas.microsoft.com/office/drawing/2014/main" id="{508BEF50-7B1E-49A4-BC19-5F4F1D755E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0" name="Graphic 23">
            <a:extLst>
              <a:ext uri="{FF2B5EF4-FFF2-40B4-BE49-F238E27FC236}">
                <a16:creationId xmlns:a16="http://schemas.microsoft.com/office/drawing/2014/main" id="{3FBAD350-5664-4811-A208-657FB882D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2" name="Graphic 21">
            <a:extLst>
              <a:ext uri="{FF2B5EF4-FFF2-40B4-BE49-F238E27FC236}">
                <a16:creationId xmlns:a16="http://schemas.microsoft.com/office/drawing/2014/main" id="{C39ADB8F-D187-49D7-BDCF-C1B6DC7270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20734187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15F7197-9009-CF41-2F0D-B692C62B22D8}"/>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DA07AF69-0D5E-ECCD-F6EC-3FBB459939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40" name="Freeform: Shape 39">
            <a:extLst>
              <a:ext uri="{FF2B5EF4-FFF2-40B4-BE49-F238E27FC236}">
                <a16:creationId xmlns:a16="http://schemas.microsoft.com/office/drawing/2014/main" id="{C4762D5D-096D-727E-0F9E-FC84F9F48F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
        <p:nvSpPr>
          <p:cNvPr id="7" name="Title 6">
            <a:extLst>
              <a:ext uri="{FF2B5EF4-FFF2-40B4-BE49-F238E27FC236}">
                <a16:creationId xmlns:a16="http://schemas.microsoft.com/office/drawing/2014/main" id="{1DD5E7C4-45EA-D454-4AC6-1C6F83C01733}"/>
              </a:ext>
            </a:extLst>
          </p:cNvPr>
          <p:cNvSpPr>
            <a:spLocks noGrp="1"/>
          </p:cNvSpPr>
          <p:nvPr>
            <p:ph type="title"/>
          </p:nvPr>
        </p:nvSpPr>
        <p:spPr>
          <a:xfrm>
            <a:off x="841246" y="673770"/>
            <a:ext cx="3644489" cy="2414488"/>
          </a:xfrm>
        </p:spPr>
        <p:txBody>
          <a:bodyPr vert="horz" lIns="91440" tIns="45720" rIns="91440" bIns="45720" rtlCol="0" anchor="t">
            <a:normAutofit/>
          </a:bodyPr>
          <a:lstStyle/>
          <a:p>
            <a:r>
              <a:rPr lang="en-US" sz="4600" kern="1200" dirty="0">
                <a:solidFill>
                  <a:srgbClr val="FFFFFF"/>
                </a:solidFill>
                <a:latin typeface="+mj-lt"/>
                <a:ea typeface="+mj-ea"/>
                <a:cs typeface="+mj-cs"/>
              </a:rPr>
              <a:t>Wine Clients DESCRIPTION</a:t>
            </a:r>
          </a:p>
        </p:txBody>
      </p:sp>
      <p:sp>
        <p:nvSpPr>
          <p:cNvPr id="9" name="TextBox 8">
            <a:extLst>
              <a:ext uri="{FF2B5EF4-FFF2-40B4-BE49-F238E27FC236}">
                <a16:creationId xmlns:a16="http://schemas.microsoft.com/office/drawing/2014/main" id="{38048E9A-EE73-07D1-175E-32D0903B4257}"/>
              </a:ext>
            </a:extLst>
          </p:cNvPr>
          <p:cNvSpPr txBox="1"/>
          <p:nvPr/>
        </p:nvSpPr>
        <p:spPr>
          <a:xfrm>
            <a:off x="6095999" y="882315"/>
            <a:ext cx="5254754" cy="5294647"/>
          </a:xfrm>
          <a:prstGeom prst="rect">
            <a:avLst/>
          </a:prstGeom>
        </p:spPr>
        <p:txBody>
          <a:bodyPr vert="horz" lIns="91440" tIns="45720" rIns="91440" bIns="45720"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Smart, scrappy businesses who want to win more without overcomplicating things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Wine clients are growing businesses that value practical guidance, efficient execution, and a strong return on investment. They typically have smaller teams, tighter budgets, and a desire to improve their RFP outcomes without unnecessary bells and whistles. They are generally smaller businesses ($1 mil to $10 mil) with smaller contracts ($100k-$250k).</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These clients are looking for:</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Frameworks, tools, templates, and structure that save time and reduce chaos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Tactical improvements that immediately elevate proposal quality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One-time expert insight without long-term, high-touch engagement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Best fit for those who want:</a:t>
            </a:r>
            <a:br>
              <a:rPr kumimoji="0" lang="en-US" sz="12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br>
            <a:r>
              <a:rPr kumimoji="0" lang="en-US" sz="12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 Practical, high-impact guidance</a:t>
            </a:r>
            <a:br>
              <a:rPr kumimoji="0" lang="en-US" sz="12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br>
            <a:r>
              <a:rPr kumimoji="0" lang="en-US" sz="12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 A more DIY or advisory model</a:t>
            </a:r>
            <a:br>
              <a:rPr kumimoji="0" lang="en-US" sz="12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br>
            <a:r>
              <a:rPr kumimoji="0" lang="en-US" sz="1200" b="0" i="0" u="none" strike="noStrike" kern="1200" cap="none" spc="0" normalizeH="0" baseline="0" noProof="0" dirty="0">
                <a:ln>
                  <a:noFill/>
                </a:ln>
                <a:solidFill>
                  <a:prstClr val="black"/>
                </a:solidFill>
                <a:effectLst/>
                <a:uLnTx/>
                <a:uFillTx/>
                <a:latin typeface="Helvetica" panose="020B0604020202020204" pitchFamily="34" charset="0"/>
                <a:ea typeface="+mn-ea"/>
                <a:cs typeface="Helvetica" panose="020B0604020202020204" pitchFamily="34" charset="0"/>
              </a:rPr>
              <a:t>✔ Strong results with disciplined investment</a:t>
            </a:r>
          </a:p>
        </p:txBody>
      </p:sp>
    </p:spTree>
    <p:extLst>
      <p:ext uri="{BB962C8B-B14F-4D97-AF65-F5344CB8AC3E}">
        <p14:creationId xmlns:p14="http://schemas.microsoft.com/office/powerpoint/2010/main" val="1654555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BCD860-4D88-6412-1654-AF6940A7D0F0}"/>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0181BD0A-69D5-BEFB-EE87-55B734E479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6" name="Freeform: Shape 25">
            <a:extLst>
              <a:ext uri="{FF2B5EF4-FFF2-40B4-BE49-F238E27FC236}">
                <a16:creationId xmlns:a16="http://schemas.microsoft.com/office/drawing/2014/main" id="{5CC99CEA-B8EB-C9BF-7C21-1C48DDA96B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12467"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7" name="Title 6">
            <a:extLst>
              <a:ext uri="{FF2B5EF4-FFF2-40B4-BE49-F238E27FC236}">
                <a16:creationId xmlns:a16="http://schemas.microsoft.com/office/drawing/2014/main" id="{90C20713-BFD8-992D-5DBC-392518A56045}"/>
              </a:ext>
            </a:extLst>
          </p:cNvPr>
          <p:cNvSpPr>
            <a:spLocks noGrp="1"/>
          </p:cNvSpPr>
          <p:nvPr>
            <p:ph type="title"/>
          </p:nvPr>
        </p:nvSpPr>
        <p:spPr>
          <a:xfrm>
            <a:off x="838200" y="643467"/>
            <a:ext cx="2951205" cy="5571066"/>
          </a:xfrm>
        </p:spPr>
        <p:txBody>
          <a:bodyPr>
            <a:normAutofit/>
          </a:bodyPr>
          <a:lstStyle/>
          <a:p>
            <a:r>
              <a:rPr lang="en-US" sz="4100">
                <a:solidFill>
                  <a:srgbClr val="FFFFFF"/>
                </a:solidFill>
              </a:rPr>
              <a:t>WINE Clients OFFERINGS</a:t>
            </a:r>
          </a:p>
        </p:txBody>
      </p:sp>
      <p:graphicFrame>
        <p:nvGraphicFramePr>
          <p:cNvPr id="10" name="Content Placeholder 7">
            <a:extLst>
              <a:ext uri="{FF2B5EF4-FFF2-40B4-BE49-F238E27FC236}">
                <a16:creationId xmlns:a16="http://schemas.microsoft.com/office/drawing/2014/main" id="{D1CE69C6-CA5F-102D-FA12-A08796271FF1}"/>
              </a:ext>
            </a:extLst>
          </p:cNvPr>
          <p:cNvGraphicFramePr>
            <a:graphicFrameLocks noGrp="1"/>
          </p:cNvGraphicFramePr>
          <p:nvPr>
            <p:ph idx="1"/>
          </p:nvPr>
        </p:nvGraphicFramePr>
        <p:xfrm>
          <a:off x="5207640" y="643466"/>
          <a:ext cx="6291714" cy="5530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 name="TextBox 1">
            <a:extLst>
              <a:ext uri="{FF2B5EF4-FFF2-40B4-BE49-F238E27FC236}">
                <a16:creationId xmlns:a16="http://schemas.microsoft.com/office/drawing/2014/main" id="{ACD0E878-6AF9-6419-2483-8B366A0B5387}"/>
              </a:ext>
            </a:extLst>
          </p:cNvPr>
          <p:cNvSpPr txBox="1"/>
          <p:nvPr/>
        </p:nvSpPr>
        <p:spPr>
          <a:xfrm>
            <a:off x="5207640" y="5197642"/>
            <a:ext cx="6291714" cy="430887"/>
          </a:xfrm>
          <a:prstGeom prst="rect">
            <a:avLst/>
          </a:prstGeom>
          <a:noFill/>
        </p:spPr>
        <p:txBody>
          <a:bodyPr wrap="square" rtlCol="0">
            <a:spAutoFit/>
          </a:bodyPr>
          <a:lstStyle/>
          <a:p>
            <a:r>
              <a:rPr lang="en-US" sz="1050" dirty="0"/>
              <a:t>NOTE: We will not be offering our Wine clients full response management once we start getting champagne clients</a:t>
            </a:r>
          </a:p>
        </p:txBody>
      </p:sp>
    </p:spTree>
    <p:extLst>
      <p:ext uri="{BB962C8B-B14F-4D97-AF65-F5344CB8AC3E}">
        <p14:creationId xmlns:p14="http://schemas.microsoft.com/office/powerpoint/2010/main" val="41305452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34C08D-9195-D08B-0527-D83626C17D2B}"/>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14505D42-CA65-310B-6F25-5BBC18CBA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81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76281B79-1450-039F-DD06-9C636B59F03D}"/>
              </a:ext>
            </a:extLst>
          </p:cNvPr>
          <p:cNvSpPr>
            <a:spLocks noGrp="1"/>
          </p:cNvSpPr>
          <p:nvPr>
            <p:ph type="ctrTitle"/>
          </p:nvPr>
        </p:nvSpPr>
        <p:spPr>
          <a:xfrm>
            <a:off x="3880430" y="583345"/>
            <a:ext cx="7160357" cy="4164820"/>
          </a:xfrm>
        </p:spPr>
        <p:txBody>
          <a:bodyPr anchor="t">
            <a:normAutofit/>
          </a:bodyPr>
          <a:lstStyle/>
          <a:p>
            <a:pPr algn="r"/>
            <a:r>
              <a:rPr lang="en-US" sz="8000" dirty="0">
                <a:solidFill>
                  <a:srgbClr val="FFFFFF"/>
                </a:solidFill>
              </a:rPr>
              <a:t>Champagne Clients</a:t>
            </a:r>
          </a:p>
        </p:txBody>
      </p:sp>
      <p:sp>
        <p:nvSpPr>
          <p:cNvPr id="10" name="Graphic 13">
            <a:extLst>
              <a:ext uri="{FF2B5EF4-FFF2-40B4-BE49-F238E27FC236}">
                <a16:creationId xmlns:a16="http://schemas.microsoft.com/office/drawing/2014/main" id="{F3E1CFBF-315F-5436-B01A-9D50A52A00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74359" y="583345"/>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rgbClr val="FFFFFF"/>
          </a:solidFill>
          <a:ln w="603" cap="flat">
            <a:noFill/>
            <a:prstDash val="solid"/>
            <a:miter/>
          </a:ln>
        </p:spPr>
        <p:txBody>
          <a:bodyPr rtlCol="0" anchor="ctr"/>
          <a:lstStyle/>
          <a:p>
            <a:endParaRPr lang="en-US">
              <a:solidFill>
                <a:srgbClr val="FFFFFF"/>
              </a:solidFill>
            </a:endParaRPr>
          </a:p>
        </p:txBody>
      </p:sp>
      <p:sp>
        <p:nvSpPr>
          <p:cNvPr id="12" name="Graphic 12">
            <a:extLst>
              <a:ext uri="{FF2B5EF4-FFF2-40B4-BE49-F238E27FC236}">
                <a16:creationId xmlns:a16="http://schemas.microsoft.com/office/drawing/2014/main" id="{CABE5B6B-548D-57C7-10FA-56EDE54C3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33139" y="8126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rgbClr val="FFFFFF"/>
          </a:solidFill>
          <a:ln w="422" cap="flat">
            <a:noFill/>
            <a:prstDash val="solid"/>
            <a:miter/>
          </a:ln>
        </p:spPr>
        <p:txBody>
          <a:bodyPr rtlCol="0" anchor="ctr"/>
          <a:lstStyle/>
          <a:p>
            <a:endParaRPr lang="en-US">
              <a:solidFill>
                <a:srgbClr val="FFFFFF"/>
              </a:solidFill>
            </a:endParaRPr>
          </a:p>
        </p:txBody>
      </p:sp>
      <p:sp>
        <p:nvSpPr>
          <p:cNvPr id="14" name="Graphic 15">
            <a:extLst>
              <a:ext uri="{FF2B5EF4-FFF2-40B4-BE49-F238E27FC236}">
                <a16:creationId xmlns:a16="http://schemas.microsoft.com/office/drawing/2014/main" id="{28B4770E-D020-462F-2D19-EFC1F4A3A3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458819" y="1037066"/>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rgbClr val="FFFFFF"/>
          </a:solidFill>
          <a:ln w="610" cap="flat">
            <a:noFill/>
            <a:prstDash val="solid"/>
            <a:miter/>
          </a:ln>
        </p:spPr>
        <p:txBody>
          <a:bodyPr rtlCol="0" anchor="ctr"/>
          <a:lstStyle/>
          <a:p>
            <a:endParaRPr lang="en-US">
              <a:solidFill>
                <a:srgbClr val="FFFFFF"/>
              </a:solidFill>
            </a:endParaRPr>
          </a:p>
        </p:txBody>
      </p:sp>
      <p:cxnSp>
        <p:nvCxnSpPr>
          <p:cNvPr id="16" name="Straight Connector 15">
            <a:extLst>
              <a:ext uri="{FF2B5EF4-FFF2-40B4-BE49-F238E27FC236}">
                <a16:creationId xmlns:a16="http://schemas.microsoft.com/office/drawing/2014/main" id="{17D24A59-0983-27A9-32F5-4C73069F0F5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56114" y="3503032"/>
            <a:ext cx="0" cy="3346090"/>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
        <p:nvSpPr>
          <p:cNvPr id="18" name="Graphic 22">
            <a:extLst>
              <a:ext uri="{FF2B5EF4-FFF2-40B4-BE49-F238E27FC236}">
                <a16:creationId xmlns:a16="http://schemas.microsoft.com/office/drawing/2014/main" id="{29827818-6CE6-A463-5367-886F8BC015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836425" y="5636680"/>
            <a:ext cx="151536" cy="151536"/>
          </a:xfrm>
          <a:custGeom>
            <a:avLst/>
            <a:gdLst>
              <a:gd name="connsiteX0" fmla="*/ 141251 w 151536"/>
              <a:gd name="connsiteY0" fmla="*/ 65483 h 151536"/>
              <a:gd name="connsiteX1" fmla="*/ 86053 w 151536"/>
              <a:gd name="connsiteY1" fmla="*/ 65483 h 151536"/>
              <a:gd name="connsiteX2" fmla="*/ 86053 w 151536"/>
              <a:gd name="connsiteY2" fmla="*/ 10285 h 151536"/>
              <a:gd name="connsiteX3" fmla="*/ 75768 w 151536"/>
              <a:gd name="connsiteY3" fmla="*/ 0 h 151536"/>
              <a:gd name="connsiteX4" fmla="*/ 65483 w 151536"/>
              <a:gd name="connsiteY4" fmla="*/ 10285 h 151536"/>
              <a:gd name="connsiteX5" fmla="*/ 65483 w 151536"/>
              <a:gd name="connsiteY5" fmla="*/ 65483 h 151536"/>
              <a:gd name="connsiteX6" fmla="*/ 10285 w 151536"/>
              <a:gd name="connsiteY6" fmla="*/ 65483 h 151536"/>
              <a:gd name="connsiteX7" fmla="*/ 0 w 151536"/>
              <a:gd name="connsiteY7" fmla="*/ 75768 h 151536"/>
              <a:gd name="connsiteX8" fmla="*/ 10285 w 151536"/>
              <a:gd name="connsiteY8" fmla="*/ 86053 h 151536"/>
              <a:gd name="connsiteX9" fmla="*/ 65483 w 151536"/>
              <a:gd name="connsiteY9" fmla="*/ 86053 h 151536"/>
              <a:gd name="connsiteX10" fmla="*/ 65483 w 151536"/>
              <a:gd name="connsiteY10" fmla="*/ 141251 h 151536"/>
              <a:gd name="connsiteX11" fmla="*/ 75768 w 151536"/>
              <a:gd name="connsiteY11" fmla="*/ 151536 h 151536"/>
              <a:gd name="connsiteX12" fmla="*/ 86053 w 151536"/>
              <a:gd name="connsiteY12" fmla="*/ 141251 h 151536"/>
              <a:gd name="connsiteX13" fmla="*/ 86053 w 151536"/>
              <a:gd name="connsiteY13" fmla="*/ 86053 h 151536"/>
              <a:gd name="connsiteX14" fmla="*/ 141251 w 151536"/>
              <a:gd name="connsiteY14" fmla="*/ 86053 h 151536"/>
              <a:gd name="connsiteX15" fmla="*/ 151536 w 151536"/>
              <a:gd name="connsiteY15" fmla="*/ 75768 h 151536"/>
              <a:gd name="connsiteX16" fmla="*/ 141251 w 151536"/>
              <a:gd name="connsiteY16" fmla="*/ 65483 h 151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51536" h="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rgbClr val="FFFFFF"/>
          </a:solidFill>
          <a:ln w="646" cap="flat">
            <a:noFill/>
            <a:prstDash val="solid"/>
            <a:miter/>
          </a:ln>
        </p:spPr>
        <p:txBody>
          <a:bodyPr rtlCol="0" anchor="ctr"/>
          <a:lstStyle/>
          <a:p>
            <a:endParaRPr lang="en-US">
              <a:solidFill>
                <a:srgbClr val="FFFFFF"/>
              </a:solidFill>
            </a:endParaRPr>
          </a:p>
        </p:txBody>
      </p:sp>
      <p:sp>
        <p:nvSpPr>
          <p:cNvPr id="20" name="Graphic 23">
            <a:extLst>
              <a:ext uri="{FF2B5EF4-FFF2-40B4-BE49-F238E27FC236}">
                <a16:creationId xmlns:a16="http://schemas.microsoft.com/office/drawing/2014/main" id="{53794687-3640-ABBB-81B7-F09745CDDD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45175" y="6096759"/>
            <a:ext cx="108625" cy="108625"/>
          </a:xfrm>
          <a:custGeom>
            <a:avLst/>
            <a:gdLst>
              <a:gd name="connsiteX0" fmla="*/ 54313 w 108625"/>
              <a:gd name="connsiteY0" fmla="*/ 16053 h 108625"/>
              <a:gd name="connsiteX1" fmla="*/ 92572 w 108625"/>
              <a:gd name="connsiteY1" fmla="*/ 54313 h 108625"/>
              <a:gd name="connsiteX2" fmla="*/ 54313 w 108625"/>
              <a:gd name="connsiteY2" fmla="*/ 92572 h 108625"/>
              <a:gd name="connsiteX3" fmla="*/ 16053 w 108625"/>
              <a:gd name="connsiteY3" fmla="*/ 54313 h 108625"/>
              <a:gd name="connsiteX4" fmla="*/ 54313 w 108625"/>
              <a:gd name="connsiteY4" fmla="*/ 16053 h 108625"/>
              <a:gd name="connsiteX5" fmla="*/ 54313 w 108625"/>
              <a:gd name="connsiteY5" fmla="*/ 0 h 108625"/>
              <a:gd name="connsiteX6" fmla="*/ 0 w 108625"/>
              <a:gd name="connsiteY6" fmla="*/ 54313 h 108625"/>
              <a:gd name="connsiteX7" fmla="*/ 54313 w 108625"/>
              <a:gd name="connsiteY7" fmla="*/ 108625 h 108625"/>
              <a:gd name="connsiteX8" fmla="*/ 108625 w 108625"/>
              <a:gd name="connsiteY8" fmla="*/ 54313 h 108625"/>
              <a:gd name="connsiteX9" fmla="*/ 54313 w 108625"/>
              <a:gd name="connsiteY9" fmla="*/ 0 h 10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8625" h="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rgbClr val="FFFFFF"/>
          </a:solidFill>
          <a:ln w="516" cap="flat">
            <a:noFill/>
            <a:prstDash val="solid"/>
            <a:miter/>
          </a:ln>
        </p:spPr>
        <p:txBody>
          <a:bodyPr rtlCol="0" anchor="ctr"/>
          <a:lstStyle/>
          <a:p>
            <a:endParaRPr lang="en-US">
              <a:solidFill>
                <a:srgbClr val="FFFFFF"/>
              </a:solidFill>
            </a:endParaRPr>
          </a:p>
        </p:txBody>
      </p:sp>
      <p:sp>
        <p:nvSpPr>
          <p:cNvPr id="22" name="Graphic 21">
            <a:extLst>
              <a:ext uri="{FF2B5EF4-FFF2-40B4-BE49-F238E27FC236}">
                <a16:creationId xmlns:a16="http://schemas.microsoft.com/office/drawing/2014/main" id="{209F60E9-4391-5711-CDF2-D9477F7AB1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54288" y="6238029"/>
            <a:ext cx="95759" cy="95759"/>
          </a:xfrm>
          <a:custGeom>
            <a:avLst/>
            <a:gdLst>
              <a:gd name="connsiteX0" fmla="*/ 95759 w 95759"/>
              <a:gd name="connsiteY0" fmla="*/ 47880 h 95759"/>
              <a:gd name="connsiteX1" fmla="*/ 47880 w 95759"/>
              <a:gd name="connsiteY1" fmla="*/ 95759 h 95759"/>
              <a:gd name="connsiteX2" fmla="*/ 0 w 95759"/>
              <a:gd name="connsiteY2" fmla="*/ 47880 h 95759"/>
              <a:gd name="connsiteX3" fmla="*/ 47880 w 95759"/>
              <a:gd name="connsiteY3" fmla="*/ 0 h 95759"/>
              <a:gd name="connsiteX4" fmla="*/ 95759 w 95759"/>
              <a:gd name="connsiteY4" fmla="*/ 47880 h 957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759" h="95759">
                <a:moveTo>
                  <a:pt x="95759" y="47880"/>
                </a:moveTo>
                <a:cubicBezTo>
                  <a:pt x="95759" y="74323"/>
                  <a:pt x="74323" y="95759"/>
                  <a:pt x="47880" y="95759"/>
                </a:cubicBezTo>
                <a:cubicBezTo>
                  <a:pt x="21436" y="95759"/>
                  <a:pt x="0" y="74323"/>
                  <a:pt x="0" y="47880"/>
                </a:cubicBezTo>
                <a:cubicBezTo>
                  <a:pt x="0" y="21436"/>
                  <a:pt x="21436" y="0"/>
                  <a:pt x="47880" y="0"/>
                </a:cubicBezTo>
                <a:cubicBezTo>
                  <a:pt x="74323" y="0"/>
                  <a:pt x="95759" y="21436"/>
                  <a:pt x="95759" y="47880"/>
                </a:cubicBezTo>
                <a:close/>
              </a:path>
            </a:pathLst>
          </a:custGeom>
          <a:solidFill>
            <a:srgbClr val="FFFFFF"/>
          </a:solidFill>
          <a:ln w="469" cap="flat">
            <a:noFill/>
            <a:prstDash val="solid"/>
            <a:miter/>
          </a:ln>
        </p:spPr>
        <p:txBody>
          <a:bodyPr rtlCol="0" anchor="ctr"/>
          <a:lstStyle/>
          <a:p>
            <a:endParaRPr lang="en-US">
              <a:solidFill>
                <a:srgbClr val="FFFFFF"/>
              </a:solidFill>
            </a:endParaRPr>
          </a:p>
        </p:txBody>
      </p:sp>
    </p:spTree>
    <p:extLst>
      <p:ext uri="{BB962C8B-B14F-4D97-AF65-F5344CB8AC3E}">
        <p14:creationId xmlns:p14="http://schemas.microsoft.com/office/powerpoint/2010/main" val="3898859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FC960E-FD46-8871-2244-BEB7D7727B34}"/>
            </a:ext>
          </a:extLst>
        </p:cNvPr>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B478626F-27A3-EE56-A2F1-D9193C2266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004D054A-4A04-25F6-7F70-5D21C949AC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endParaRPr lang="en-US"/>
          </a:p>
        </p:txBody>
      </p:sp>
      <p:sp>
        <p:nvSpPr>
          <p:cNvPr id="7" name="Title 6">
            <a:extLst>
              <a:ext uri="{FF2B5EF4-FFF2-40B4-BE49-F238E27FC236}">
                <a16:creationId xmlns:a16="http://schemas.microsoft.com/office/drawing/2014/main" id="{D4FE50A5-0E23-DFCB-0700-DBF435741C1F}"/>
              </a:ext>
            </a:extLst>
          </p:cNvPr>
          <p:cNvSpPr>
            <a:spLocks noGrp="1"/>
          </p:cNvSpPr>
          <p:nvPr>
            <p:ph type="title"/>
          </p:nvPr>
        </p:nvSpPr>
        <p:spPr>
          <a:xfrm>
            <a:off x="841246" y="673770"/>
            <a:ext cx="3644489" cy="2414488"/>
          </a:xfrm>
        </p:spPr>
        <p:txBody>
          <a:bodyPr vert="horz" lIns="91440" tIns="45720" rIns="91440" bIns="45720" rtlCol="0" anchor="t">
            <a:normAutofit/>
          </a:bodyPr>
          <a:lstStyle/>
          <a:p>
            <a:r>
              <a:rPr lang="en-US" sz="4600" kern="1200">
                <a:solidFill>
                  <a:srgbClr val="FFFFFF"/>
                </a:solidFill>
                <a:latin typeface="+mj-lt"/>
                <a:ea typeface="+mj-ea"/>
                <a:cs typeface="+mj-cs"/>
              </a:rPr>
              <a:t>Champagne Clients DESCRIPTION</a:t>
            </a:r>
          </a:p>
        </p:txBody>
      </p:sp>
      <p:sp>
        <p:nvSpPr>
          <p:cNvPr id="9" name="TextBox 8">
            <a:extLst>
              <a:ext uri="{FF2B5EF4-FFF2-40B4-BE49-F238E27FC236}">
                <a16:creationId xmlns:a16="http://schemas.microsoft.com/office/drawing/2014/main" id="{A0BCF0E7-3E00-6598-CA3E-1259FE1DC4DC}"/>
              </a:ext>
            </a:extLst>
          </p:cNvPr>
          <p:cNvSpPr txBox="1"/>
          <p:nvPr/>
        </p:nvSpPr>
        <p:spPr>
          <a:xfrm>
            <a:off x="6095999" y="882315"/>
            <a:ext cx="5254754" cy="5294647"/>
          </a:xfrm>
          <a:prstGeom prst="rect">
            <a:avLst/>
          </a:prstGeom>
        </p:spPr>
        <p:txBody>
          <a:bodyPr vert="horz" lIns="91440" tIns="45720" rIns="91440" bIns="45720" rtlCol="0">
            <a:normAutofit/>
          </a:bodyPr>
          <a:lstStyle/>
          <a:p>
            <a:pPr>
              <a:lnSpc>
                <a:spcPct val="90000"/>
              </a:lnSpc>
              <a:spcAft>
                <a:spcPts val="600"/>
              </a:spcAft>
            </a:pPr>
            <a:r>
              <a:rPr lang="en-US" sz="1200" b="1" dirty="0"/>
              <a:t>Serious operators who invest to win and expect strategic partnership</a:t>
            </a:r>
            <a:endParaRPr lang="en-US" sz="1200" dirty="0"/>
          </a:p>
          <a:p>
            <a:pPr>
              <a:lnSpc>
                <a:spcPct val="90000"/>
              </a:lnSpc>
              <a:spcAft>
                <a:spcPts val="600"/>
              </a:spcAft>
            </a:pPr>
            <a:r>
              <a:rPr lang="en-US" sz="1200" dirty="0"/>
              <a:t>These clients are established, growth-minded organizations that view RFPs as a strategic revenue engine, not a last-minute scramble. They are willing to invest at a premium level to gain access to deep expertise, strategic advisement, and an experienced partner who helps them think differently &amp; compete at the highest level.</a:t>
            </a:r>
          </a:p>
          <a:p>
            <a:pPr indent="-228600">
              <a:lnSpc>
                <a:spcPct val="90000"/>
              </a:lnSpc>
              <a:spcAft>
                <a:spcPts val="600"/>
              </a:spcAft>
              <a:buFont typeface="Arial" panose="020B0604020202020204" pitchFamily="34" charset="0"/>
              <a:buChar char="•"/>
            </a:pPr>
            <a:endParaRPr lang="en-US" sz="1200" dirty="0"/>
          </a:p>
          <a:p>
            <a:pPr>
              <a:lnSpc>
                <a:spcPct val="90000"/>
              </a:lnSpc>
              <a:spcAft>
                <a:spcPts val="600"/>
              </a:spcAft>
            </a:pPr>
            <a:r>
              <a:rPr lang="en-US" sz="1200" dirty="0"/>
              <a:t>These clients value:</a:t>
            </a:r>
          </a:p>
          <a:p>
            <a:pPr marL="285750" indent="-228600">
              <a:lnSpc>
                <a:spcPct val="90000"/>
              </a:lnSpc>
              <a:spcAft>
                <a:spcPts val="600"/>
              </a:spcAft>
              <a:buFont typeface="Arial" panose="020B0604020202020204" pitchFamily="34" charset="0"/>
              <a:buChar char="•"/>
            </a:pPr>
            <a:r>
              <a:rPr lang="en-US" sz="1200" dirty="0"/>
              <a:t>Strategic insight beyond the RFP document itself</a:t>
            </a:r>
          </a:p>
          <a:p>
            <a:pPr marL="285750" indent="-228600">
              <a:lnSpc>
                <a:spcPct val="90000"/>
              </a:lnSpc>
              <a:spcAft>
                <a:spcPts val="600"/>
              </a:spcAft>
              <a:buFont typeface="Arial" panose="020B0604020202020204" pitchFamily="34" charset="0"/>
              <a:buChar char="•"/>
            </a:pPr>
            <a:r>
              <a:rPr lang="en-US" sz="1200" dirty="0"/>
              <a:t>Trusted, objective advisement that challenges assumptions</a:t>
            </a:r>
          </a:p>
          <a:p>
            <a:pPr marL="285750" indent="-228600">
              <a:lnSpc>
                <a:spcPct val="90000"/>
              </a:lnSpc>
              <a:spcAft>
                <a:spcPts val="600"/>
              </a:spcAft>
              <a:buFont typeface="Arial" panose="020B0604020202020204" pitchFamily="34" charset="0"/>
              <a:buChar char="•"/>
            </a:pPr>
            <a:r>
              <a:rPr lang="en-US" sz="1200" dirty="0"/>
              <a:t>Systems, processes, and positioning that compound over time</a:t>
            </a:r>
          </a:p>
          <a:p>
            <a:pPr marL="285750" indent="-228600">
              <a:lnSpc>
                <a:spcPct val="90000"/>
              </a:lnSpc>
              <a:spcAft>
                <a:spcPts val="600"/>
              </a:spcAft>
              <a:buFont typeface="Arial" panose="020B0604020202020204" pitchFamily="34" charset="0"/>
              <a:buChar char="•"/>
            </a:pPr>
            <a:r>
              <a:rPr lang="en-US" sz="1200" dirty="0"/>
              <a:t>Access to senior-level experience and evaluator-minded thinking</a:t>
            </a:r>
          </a:p>
          <a:p>
            <a:pPr indent="-228600">
              <a:lnSpc>
                <a:spcPct val="90000"/>
              </a:lnSpc>
              <a:spcAft>
                <a:spcPts val="600"/>
              </a:spcAft>
              <a:buFont typeface="Arial" panose="020B0604020202020204" pitchFamily="34" charset="0"/>
              <a:buChar char="•"/>
            </a:pPr>
            <a:endParaRPr lang="en-US" sz="1200" dirty="0"/>
          </a:p>
          <a:p>
            <a:pPr>
              <a:lnSpc>
                <a:spcPct val="90000"/>
              </a:lnSpc>
              <a:spcAft>
                <a:spcPts val="600"/>
              </a:spcAft>
            </a:pPr>
            <a:r>
              <a:rPr lang="en-US" sz="1200" dirty="0"/>
              <a:t>Champagne clients want a partner who elevates their RFP responses / bid strategy, how they show up in the market, and how they consistently outperform competitors.</a:t>
            </a:r>
          </a:p>
          <a:p>
            <a:pPr indent="-228600">
              <a:lnSpc>
                <a:spcPct val="90000"/>
              </a:lnSpc>
              <a:spcAft>
                <a:spcPts val="600"/>
              </a:spcAft>
              <a:buFont typeface="Arial" panose="020B0604020202020204" pitchFamily="34" charset="0"/>
              <a:buChar char="•"/>
            </a:pPr>
            <a:endParaRPr lang="en-US" sz="1200" b="1" dirty="0"/>
          </a:p>
          <a:p>
            <a:pPr>
              <a:lnSpc>
                <a:spcPct val="90000"/>
              </a:lnSpc>
              <a:spcAft>
                <a:spcPts val="600"/>
              </a:spcAft>
            </a:pPr>
            <a:r>
              <a:rPr lang="en-US" sz="1200" b="1" dirty="0"/>
              <a:t>Best fit for those who want:</a:t>
            </a:r>
            <a:br>
              <a:rPr lang="en-US" sz="1200" dirty="0"/>
            </a:br>
            <a:r>
              <a:rPr lang="en-US" sz="1200" dirty="0"/>
              <a:t>✔ High-touch, strategic partnership</a:t>
            </a:r>
            <a:br>
              <a:rPr lang="en-US" sz="1200" dirty="0"/>
            </a:br>
            <a:r>
              <a:rPr lang="en-US" sz="1200" dirty="0"/>
              <a:t>✔ Outside perspective that sharpens decision-making and responses</a:t>
            </a:r>
            <a:br>
              <a:rPr lang="en-US" sz="1200" dirty="0"/>
            </a:br>
            <a:r>
              <a:rPr lang="en-US" sz="1200" dirty="0"/>
              <a:t>✔ Premium outcomes through intentional investment</a:t>
            </a:r>
          </a:p>
        </p:txBody>
      </p:sp>
    </p:spTree>
    <p:extLst>
      <p:ext uri="{BB962C8B-B14F-4D97-AF65-F5344CB8AC3E}">
        <p14:creationId xmlns:p14="http://schemas.microsoft.com/office/powerpoint/2010/main" val="4232202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2A8B59-666D-1A6F-187F-F7629168EA64}"/>
            </a:ext>
          </a:extLst>
        </p:cNvPr>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9DBC8166-481C-4473-95F5-9A5B9073B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A5A5CE6E-90AF-4D43-A014-1F9EC83EB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12467"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7" name="Title 6">
            <a:extLst>
              <a:ext uri="{FF2B5EF4-FFF2-40B4-BE49-F238E27FC236}">
                <a16:creationId xmlns:a16="http://schemas.microsoft.com/office/drawing/2014/main" id="{B1C174D7-346B-6F26-E257-311FD4A529DF}"/>
              </a:ext>
            </a:extLst>
          </p:cNvPr>
          <p:cNvSpPr>
            <a:spLocks noGrp="1"/>
          </p:cNvSpPr>
          <p:nvPr>
            <p:ph type="title"/>
          </p:nvPr>
        </p:nvSpPr>
        <p:spPr>
          <a:xfrm>
            <a:off x="838200" y="643467"/>
            <a:ext cx="2951205" cy="5571066"/>
          </a:xfrm>
        </p:spPr>
        <p:txBody>
          <a:bodyPr>
            <a:normAutofit/>
          </a:bodyPr>
          <a:lstStyle/>
          <a:p>
            <a:r>
              <a:rPr lang="en-US" sz="4100">
                <a:solidFill>
                  <a:srgbClr val="FFFFFF"/>
                </a:solidFill>
              </a:rPr>
              <a:t>Champagne Clients OFFERINGS</a:t>
            </a:r>
          </a:p>
        </p:txBody>
      </p:sp>
      <p:graphicFrame>
        <p:nvGraphicFramePr>
          <p:cNvPr id="10" name="Content Placeholder 7">
            <a:extLst>
              <a:ext uri="{FF2B5EF4-FFF2-40B4-BE49-F238E27FC236}">
                <a16:creationId xmlns:a16="http://schemas.microsoft.com/office/drawing/2014/main" id="{67AF5F70-671D-768A-0978-DD55A1FEBE6B}"/>
              </a:ext>
            </a:extLst>
          </p:cNvPr>
          <p:cNvGraphicFramePr>
            <a:graphicFrameLocks noGrp="1"/>
          </p:cNvGraphicFramePr>
          <p:nvPr>
            <p:ph idx="1"/>
            <p:extLst>
              <p:ext uri="{D42A27DB-BD31-4B8C-83A1-F6EECF244321}">
                <p14:modId xmlns:p14="http://schemas.microsoft.com/office/powerpoint/2010/main" val="2238282311"/>
              </p:ext>
            </p:extLst>
          </p:nvPr>
        </p:nvGraphicFramePr>
        <p:xfrm>
          <a:off x="5207640" y="643466"/>
          <a:ext cx="6291714" cy="5530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51790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422919BE-0418-8C86-7366-B3EE51019200}"/>
              </a:ext>
            </a:extLst>
          </p:cNvPr>
          <p:cNvSpPr>
            <a:spLocks noGrp="1"/>
          </p:cNvSpPr>
          <p:nvPr>
            <p:ph type="title"/>
          </p:nvPr>
        </p:nvSpPr>
        <p:spPr>
          <a:xfrm>
            <a:off x="1245072" y="1289765"/>
            <a:ext cx="3651101" cy="4270963"/>
          </a:xfrm>
        </p:spPr>
        <p:txBody>
          <a:bodyPr anchor="ctr">
            <a:normAutofit/>
          </a:bodyPr>
          <a:lstStyle/>
          <a:p>
            <a:pPr algn="ctr"/>
            <a:r>
              <a:rPr lang="en-US" sz="5600">
                <a:solidFill>
                  <a:srgbClr val="FFFFFF"/>
                </a:solidFill>
              </a:rPr>
              <a:t>Full Response Mgmt: What They Get</a:t>
            </a:r>
          </a:p>
        </p:txBody>
      </p:sp>
      <p:sp>
        <p:nvSpPr>
          <p:cNvPr id="24"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2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6" name="Content Placeholder 5">
            <a:extLst>
              <a:ext uri="{FF2B5EF4-FFF2-40B4-BE49-F238E27FC236}">
                <a16:creationId xmlns:a16="http://schemas.microsoft.com/office/drawing/2014/main" id="{BDDB75AC-9B8F-7D16-A5CB-BA40B8646B02}"/>
              </a:ext>
            </a:extLst>
          </p:cNvPr>
          <p:cNvSpPr>
            <a:spLocks noGrp="1"/>
          </p:cNvSpPr>
          <p:nvPr>
            <p:ph idx="1"/>
          </p:nvPr>
        </p:nvSpPr>
        <p:spPr>
          <a:xfrm>
            <a:off x="6297233" y="518400"/>
            <a:ext cx="4771607" cy="5837949"/>
          </a:xfrm>
        </p:spPr>
        <p:txBody>
          <a:bodyPr anchor="ctr">
            <a:normAutofit/>
          </a:bodyPr>
          <a:lstStyle/>
          <a:p>
            <a:pPr eaLnBrk="0" fontAlgn="base" hangingPunct="0">
              <a:spcBef>
                <a:spcPct val="0"/>
              </a:spcBef>
              <a:spcAft>
                <a:spcPts val="600"/>
              </a:spcAft>
            </a:pPr>
            <a:r>
              <a:rPr lang="en-US" altLang="en-US" sz="2000" dirty="0">
                <a:solidFill>
                  <a:schemeClr val="tx1">
                    <a:alpha val="80000"/>
                  </a:schemeClr>
                </a:solidFill>
              </a:rPr>
              <a:t>Comprehensive Bid Strategy</a:t>
            </a:r>
          </a:p>
          <a:p>
            <a:pPr eaLnBrk="0" fontAlgn="base" hangingPunct="0">
              <a:spcBef>
                <a:spcPct val="0"/>
              </a:spcBef>
              <a:spcAft>
                <a:spcPts val="600"/>
              </a:spcAft>
            </a:pPr>
            <a:r>
              <a:rPr lang="en-US" altLang="en-US" sz="2000" dirty="0">
                <a:solidFill>
                  <a:schemeClr val="tx1">
                    <a:alpha val="80000"/>
                  </a:schemeClr>
                </a:solidFill>
              </a:rPr>
              <a:t>Assigned PM who manages the whole process</a:t>
            </a:r>
          </a:p>
          <a:p>
            <a:pPr eaLnBrk="0" fontAlgn="base" hangingPunct="0">
              <a:spcBef>
                <a:spcPct val="0"/>
              </a:spcBef>
              <a:spcAft>
                <a:spcPts val="600"/>
              </a:spcAft>
            </a:pPr>
            <a:r>
              <a:rPr lang="en-US" altLang="en-US" sz="2000" dirty="0">
                <a:solidFill>
                  <a:schemeClr val="tx1">
                    <a:alpha val="80000"/>
                  </a:schemeClr>
                </a:solidFill>
              </a:rPr>
              <a:t>A dedicated team of 4-5 trained and experienced proposal professionals (not just one “jack of all trades”)</a:t>
            </a:r>
          </a:p>
          <a:p>
            <a:pPr eaLnBrk="0" fontAlgn="base" hangingPunct="0">
              <a:spcBef>
                <a:spcPct val="0"/>
              </a:spcBef>
              <a:spcAft>
                <a:spcPts val="600"/>
              </a:spcAft>
            </a:pPr>
            <a:r>
              <a:rPr lang="en-US" altLang="en-US" sz="2000" dirty="0">
                <a:solidFill>
                  <a:schemeClr val="tx1">
                    <a:alpha val="80000"/>
                  </a:schemeClr>
                </a:solidFill>
              </a:rPr>
              <a:t>Full Compliance Check </a:t>
            </a:r>
          </a:p>
          <a:p>
            <a:pPr eaLnBrk="0" fontAlgn="base" hangingPunct="0">
              <a:spcBef>
                <a:spcPct val="0"/>
              </a:spcBef>
              <a:spcAft>
                <a:spcPts val="600"/>
              </a:spcAft>
            </a:pPr>
            <a:r>
              <a:rPr lang="en-US" altLang="en-US" sz="2000" dirty="0">
                <a:solidFill>
                  <a:schemeClr val="tx1">
                    <a:alpha val="80000"/>
                  </a:schemeClr>
                </a:solidFill>
              </a:rPr>
              <a:t>SME interviews</a:t>
            </a:r>
          </a:p>
          <a:p>
            <a:pPr eaLnBrk="0" fontAlgn="base" hangingPunct="0">
              <a:spcBef>
                <a:spcPct val="0"/>
              </a:spcBef>
              <a:spcAft>
                <a:spcPts val="600"/>
              </a:spcAft>
            </a:pPr>
            <a:r>
              <a:rPr lang="en-US" altLang="en-US" sz="2000" dirty="0">
                <a:solidFill>
                  <a:schemeClr val="tx1">
                    <a:alpha val="80000"/>
                  </a:schemeClr>
                </a:solidFill>
              </a:rPr>
              <a:t>A professional &amp; strategic proposal Writer who knows positioning and evaluator expectations</a:t>
            </a:r>
          </a:p>
          <a:p>
            <a:pPr eaLnBrk="0" fontAlgn="base" hangingPunct="0">
              <a:spcBef>
                <a:spcPct val="0"/>
              </a:spcBef>
              <a:spcAft>
                <a:spcPts val="600"/>
              </a:spcAft>
            </a:pPr>
            <a:r>
              <a:rPr lang="en-US" altLang="en-US" sz="2000" dirty="0">
                <a:solidFill>
                  <a:schemeClr val="tx1">
                    <a:alpha val="80000"/>
                  </a:schemeClr>
                </a:solidFill>
              </a:rPr>
              <a:t>Full objective strategic peer review</a:t>
            </a:r>
          </a:p>
          <a:p>
            <a:pPr eaLnBrk="0" fontAlgn="base" hangingPunct="0">
              <a:spcBef>
                <a:spcPct val="0"/>
              </a:spcBef>
              <a:spcAft>
                <a:spcPts val="600"/>
              </a:spcAft>
            </a:pPr>
            <a:r>
              <a:rPr lang="en-US" altLang="en-US" sz="2000" dirty="0">
                <a:solidFill>
                  <a:schemeClr val="tx1">
                    <a:alpha val="80000"/>
                  </a:schemeClr>
                </a:solidFill>
              </a:rPr>
              <a:t>Full editorial review</a:t>
            </a:r>
          </a:p>
          <a:p>
            <a:pPr eaLnBrk="0" fontAlgn="base" hangingPunct="0">
              <a:spcBef>
                <a:spcPct val="0"/>
              </a:spcBef>
              <a:spcAft>
                <a:spcPts val="600"/>
              </a:spcAft>
            </a:pPr>
            <a:r>
              <a:rPr lang="en-US" altLang="en-US" sz="2000" dirty="0">
                <a:solidFill>
                  <a:schemeClr val="tx1">
                    <a:alpha val="80000"/>
                  </a:schemeClr>
                </a:solidFill>
              </a:rPr>
              <a:t>Full proposal formatting</a:t>
            </a:r>
          </a:p>
          <a:p>
            <a:pPr eaLnBrk="0" fontAlgn="base" hangingPunct="0">
              <a:spcBef>
                <a:spcPct val="0"/>
              </a:spcBef>
              <a:spcAft>
                <a:spcPts val="600"/>
              </a:spcAft>
            </a:pPr>
            <a:r>
              <a:rPr lang="en-US" altLang="en-US" sz="2000" dirty="0">
                <a:solidFill>
                  <a:schemeClr val="tx1">
                    <a:alpha val="80000"/>
                  </a:schemeClr>
                </a:solidFill>
              </a:rPr>
              <a:t>Submittal prep &amp; instructions</a:t>
            </a:r>
          </a:p>
          <a:p>
            <a:pPr eaLnBrk="0" fontAlgn="base" hangingPunct="0">
              <a:spcBef>
                <a:spcPct val="0"/>
              </a:spcBef>
              <a:spcAft>
                <a:spcPts val="600"/>
              </a:spcAft>
            </a:pPr>
            <a:r>
              <a:rPr lang="en-US" altLang="en-US" sz="2000" dirty="0">
                <a:solidFill>
                  <a:schemeClr val="tx1">
                    <a:alpha val="80000"/>
                  </a:schemeClr>
                </a:solidFill>
              </a:rPr>
              <a:t>Library Content Management</a:t>
            </a:r>
          </a:p>
        </p:txBody>
      </p:sp>
      <p:sp>
        <p:nvSpPr>
          <p:cNvPr id="19"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21" name="Straight Connector 20">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02892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9EBCA279-647A-A555-3737-96DB176F8076}"/>
              </a:ext>
            </a:extLst>
          </p:cNvPr>
          <p:cNvSpPr>
            <a:spLocks noGrp="1"/>
          </p:cNvSpPr>
          <p:nvPr>
            <p:ph type="title"/>
          </p:nvPr>
        </p:nvSpPr>
        <p:spPr>
          <a:xfrm>
            <a:off x="1188069" y="381935"/>
            <a:ext cx="4008583" cy="5974414"/>
          </a:xfrm>
        </p:spPr>
        <p:txBody>
          <a:bodyPr anchor="ctr">
            <a:normAutofit/>
          </a:bodyPr>
          <a:lstStyle/>
          <a:p>
            <a:r>
              <a:rPr lang="en-US" sz="7400">
                <a:solidFill>
                  <a:srgbClr val="FFFFFF"/>
                </a:solidFill>
              </a:rPr>
              <a:t>Full Response Mgmt: New Pricing</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D20DD2E4-19B4-E392-BA6B-51E6C5B4E27C}"/>
              </a:ext>
            </a:extLst>
          </p:cNvPr>
          <p:cNvSpPr>
            <a:spLocks noGrp="1"/>
          </p:cNvSpPr>
          <p:nvPr>
            <p:ph idx="1"/>
          </p:nvPr>
        </p:nvSpPr>
        <p:spPr>
          <a:xfrm>
            <a:off x="6297233" y="518400"/>
            <a:ext cx="4771607" cy="5837949"/>
          </a:xfrm>
        </p:spPr>
        <p:txBody>
          <a:bodyPr anchor="ctr">
            <a:normAutofit/>
          </a:bodyPr>
          <a:lstStyle/>
          <a:p>
            <a:r>
              <a:rPr lang="en-US" sz="2000" dirty="0">
                <a:solidFill>
                  <a:schemeClr val="tx1">
                    <a:alpha val="80000"/>
                  </a:schemeClr>
                </a:solidFill>
              </a:rPr>
              <a:t>$28,000 base price</a:t>
            </a:r>
          </a:p>
          <a:p>
            <a:pPr lvl="1"/>
            <a:r>
              <a:rPr lang="en-US" sz="2000" dirty="0">
                <a:solidFill>
                  <a:schemeClr val="tx1">
                    <a:alpha val="80000"/>
                  </a:schemeClr>
                </a:solidFill>
              </a:rPr>
              <a:t>Reductions:</a:t>
            </a:r>
          </a:p>
          <a:p>
            <a:pPr lvl="2"/>
            <a:r>
              <a:rPr lang="en-US" dirty="0">
                <a:solidFill>
                  <a:schemeClr val="tx1">
                    <a:alpha val="80000"/>
                  </a:schemeClr>
                </a:solidFill>
              </a:rPr>
              <a:t>Lower complexity (but don’t go below $18k)</a:t>
            </a:r>
          </a:p>
          <a:p>
            <a:pPr lvl="2"/>
            <a:r>
              <a:rPr lang="en-US" dirty="0">
                <a:solidFill>
                  <a:schemeClr val="tx1">
                    <a:alpha val="80000"/>
                  </a:schemeClr>
                </a:solidFill>
              </a:rPr>
              <a:t>For existing clients only, use original pricing</a:t>
            </a:r>
          </a:p>
          <a:p>
            <a:pPr lvl="1"/>
            <a:r>
              <a:rPr lang="en-US" sz="2000" dirty="0">
                <a:solidFill>
                  <a:schemeClr val="tx1">
                    <a:alpha val="80000"/>
                  </a:schemeClr>
                </a:solidFill>
              </a:rPr>
              <a:t>Add-Ons ($5k each):</a:t>
            </a:r>
          </a:p>
          <a:p>
            <a:pPr lvl="2"/>
            <a:r>
              <a:rPr lang="en-US" dirty="0">
                <a:solidFill>
                  <a:schemeClr val="tx1">
                    <a:alpha val="80000"/>
                  </a:schemeClr>
                </a:solidFill>
              </a:rPr>
              <a:t>First-timer</a:t>
            </a:r>
          </a:p>
          <a:p>
            <a:pPr lvl="2"/>
            <a:r>
              <a:rPr lang="en-US" dirty="0">
                <a:solidFill>
                  <a:schemeClr val="tx1">
                    <a:alpha val="80000"/>
                  </a:schemeClr>
                </a:solidFill>
              </a:rPr>
              <a:t>Accelerated timelines </a:t>
            </a:r>
          </a:p>
          <a:p>
            <a:pPr lvl="3"/>
            <a:r>
              <a:rPr lang="en-US" dirty="0">
                <a:solidFill>
                  <a:schemeClr val="tx1">
                    <a:alpha val="80000"/>
                  </a:schemeClr>
                </a:solidFill>
              </a:rPr>
              <a:t>If 2 weeks or more delayed in reaching out to us</a:t>
            </a:r>
          </a:p>
          <a:p>
            <a:pPr lvl="2"/>
            <a:r>
              <a:rPr lang="en-US" dirty="0">
                <a:solidFill>
                  <a:schemeClr val="tx1">
                    <a:alpha val="80000"/>
                  </a:schemeClr>
                </a:solidFill>
              </a:rPr>
              <a:t>High complexity or technical depth</a:t>
            </a:r>
          </a:p>
          <a:p>
            <a:pPr lvl="2"/>
            <a:r>
              <a:rPr lang="en-US" dirty="0">
                <a:solidFill>
                  <a:schemeClr val="tx1">
                    <a:alpha val="80000"/>
                  </a:schemeClr>
                </a:solidFill>
              </a:rPr>
              <a:t>Large # of SMEs to interview</a:t>
            </a:r>
          </a:p>
          <a:p>
            <a:pPr lvl="2"/>
            <a:r>
              <a:rPr lang="en-US" dirty="0">
                <a:solidFill>
                  <a:schemeClr val="tx1">
                    <a:alpha val="80000"/>
                  </a:schemeClr>
                </a:solidFill>
              </a:rPr>
              <a:t>One or more subcontractors to incorporate</a:t>
            </a:r>
          </a:p>
          <a:p>
            <a:pPr lvl="2"/>
            <a:r>
              <a:rPr lang="en-US" dirty="0">
                <a:solidFill>
                  <a:schemeClr val="tx1">
                    <a:alpha val="80000"/>
                  </a:schemeClr>
                </a:solidFill>
              </a:rPr>
              <a:t>Difficult Client</a:t>
            </a:r>
          </a:p>
          <a:p>
            <a:pPr lvl="2"/>
            <a:endParaRPr lang="en-US" dirty="0">
              <a:solidFill>
                <a:schemeClr val="tx1">
                  <a:alpha val="80000"/>
                </a:schemeClr>
              </a:solidFill>
            </a:endParaRP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876366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F9B4BAFB-DF5A-5868-469C-76DA0A13A968}"/>
              </a:ext>
            </a:extLst>
          </p:cNvPr>
          <p:cNvSpPr>
            <a:spLocks noGrp="1"/>
          </p:cNvSpPr>
          <p:nvPr>
            <p:ph type="title"/>
          </p:nvPr>
        </p:nvSpPr>
        <p:spPr>
          <a:xfrm>
            <a:off x="202131" y="381935"/>
            <a:ext cx="4994521" cy="5974414"/>
          </a:xfrm>
        </p:spPr>
        <p:txBody>
          <a:bodyPr anchor="ctr">
            <a:normAutofit/>
          </a:bodyPr>
          <a:lstStyle/>
          <a:p>
            <a:r>
              <a:rPr lang="en-US" sz="6200" dirty="0" err="1">
                <a:solidFill>
                  <a:srgbClr val="FFFFFF"/>
                </a:solidFill>
              </a:rPr>
              <a:t>DOWNSell</a:t>
            </a:r>
            <a:r>
              <a:rPr lang="en-US" sz="6200" dirty="0">
                <a:solidFill>
                  <a:srgbClr val="FFFFFF"/>
                </a:solidFill>
              </a:rPr>
              <a:t> #1: Content Refinement (Evaluator-Aligned Rewriting)</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DCB38D32-13A9-601F-FCFC-E38B06D36347}"/>
              </a:ext>
            </a:extLst>
          </p:cNvPr>
          <p:cNvSpPr>
            <a:spLocks noGrp="1"/>
          </p:cNvSpPr>
          <p:nvPr>
            <p:ph idx="1"/>
          </p:nvPr>
        </p:nvSpPr>
        <p:spPr>
          <a:xfrm>
            <a:off x="6297233" y="518400"/>
            <a:ext cx="4771607" cy="5837949"/>
          </a:xfrm>
        </p:spPr>
        <p:txBody>
          <a:bodyPr anchor="ctr">
            <a:normAutofit/>
          </a:bodyPr>
          <a:lstStyle/>
          <a:p>
            <a:pPr>
              <a:buFont typeface="Wingdings" panose="05000000000000000000" pitchFamily="2" charset="2"/>
              <a:buChar char="§"/>
            </a:pPr>
            <a:r>
              <a:rPr lang="en-US" sz="1300" dirty="0">
                <a:solidFill>
                  <a:schemeClr val="tx1">
                    <a:alpha val="80000"/>
                  </a:schemeClr>
                </a:solidFill>
              </a:rPr>
              <a:t>This is </a:t>
            </a:r>
            <a:r>
              <a:rPr lang="en-US" sz="1300" b="1" dirty="0">
                <a:solidFill>
                  <a:schemeClr val="tx1">
                    <a:alpha val="80000"/>
                  </a:schemeClr>
                </a:solidFill>
              </a:rPr>
              <a:t>not editing</a:t>
            </a:r>
            <a:r>
              <a:rPr lang="en-US" sz="1300" dirty="0">
                <a:solidFill>
                  <a:schemeClr val="tx1">
                    <a:alpha val="80000"/>
                  </a:schemeClr>
                </a:solidFill>
              </a:rPr>
              <a:t>. This is </a:t>
            </a:r>
            <a:r>
              <a:rPr lang="en-US" sz="1300" b="1" dirty="0">
                <a:solidFill>
                  <a:schemeClr val="tx1">
                    <a:alpha val="80000"/>
                  </a:schemeClr>
                </a:solidFill>
              </a:rPr>
              <a:t>expert persuasive rewriting through the evaluator’s lens</a:t>
            </a:r>
            <a:r>
              <a:rPr lang="en-US" sz="1300" dirty="0">
                <a:solidFill>
                  <a:schemeClr val="tx1">
                    <a:alpha val="80000"/>
                  </a:schemeClr>
                </a:solidFill>
              </a:rPr>
              <a:t>  without owning the full response.</a:t>
            </a:r>
          </a:p>
          <a:p>
            <a:pPr>
              <a:buFont typeface="Wingdings" panose="05000000000000000000" pitchFamily="2" charset="2"/>
              <a:buChar char="§"/>
            </a:pPr>
            <a:r>
              <a:rPr lang="en-US" sz="1300" dirty="0">
                <a:solidFill>
                  <a:schemeClr val="tx1">
                    <a:alpha val="80000"/>
                  </a:schemeClr>
                </a:solidFill>
              </a:rPr>
              <a:t>You are stepping in as </a:t>
            </a:r>
            <a:r>
              <a:rPr lang="en-US" sz="1300" b="1" dirty="0">
                <a:solidFill>
                  <a:schemeClr val="tx1">
                    <a:alpha val="80000"/>
                  </a:schemeClr>
                </a:solidFill>
              </a:rPr>
              <a:t>senior strategists + evaluators</a:t>
            </a:r>
            <a:r>
              <a:rPr lang="en-US" sz="1300" dirty="0">
                <a:solidFill>
                  <a:schemeClr val="tx1">
                    <a:alpha val="80000"/>
                  </a:schemeClr>
                </a:solidFill>
              </a:rPr>
              <a:t>, not execution owners.</a:t>
            </a:r>
          </a:p>
          <a:p>
            <a:pPr>
              <a:buFont typeface="Wingdings" panose="05000000000000000000" pitchFamily="2" charset="2"/>
              <a:buChar char="§"/>
            </a:pPr>
            <a:r>
              <a:rPr lang="en-US" sz="1300" b="1" dirty="0">
                <a:solidFill>
                  <a:schemeClr val="tx1">
                    <a:alpha val="80000"/>
                  </a:schemeClr>
                </a:solidFill>
              </a:rPr>
              <a:t>Scope (Client-Facing Framing)</a:t>
            </a:r>
          </a:p>
          <a:p>
            <a:pPr lvl="1">
              <a:buFont typeface="Wingdings" panose="05000000000000000000" pitchFamily="2" charset="2"/>
              <a:buChar char="§"/>
            </a:pPr>
            <a:r>
              <a:rPr lang="en-US" sz="1300" dirty="0">
                <a:solidFill>
                  <a:schemeClr val="tx1">
                    <a:alpha val="80000"/>
                  </a:schemeClr>
                </a:solidFill>
              </a:rPr>
              <a:t>Kickoff </a:t>
            </a:r>
            <a:r>
              <a:rPr lang="en-US" sz="1300" b="1" dirty="0">
                <a:solidFill>
                  <a:schemeClr val="tx1">
                    <a:alpha val="80000"/>
                  </a:schemeClr>
                </a:solidFill>
              </a:rPr>
              <a:t>Bid Strategy Session</a:t>
            </a:r>
            <a:endParaRPr lang="en-US" sz="1300" dirty="0">
              <a:solidFill>
                <a:schemeClr val="tx1">
                  <a:alpha val="80000"/>
                </a:schemeClr>
              </a:solidFill>
            </a:endParaRPr>
          </a:p>
          <a:p>
            <a:pPr lvl="1">
              <a:buFont typeface="Wingdings" panose="05000000000000000000" pitchFamily="2" charset="2"/>
              <a:buChar char="§"/>
            </a:pPr>
            <a:r>
              <a:rPr lang="en-US" sz="1300" dirty="0">
                <a:solidFill>
                  <a:schemeClr val="tx1">
                    <a:alpha val="80000"/>
                  </a:schemeClr>
                </a:solidFill>
              </a:rPr>
              <a:t>Review client-drafted content</a:t>
            </a:r>
          </a:p>
          <a:p>
            <a:pPr lvl="1">
              <a:buFont typeface="Wingdings" panose="05000000000000000000" pitchFamily="2" charset="2"/>
              <a:buChar char="§"/>
            </a:pPr>
            <a:r>
              <a:rPr lang="en-US" sz="1300" dirty="0">
                <a:solidFill>
                  <a:schemeClr val="tx1">
                    <a:alpha val="80000"/>
                  </a:schemeClr>
                </a:solidFill>
              </a:rPr>
              <a:t>Rewrite key sections to be:</a:t>
            </a:r>
          </a:p>
          <a:p>
            <a:pPr lvl="2">
              <a:buFont typeface="Wingdings" panose="05000000000000000000" pitchFamily="2" charset="2"/>
              <a:buChar char="§"/>
            </a:pPr>
            <a:r>
              <a:rPr lang="en-US" sz="1300" dirty="0">
                <a:solidFill>
                  <a:schemeClr val="tx1">
                    <a:alpha val="80000"/>
                  </a:schemeClr>
                </a:solidFill>
              </a:rPr>
              <a:t>Evaluator-aligned</a:t>
            </a:r>
          </a:p>
          <a:p>
            <a:pPr lvl="2">
              <a:buFont typeface="Wingdings" panose="05000000000000000000" pitchFamily="2" charset="2"/>
              <a:buChar char="§"/>
            </a:pPr>
            <a:r>
              <a:rPr lang="en-US" sz="1300" dirty="0">
                <a:solidFill>
                  <a:schemeClr val="tx1">
                    <a:alpha val="80000"/>
                  </a:schemeClr>
                </a:solidFill>
              </a:rPr>
              <a:t>Strategically positioned</a:t>
            </a:r>
          </a:p>
          <a:p>
            <a:pPr lvl="2">
              <a:buFont typeface="Wingdings" panose="05000000000000000000" pitchFamily="2" charset="2"/>
              <a:buChar char="§"/>
            </a:pPr>
            <a:r>
              <a:rPr lang="en-US" sz="1300" dirty="0">
                <a:solidFill>
                  <a:schemeClr val="tx1">
                    <a:alpha val="80000"/>
                  </a:schemeClr>
                </a:solidFill>
              </a:rPr>
              <a:t>Differentiated</a:t>
            </a:r>
          </a:p>
          <a:p>
            <a:pPr lvl="1">
              <a:buFont typeface="Wingdings" panose="05000000000000000000" pitchFamily="2" charset="2"/>
              <a:buChar char="§"/>
            </a:pPr>
            <a:r>
              <a:rPr lang="en-US" sz="1300" dirty="0">
                <a:solidFill>
                  <a:schemeClr val="tx1">
                    <a:alpha val="80000"/>
                  </a:schemeClr>
                </a:solidFill>
              </a:rPr>
              <a:t>Focus on </a:t>
            </a:r>
            <a:r>
              <a:rPr lang="en-US" sz="1300" b="1" dirty="0">
                <a:solidFill>
                  <a:schemeClr val="tx1">
                    <a:alpha val="80000"/>
                  </a:schemeClr>
                </a:solidFill>
              </a:rPr>
              <a:t>highest-scoring sections</a:t>
            </a:r>
            <a:r>
              <a:rPr lang="en-US" sz="1300" dirty="0">
                <a:solidFill>
                  <a:schemeClr val="tx1">
                    <a:alpha val="80000"/>
                  </a:schemeClr>
                </a:solidFill>
              </a:rPr>
              <a:t> (not everything)</a:t>
            </a:r>
          </a:p>
          <a:p>
            <a:pPr lvl="1">
              <a:buFont typeface="Wingdings" panose="05000000000000000000" pitchFamily="2" charset="2"/>
              <a:buChar char="§"/>
            </a:pPr>
            <a:r>
              <a:rPr lang="en-US" sz="1300" dirty="0">
                <a:solidFill>
                  <a:schemeClr val="tx1">
                    <a:alpha val="80000"/>
                  </a:schemeClr>
                </a:solidFill>
              </a:rPr>
              <a:t>Light compliance awareness (but not full ownership)</a:t>
            </a:r>
          </a:p>
          <a:p>
            <a:pPr lvl="1">
              <a:buFont typeface="Wingdings" panose="05000000000000000000" pitchFamily="2" charset="2"/>
              <a:buChar char="§"/>
            </a:pPr>
            <a:r>
              <a:rPr lang="en-US" sz="1300" dirty="0">
                <a:solidFill>
                  <a:schemeClr val="tx1">
                    <a:alpha val="80000"/>
                  </a:schemeClr>
                </a:solidFill>
              </a:rPr>
              <a:t>Client retains:</a:t>
            </a:r>
          </a:p>
          <a:p>
            <a:pPr lvl="2">
              <a:buFont typeface="Wingdings" panose="05000000000000000000" pitchFamily="2" charset="2"/>
              <a:buChar char="§"/>
            </a:pPr>
            <a:r>
              <a:rPr lang="en-US" sz="1300" dirty="0">
                <a:solidFill>
                  <a:schemeClr val="tx1">
                    <a:alpha val="80000"/>
                  </a:schemeClr>
                </a:solidFill>
              </a:rPr>
              <a:t>PM</a:t>
            </a:r>
          </a:p>
          <a:p>
            <a:pPr lvl="2">
              <a:buFont typeface="Wingdings" panose="05000000000000000000" pitchFamily="2" charset="2"/>
              <a:buChar char="§"/>
            </a:pPr>
            <a:r>
              <a:rPr lang="en-US" sz="1300" dirty="0">
                <a:solidFill>
                  <a:schemeClr val="tx1">
                    <a:alpha val="80000"/>
                  </a:schemeClr>
                </a:solidFill>
              </a:rPr>
              <a:t>Timelines</a:t>
            </a:r>
          </a:p>
          <a:p>
            <a:pPr lvl="2">
              <a:buFont typeface="Wingdings" panose="05000000000000000000" pitchFamily="2" charset="2"/>
              <a:buChar char="§"/>
            </a:pPr>
            <a:r>
              <a:rPr lang="en-US" sz="1300" dirty="0">
                <a:solidFill>
                  <a:schemeClr val="tx1">
                    <a:alpha val="80000"/>
                  </a:schemeClr>
                </a:solidFill>
              </a:rPr>
              <a:t>SME coordination</a:t>
            </a:r>
          </a:p>
          <a:p>
            <a:pPr lvl="2">
              <a:buFont typeface="Wingdings" panose="05000000000000000000" pitchFamily="2" charset="2"/>
              <a:buChar char="§"/>
            </a:pPr>
            <a:r>
              <a:rPr lang="en-US" sz="1300" dirty="0">
                <a:solidFill>
                  <a:schemeClr val="tx1">
                    <a:alpha val="80000"/>
                  </a:schemeClr>
                </a:solidFill>
              </a:rPr>
              <a:t>Final assembly</a:t>
            </a:r>
          </a:p>
          <a:p>
            <a:pPr>
              <a:buFont typeface="Wingdings" panose="05000000000000000000" pitchFamily="2" charset="2"/>
              <a:buChar char="§"/>
            </a:pPr>
            <a:r>
              <a:rPr lang="en-US" sz="1300" b="1" dirty="0">
                <a:solidFill>
                  <a:schemeClr val="tx1">
                    <a:alpha val="80000"/>
                  </a:schemeClr>
                </a:solidFill>
              </a:rPr>
              <a:t>What You Are NOT Doing</a:t>
            </a:r>
          </a:p>
          <a:p>
            <a:pPr lvl="1">
              <a:buFont typeface="Wingdings" panose="05000000000000000000" pitchFamily="2" charset="2"/>
              <a:buChar char="§"/>
            </a:pPr>
            <a:r>
              <a:rPr lang="en-US" sz="1300" dirty="0">
                <a:solidFill>
                  <a:schemeClr val="tx1">
                    <a:alpha val="80000"/>
                  </a:schemeClr>
                </a:solidFill>
              </a:rPr>
              <a:t>No project management</a:t>
            </a:r>
          </a:p>
          <a:p>
            <a:pPr lvl="1">
              <a:buFont typeface="Wingdings" panose="05000000000000000000" pitchFamily="2" charset="2"/>
              <a:buChar char="§"/>
            </a:pPr>
            <a:r>
              <a:rPr lang="en-US" sz="1300" dirty="0">
                <a:solidFill>
                  <a:schemeClr val="tx1">
                    <a:alpha val="80000"/>
                  </a:schemeClr>
                </a:solidFill>
              </a:rPr>
              <a:t>No SME interviewing</a:t>
            </a:r>
          </a:p>
          <a:p>
            <a:pPr lvl="1">
              <a:buFont typeface="Wingdings" panose="05000000000000000000" pitchFamily="2" charset="2"/>
              <a:buChar char="§"/>
            </a:pPr>
            <a:r>
              <a:rPr lang="en-US" sz="1300" dirty="0">
                <a:solidFill>
                  <a:schemeClr val="tx1">
                    <a:alpha val="80000"/>
                  </a:schemeClr>
                </a:solidFill>
              </a:rPr>
              <a:t>No full-document writing</a:t>
            </a:r>
          </a:p>
          <a:p>
            <a:pPr lvl="1">
              <a:buFont typeface="Wingdings" panose="05000000000000000000" pitchFamily="2" charset="2"/>
              <a:buChar char="§"/>
            </a:pPr>
            <a:r>
              <a:rPr lang="en-US" sz="1300" dirty="0">
                <a:solidFill>
                  <a:schemeClr val="tx1">
                    <a:alpha val="80000"/>
                  </a:schemeClr>
                </a:solidFill>
              </a:rPr>
              <a:t>No submittal ownership</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08011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3C712D-124D-8F73-AEA6-8F3380178CE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C663ACC8-6FB9-77B6-AF22-972C3772DB11}"/>
              </a:ext>
            </a:extLst>
          </p:cNvPr>
          <p:cNvSpPr>
            <a:spLocks noGrp="1"/>
          </p:cNvSpPr>
          <p:nvPr>
            <p:ph type="title"/>
          </p:nvPr>
        </p:nvSpPr>
        <p:spPr>
          <a:xfrm>
            <a:off x="154005" y="381935"/>
            <a:ext cx="5042648" cy="5974414"/>
          </a:xfrm>
        </p:spPr>
        <p:txBody>
          <a:bodyPr anchor="ctr">
            <a:normAutofit/>
          </a:bodyPr>
          <a:lstStyle/>
          <a:p>
            <a:r>
              <a:rPr lang="en-US" sz="6200" dirty="0" err="1">
                <a:solidFill>
                  <a:srgbClr val="FFFFFF"/>
                </a:solidFill>
              </a:rPr>
              <a:t>DOWNSell</a:t>
            </a:r>
            <a:r>
              <a:rPr lang="en-US" sz="6200" dirty="0">
                <a:solidFill>
                  <a:srgbClr val="FFFFFF"/>
                </a:solidFill>
              </a:rPr>
              <a:t> #1: Content Refinement Pricing</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9AEAF3E6-F3EA-B491-4AB4-FECD996371E0}"/>
              </a:ext>
            </a:extLst>
          </p:cNvPr>
          <p:cNvSpPr>
            <a:spLocks noGrp="1"/>
          </p:cNvSpPr>
          <p:nvPr>
            <p:ph idx="1"/>
          </p:nvPr>
        </p:nvSpPr>
        <p:spPr>
          <a:xfrm>
            <a:off x="6297233" y="518400"/>
            <a:ext cx="4771607" cy="5837949"/>
          </a:xfrm>
        </p:spPr>
        <p:txBody>
          <a:bodyPr anchor="ctr">
            <a:normAutofit/>
          </a:bodyPr>
          <a:lstStyle/>
          <a:p>
            <a:r>
              <a:rPr lang="en-US" sz="2000" b="1">
                <a:solidFill>
                  <a:schemeClr val="tx1">
                    <a:alpha val="80000"/>
                  </a:schemeClr>
                </a:solidFill>
              </a:rPr>
              <a:t>$12,000 to $18,000 depending on length</a:t>
            </a:r>
          </a:p>
          <a:p>
            <a:r>
              <a:rPr lang="en-US" sz="2000" b="1">
                <a:solidFill>
                  <a:schemeClr val="tx1">
                    <a:alpha val="80000"/>
                  </a:schemeClr>
                </a:solidFill>
              </a:rPr>
              <a:t>Why this price works:</a:t>
            </a:r>
          </a:p>
          <a:p>
            <a:pPr lvl="1"/>
            <a:r>
              <a:rPr lang="en-US" sz="2000">
                <a:solidFill>
                  <a:schemeClr val="tx1">
                    <a:alpha val="80000"/>
                  </a:schemeClr>
                </a:solidFill>
              </a:rPr>
              <a:t>It’s </a:t>
            </a:r>
            <a:r>
              <a:rPr lang="en-US" sz="2000" b="1">
                <a:solidFill>
                  <a:schemeClr val="tx1">
                    <a:alpha val="80000"/>
                  </a:schemeClr>
                </a:solidFill>
              </a:rPr>
              <a:t>~50% of full-service</a:t>
            </a:r>
            <a:r>
              <a:rPr lang="en-US" sz="2000">
                <a:solidFill>
                  <a:schemeClr val="tx1">
                    <a:alpha val="80000"/>
                  </a:schemeClr>
                </a:solidFill>
              </a:rPr>
              <a:t>, which feels logical</a:t>
            </a:r>
          </a:p>
          <a:p>
            <a:pPr lvl="1"/>
            <a:r>
              <a:rPr lang="en-US" sz="2000">
                <a:solidFill>
                  <a:schemeClr val="tx1">
                    <a:alpha val="80000"/>
                  </a:schemeClr>
                </a:solidFill>
              </a:rPr>
              <a:t>Still high enough to signal: </a:t>
            </a:r>
            <a:r>
              <a:rPr lang="en-US" sz="2000" i="1">
                <a:solidFill>
                  <a:schemeClr val="tx1">
                    <a:alpha val="80000"/>
                  </a:schemeClr>
                </a:solidFill>
              </a:rPr>
              <a:t>this is serious expertise</a:t>
            </a:r>
            <a:endParaRPr lang="en-US" sz="2000">
              <a:solidFill>
                <a:schemeClr val="tx1">
                  <a:alpha val="80000"/>
                </a:schemeClr>
              </a:solidFill>
            </a:endParaRPr>
          </a:p>
          <a:p>
            <a:pPr lvl="1"/>
            <a:r>
              <a:rPr lang="en-US" sz="2000">
                <a:solidFill>
                  <a:schemeClr val="tx1">
                    <a:alpha val="80000"/>
                  </a:schemeClr>
                </a:solidFill>
              </a:rPr>
              <a:t>Reflects senior-level rewriting + strategy</a:t>
            </a:r>
          </a:p>
          <a:p>
            <a:pPr lvl="1"/>
            <a:r>
              <a:rPr lang="en-US" sz="2000">
                <a:solidFill>
                  <a:schemeClr val="tx1">
                    <a:alpha val="80000"/>
                  </a:schemeClr>
                </a:solidFill>
              </a:rPr>
              <a:t>Does NOT compete with low-end AI editors or freelancers</a:t>
            </a:r>
          </a:p>
          <a:p>
            <a:r>
              <a:rPr lang="en-US" sz="2000" b="1">
                <a:solidFill>
                  <a:schemeClr val="tx1">
                    <a:alpha val="80000"/>
                  </a:schemeClr>
                </a:solidFill>
              </a:rPr>
              <a:t>How to phrase it:</a:t>
            </a:r>
          </a:p>
          <a:p>
            <a:pPr lvl="1"/>
            <a:r>
              <a:rPr lang="en-US" sz="2000">
                <a:solidFill>
                  <a:schemeClr val="tx1">
                    <a:alpha val="80000"/>
                  </a:schemeClr>
                </a:solidFill>
              </a:rPr>
              <a:t>This option is ideal for teams who want to own execution but want our senior team to ensure the content actually scores.</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11985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376238C-5830-02D4-A25C-BCF9D092444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D3F6DA71-D2D0-1F8D-C8E6-29A84E9D6C27}"/>
              </a:ext>
            </a:extLst>
          </p:cNvPr>
          <p:cNvSpPr>
            <a:spLocks noGrp="1"/>
          </p:cNvSpPr>
          <p:nvPr>
            <p:ph type="title"/>
          </p:nvPr>
        </p:nvSpPr>
        <p:spPr>
          <a:xfrm>
            <a:off x="182881" y="381935"/>
            <a:ext cx="5013772" cy="5974414"/>
          </a:xfrm>
        </p:spPr>
        <p:txBody>
          <a:bodyPr anchor="ctr">
            <a:normAutofit/>
          </a:bodyPr>
          <a:lstStyle/>
          <a:p>
            <a:r>
              <a:rPr lang="en-US" sz="5600" dirty="0" err="1">
                <a:solidFill>
                  <a:srgbClr val="FFFFFF"/>
                </a:solidFill>
              </a:rPr>
              <a:t>DOWNSell</a:t>
            </a:r>
            <a:r>
              <a:rPr lang="en-US" sz="5600" dirty="0">
                <a:solidFill>
                  <a:srgbClr val="FFFFFF"/>
                </a:solidFill>
              </a:rPr>
              <a:t> #2: Strategic &amp; Compliance Review</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1F6EA667-EB8A-0EA7-D7B7-FFE6B30A42E0}"/>
              </a:ext>
            </a:extLst>
          </p:cNvPr>
          <p:cNvSpPr>
            <a:spLocks noGrp="1"/>
          </p:cNvSpPr>
          <p:nvPr>
            <p:ph idx="1"/>
          </p:nvPr>
        </p:nvSpPr>
        <p:spPr>
          <a:xfrm>
            <a:off x="6297233" y="518400"/>
            <a:ext cx="4771607" cy="5837949"/>
          </a:xfrm>
        </p:spPr>
        <p:txBody>
          <a:bodyPr anchor="ctr">
            <a:normAutofit/>
          </a:bodyPr>
          <a:lstStyle/>
          <a:p>
            <a:pPr>
              <a:buFont typeface="Wingdings" panose="05000000000000000000" pitchFamily="2" charset="2"/>
              <a:buChar char="§"/>
            </a:pPr>
            <a:r>
              <a:rPr lang="en-US" sz="1400">
                <a:solidFill>
                  <a:schemeClr val="tx1">
                    <a:alpha val="80000"/>
                  </a:schemeClr>
                </a:solidFill>
              </a:rPr>
              <a:t>This is a </a:t>
            </a:r>
            <a:r>
              <a:rPr lang="en-US" sz="1400" b="1">
                <a:solidFill>
                  <a:schemeClr val="tx1">
                    <a:alpha val="80000"/>
                  </a:schemeClr>
                </a:solidFill>
              </a:rPr>
              <a:t>diagnostic + scoring lens</a:t>
            </a:r>
            <a:r>
              <a:rPr lang="en-US" sz="1400">
                <a:solidFill>
                  <a:schemeClr val="tx1">
                    <a:alpha val="80000"/>
                  </a:schemeClr>
                </a:solidFill>
              </a:rPr>
              <a:t>, not execution help. We are acting as:</a:t>
            </a:r>
          </a:p>
          <a:p>
            <a:pPr lvl="1"/>
            <a:r>
              <a:rPr lang="en-US" sz="1400">
                <a:solidFill>
                  <a:schemeClr val="tx1">
                    <a:alpha val="80000"/>
                  </a:schemeClr>
                </a:solidFill>
              </a:rPr>
              <a:t>Evaluators</a:t>
            </a:r>
          </a:p>
          <a:p>
            <a:pPr lvl="1"/>
            <a:r>
              <a:rPr lang="en-US" sz="1400">
                <a:solidFill>
                  <a:schemeClr val="tx1">
                    <a:alpha val="80000"/>
                  </a:schemeClr>
                </a:solidFill>
              </a:rPr>
              <a:t>Strategists</a:t>
            </a:r>
          </a:p>
          <a:p>
            <a:pPr lvl="1"/>
            <a:r>
              <a:rPr lang="en-US" sz="1400">
                <a:solidFill>
                  <a:schemeClr val="tx1">
                    <a:alpha val="80000"/>
                  </a:schemeClr>
                </a:solidFill>
              </a:rPr>
              <a:t>Compliance watchdogs</a:t>
            </a:r>
          </a:p>
          <a:p>
            <a:pPr lvl="1"/>
            <a:r>
              <a:rPr lang="en-US" sz="1400">
                <a:solidFill>
                  <a:schemeClr val="tx1">
                    <a:alpha val="80000"/>
                  </a:schemeClr>
                </a:solidFill>
              </a:rPr>
              <a:t>They keep </a:t>
            </a:r>
            <a:r>
              <a:rPr lang="en-US" sz="1400" i="1">
                <a:solidFill>
                  <a:schemeClr val="tx1">
                    <a:alpha val="80000"/>
                  </a:schemeClr>
                </a:solidFill>
              </a:rPr>
              <a:t>all</a:t>
            </a:r>
            <a:r>
              <a:rPr lang="en-US" sz="1400">
                <a:solidFill>
                  <a:schemeClr val="tx1">
                    <a:alpha val="80000"/>
                  </a:schemeClr>
                </a:solidFill>
              </a:rPr>
              <a:t> responsibility for fixes.</a:t>
            </a:r>
          </a:p>
          <a:p>
            <a:pPr>
              <a:buFont typeface="Wingdings" panose="05000000000000000000" pitchFamily="2" charset="2"/>
              <a:buChar char="§"/>
            </a:pPr>
            <a:r>
              <a:rPr lang="en-US" sz="1400" b="1">
                <a:solidFill>
                  <a:schemeClr val="tx1">
                    <a:alpha val="80000"/>
                  </a:schemeClr>
                </a:solidFill>
              </a:rPr>
              <a:t>Scope</a:t>
            </a:r>
          </a:p>
          <a:p>
            <a:pPr lvl="1"/>
            <a:r>
              <a:rPr lang="en-US" sz="1400" b="1">
                <a:solidFill>
                  <a:schemeClr val="tx1">
                    <a:alpha val="80000"/>
                  </a:schemeClr>
                </a:solidFill>
              </a:rPr>
              <a:t>Strategic review of the full proposal</a:t>
            </a:r>
          </a:p>
          <a:p>
            <a:pPr lvl="2"/>
            <a:r>
              <a:rPr lang="en-US" sz="1400">
                <a:solidFill>
                  <a:schemeClr val="tx1">
                    <a:alpha val="80000"/>
                  </a:schemeClr>
                </a:solidFill>
              </a:rPr>
              <a:t>Identification of:</a:t>
            </a:r>
          </a:p>
          <a:p>
            <a:pPr lvl="3"/>
            <a:r>
              <a:rPr lang="en-US" sz="1400">
                <a:solidFill>
                  <a:schemeClr val="tx1">
                    <a:alpha val="80000"/>
                  </a:schemeClr>
                </a:solidFill>
              </a:rPr>
              <a:t>Scoring weaknesses</a:t>
            </a:r>
          </a:p>
          <a:p>
            <a:pPr lvl="3"/>
            <a:r>
              <a:rPr lang="en-US" sz="1400">
                <a:solidFill>
                  <a:schemeClr val="tx1">
                    <a:alpha val="80000"/>
                  </a:schemeClr>
                </a:solidFill>
              </a:rPr>
              <a:t>Missing or weak win themes</a:t>
            </a:r>
          </a:p>
          <a:p>
            <a:pPr lvl="3"/>
            <a:r>
              <a:rPr lang="en-US" sz="1400">
                <a:solidFill>
                  <a:schemeClr val="tx1">
                    <a:alpha val="80000"/>
                  </a:schemeClr>
                </a:solidFill>
              </a:rPr>
              <a:t>Evaluator misalignment</a:t>
            </a:r>
          </a:p>
          <a:p>
            <a:pPr lvl="3"/>
            <a:r>
              <a:rPr lang="en-US" sz="1400">
                <a:solidFill>
                  <a:schemeClr val="tx1">
                    <a:alpha val="80000"/>
                  </a:schemeClr>
                </a:solidFill>
              </a:rPr>
              <a:t>Structural issues</a:t>
            </a:r>
          </a:p>
          <a:p>
            <a:pPr lvl="1"/>
            <a:r>
              <a:rPr lang="en-US" sz="1400" b="1">
                <a:solidFill>
                  <a:schemeClr val="tx1">
                    <a:alpha val="80000"/>
                  </a:schemeClr>
                </a:solidFill>
              </a:rPr>
              <a:t>Formal compliance review</a:t>
            </a:r>
            <a:endParaRPr lang="en-US" sz="1400">
              <a:solidFill>
                <a:schemeClr val="tx1">
                  <a:alpha val="80000"/>
                </a:schemeClr>
              </a:solidFill>
            </a:endParaRPr>
          </a:p>
          <a:p>
            <a:pPr lvl="2"/>
            <a:r>
              <a:rPr lang="en-US" sz="1400">
                <a:solidFill>
                  <a:schemeClr val="tx1">
                    <a:alpha val="80000"/>
                  </a:schemeClr>
                </a:solidFill>
              </a:rPr>
              <a:t>Written findings + prioritized recommendations</a:t>
            </a:r>
          </a:p>
          <a:p>
            <a:pPr>
              <a:buFont typeface="Wingdings" panose="05000000000000000000" pitchFamily="2" charset="2"/>
              <a:buChar char="§"/>
            </a:pPr>
            <a:r>
              <a:rPr lang="en-US" sz="1400" b="1">
                <a:solidFill>
                  <a:schemeClr val="tx1">
                    <a:alpha val="80000"/>
                  </a:schemeClr>
                </a:solidFill>
              </a:rPr>
              <a:t>What We Are NOT Doing</a:t>
            </a:r>
          </a:p>
          <a:p>
            <a:pPr lvl="1"/>
            <a:r>
              <a:rPr lang="en-US" sz="1400">
                <a:solidFill>
                  <a:schemeClr val="tx1">
                    <a:alpha val="80000"/>
                  </a:schemeClr>
                </a:solidFill>
              </a:rPr>
              <a:t>No rewriting</a:t>
            </a:r>
          </a:p>
          <a:p>
            <a:pPr lvl="1"/>
            <a:r>
              <a:rPr lang="en-US" sz="1400">
                <a:solidFill>
                  <a:schemeClr val="tx1">
                    <a:alpha val="80000"/>
                  </a:schemeClr>
                </a:solidFill>
              </a:rPr>
              <a:t>No PM</a:t>
            </a:r>
          </a:p>
          <a:p>
            <a:pPr lvl="1"/>
            <a:r>
              <a:rPr lang="en-US" sz="1400">
                <a:solidFill>
                  <a:schemeClr val="tx1">
                    <a:alpha val="80000"/>
                  </a:schemeClr>
                </a:solidFill>
              </a:rPr>
              <a:t>No SME work</a:t>
            </a:r>
          </a:p>
          <a:p>
            <a:pPr lvl="1"/>
            <a:r>
              <a:rPr lang="en-US" sz="1400">
                <a:solidFill>
                  <a:schemeClr val="tx1">
                    <a:alpha val="80000"/>
                  </a:schemeClr>
                </a:solidFill>
              </a:rPr>
              <a:t>No content creation</a:t>
            </a: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49277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779911"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900BE2CE-16E1-2186-575D-A57915A83EC4}"/>
              </a:ext>
            </a:extLst>
          </p:cNvPr>
          <p:cNvSpPr>
            <a:spLocks noGrp="1"/>
          </p:cNvSpPr>
          <p:nvPr>
            <p:ph type="title"/>
          </p:nvPr>
        </p:nvSpPr>
        <p:spPr>
          <a:xfrm>
            <a:off x="211757" y="381935"/>
            <a:ext cx="4984896" cy="5974414"/>
          </a:xfrm>
        </p:spPr>
        <p:txBody>
          <a:bodyPr anchor="ctr">
            <a:normAutofit/>
          </a:bodyPr>
          <a:lstStyle/>
          <a:p>
            <a:r>
              <a:rPr lang="en-US" sz="5600" dirty="0" err="1">
                <a:solidFill>
                  <a:srgbClr val="FFFFFF"/>
                </a:solidFill>
              </a:rPr>
              <a:t>DOWNSell</a:t>
            </a:r>
            <a:r>
              <a:rPr lang="en-US" sz="5600" dirty="0">
                <a:solidFill>
                  <a:srgbClr val="FFFFFF"/>
                </a:solidFill>
              </a:rPr>
              <a:t> #2: Strategic &amp; Compliance Review Pricing</a:t>
            </a:r>
          </a:p>
        </p:txBody>
      </p:sp>
      <p:grpSp>
        <p:nvGrpSpPr>
          <p:cNvPr id="12" name="Group 11">
            <a:extLst>
              <a:ext uri="{FF2B5EF4-FFF2-40B4-BE49-F238E27FC236}">
                <a16:creationId xmlns:a16="http://schemas.microsoft.com/office/drawing/2014/main" id="{0474DF76-993E-44DE-AFB0-C416182ACEC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13892" y="554152"/>
            <a:ext cx="574177" cy="1075866"/>
            <a:chOff x="613892" y="554152"/>
            <a:chExt cx="574177" cy="1075866"/>
          </a:xfrm>
          <a:solidFill>
            <a:srgbClr val="FFFFFF"/>
          </a:solidFill>
        </p:grpSpPr>
        <p:sp>
          <p:nvSpPr>
            <p:cNvPr id="13"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3061" y="554152"/>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grpFill/>
            <a:ln w="776" cap="flat">
              <a:noFill/>
              <a:prstDash val="solid"/>
              <a:miter/>
            </a:ln>
          </p:spPr>
          <p:txBody>
            <a:bodyPr rtlCol="0" anchor="ctr"/>
            <a:lstStyle/>
            <a:p>
              <a:endParaRPr lang="en-US"/>
            </a:p>
          </p:txBody>
        </p:sp>
        <p:sp>
          <p:nvSpPr>
            <p:cNvPr id="14"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5643" y="837005"/>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grpFill/>
            <a:ln w="516" cap="flat">
              <a:noFill/>
              <a:prstDash val="solid"/>
              <a:miter/>
            </a:ln>
          </p:spPr>
          <p:txBody>
            <a:bodyPr rtlCol="0" anchor="ctr"/>
            <a:lstStyle/>
            <a:p>
              <a:endParaRPr lang="en-US"/>
            </a:p>
          </p:txBody>
        </p:sp>
        <p:sp>
          <p:nvSpPr>
            <p:cNvPr id="15"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3892" y="1472473"/>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grpFill/>
            <a:ln w="751" cap="flat">
              <a:noFill/>
              <a:prstDash val="solid"/>
              <a:miter/>
            </a:ln>
          </p:spPr>
          <p:txBody>
            <a:bodyPr rtlCol="0" anchor="ctr"/>
            <a:lstStyle/>
            <a:p>
              <a:endParaRPr lang="en-US"/>
            </a:p>
          </p:txBody>
        </p:sp>
      </p:grpSp>
      <p:sp>
        <p:nvSpPr>
          <p:cNvPr id="3" name="Content Placeholder 2">
            <a:extLst>
              <a:ext uri="{FF2B5EF4-FFF2-40B4-BE49-F238E27FC236}">
                <a16:creationId xmlns:a16="http://schemas.microsoft.com/office/drawing/2014/main" id="{CC223F7A-DF4F-4E3B-B7C6-1BBC06102C65}"/>
              </a:ext>
            </a:extLst>
          </p:cNvPr>
          <p:cNvSpPr>
            <a:spLocks noGrp="1"/>
          </p:cNvSpPr>
          <p:nvPr>
            <p:ph idx="1"/>
          </p:nvPr>
        </p:nvSpPr>
        <p:spPr>
          <a:xfrm>
            <a:off x="6297233" y="518400"/>
            <a:ext cx="4771607" cy="5837949"/>
          </a:xfrm>
        </p:spPr>
        <p:txBody>
          <a:bodyPr anchor="ctr">
            <a:normAutofit/>
          </a:bodyPr>
          <a:lstStyle/>
          <a:p>
            <a:r>
              <a:rPr lang="en-US" sz="2000" b="1" dirty="0">
                <a:solidFill>
                  <a:schemeClr val="tx1">
                    <a:alpha val="80000"/>
                  </a:schemeClr>
                </a:solidFill>
              </a:rPr>
              <a:t>$7,500 to $10,000 depending on length</a:t>
            </a:r>
          </a:p>
          <a:p>
            <a:r>
              <a:rPr lang="en-US" sz="2000" b="1" dirty="0">
                <a:solidFill>
                  <a:schemeClr val="tx1">
                    <a:alpha val="80000"/>
                  </a:schemeClr>
                </a:solidFill>
              </a:rPr>
              <a:t>Why this price works:</a:t>
            </a:r>
          </a:p>
          <a:p>
            <a:pPr lvl="1"/>
            <a:r>
              <a:rPr lang="en-US" sz="2000" dirty="0">
                <a:solidFill>
                  <a:schemeClr val="tx1">
                    <a:alpha val="80000"/>
                  </a:schemeClr>
                </a:solidFill>
              </a:rPr>
              <a:t>It’s still a </a:t>
            </a:r>
            <a:r>
              <a:rPr lang="en-US" sz="2000" i="1" dirty="0">
                <a:solidFill>
                  <a:schemeClr val="tx1">
                    <a:alpha val="80000"/>
                  </a:schemeClr>
                </a:solidFill>
              </a:rPr>
              <a:t>serious</a:t>
            </a:r>
            <a:r>
              <a:rPr lang="en-US" sz="2000" dirty="0">
                <a:solidFill>
                  <a:schemeClr val="tx1">
                    <a:alpha val="80000"/>
                  </a:schemeClr>
                </a:solidFill>
              </a:rPr>
              <a:t> investment</a:t>
            </a:r>
          </a:p>
          <a:p>
            <a:pPr lvl="1"/>
            <a:r>
              <a:rPr lang="en-US" sz="2000" dirty="0">
                <a:solidFill>
                  <a:schemeClr val="tx1">
                    <a:alpha val="80000"/>
                  </a:schemeClr>
                </a:solidFill>
              </a:rPr>
              <a:t>Aligns with executive-level review + compliance risk mitigation</a:t>
            </a:r>
          </a:p>
          <a:p>
            <a:pPr lvl="1"/>
            <a:r>
              <a:rPr lang="en-US" sz="2000" dirty="0">
                <a:solidFill>
                  <a:schemeClr val="tx1">
                    <a:alpha val="80000"/>
                  </a:schemeClr>
                </a:solidFill>
              </a:rPr>
              <a:t>Feels like a “smart insurance policy”</a:t>
            </a:r>
          </a:p>
          <a:p>
            <a:pPr lvl="1"/>
            <a:r>
              <a:rPr lang="en-US" sz="2000" dirty="0">
                <a:solidFill>
                  <a:schemeClr val="tx1">
                    <a:alpha val="80000"/>
                  </a:schemeClr>
                </a:solidFill>
              </a:rPr>
              <a:t>Protects us from becoming a cheap reviewer</a:t>
            </a:r>
          </a:p>
          <a:p>
            <a:r>
              <a:rPr lang="en-US" sz="2000" b="1" dirty="0">
                <a:solidFill>
                  <a:schemeClr val="tx1">
                    <a:alpha val="80000"/>
                  </a:schemeClr>
                </a:solidFill>
              </a:rPr>
              <a:t>How to Phrase It</a:t>
            </a:r>
          </a:p>
          <a:p>
            <a:pPr lvl="1"/>
            <a:r>
              <a:rPr lang="en-US" sz="2000" dirty="0">
                <a:solidFill>
                  <a:schemeClr val="tx1">
                    <a:alpha val="80000"/>
                  </a:schemeClr>
                </a:solidFill>
              </a:rPr>
              <a:t>This option is ideal for teams who want to own execution and feel they produce technical and strategic content but want our senior team to ensure compliance and provide guidance on better positioning</a:t>
            </a:r>
          </a:p>
          <a:p>
            <a:pPr lvl="1"/>
            <a:endParaRPr lang="en-US" sz="1600" b="1" dirty="0">
              <a:solidFill>
                <a:schemeClr val="tx1">
                  <a:alpha val="80000"/>
                </a:schemeClr>
              </a:solidFill>
            </a:endParaRPr>
          </a:p>
          <a:p>
            <a:endParaRPr lang="en-US" sz="2000" dirty="0">
              <a:solidFill>
                <a:schemeClr val="tx1">
                  <a:alpha val="80000"/>
                </a:schemeClr>
              </a:solidFill>
            </a:endParaRPr>
          </a:p>
        </p:txBody>
      </p:sp>
      <p:cxnSp>
        <p:nvCxnSpPr>
          <p:cNvPr id="17" name="Straight Connector 16">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24746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139D6F-E10F-62A1-3348-E368D7E6C733}"/>
              </a:ext>
            </a:extLst>
          </p:cNvPr>
          <p:cNvSpPr>
            <a:spLocks noGrp="1"/>
          </p:cNvSpPr>
          <p:nvPr>
            <p:ph type="title"/>
          </p:nvPr>
        </p:nvSpPr>
        <p:spPr>
          <a:xfrm>
            <a:off x="1245072" y="1289765"/>
            <a:ext cx="3651101" cy="4270963"/>
          </a:xfrm>
        </p:spPr>
        <p:txBody>
          <a:bodyPr anchor="ctr">
            <a:normAutofit/>
          </a:bodyPr>
          <a:lstStyle/>
          <a:p>
            <a:pPr algn="ctr"/>
            <a:r>
              <a:rPr lang="en-US" sz="5600" dirty="0">
                <a:solidFill>
                  <a:srgbClr val="FFFFFF"/>
                </a:solidFill>
              </a:rPr>
              <a:t>Mindset Shifts</a:t>
            </a: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F90556EC-7E37-89B1-654B-910A99368D7F}"/>
              </a:ext>
            </a:extLst>
          </p:cNvPr>
          <p:cNvSpPr>
            <a:spLocks noGrp="1"/>
          </p:cNvSpPr>
          <p:nvPr>
            <p:ph idx="1"/>
          </p:nvPr>
        </p:nvSpPr>
        <p:spPr>
          <a:xfrm>
            <a:off x="6297233" y="518400"/>
            <a:ext cx="4771607" cy="5837949"/>
          </a:xfrm>
        </p:spPr>
        <p:txBody>
          <a:bodyPr anchor="ctr">
            <a:normAutofit/>
          </a:bodyPr>
          <a:lstStyle/>
          <a:p>
            <a:r>
              <a:rPr lang="en-US" sz="1700" b="1" dirty="0">
                <a:solidFill>
                  <a:schemeClr val="tx1">
                    <a:alpha val="80000"/>
                  </a:schemeClr>
                </a:solidFill>
              </a:rPr>
              <a:t>The price is not arbitrary, it reflects reality</a:t>
            </a:r>
          </a:p>
          <a:p>
            <a:pPr lvl="1"/>
            <a:r>
              <a:rPr lang="en-US" sz="1700" dirty="0">
                <a:solidFill>
                  <a:schemeClr val="tx1">
                    <a:alpha val="80000"/>
                  </a:schemeClr>
                </a:solidFill>
              </a:rPr>
              <a:t>The service is complex</a:t>
            </a:r>
          </a:p>
          <a:p>
            <a:pPr lvl="1"/>
            <a:r>
              <a:rPr lang="en-US" sz="1700" dirty="0">
                <a:solidFill>
                  <a:schemeClr val="tx1">
                    <a:alpha val="80000"/>
                  </a:schemeClr>
                </a:solidFill>
              </a:rPr>
              <a:t>It takes senior experienced and strategic expertise (not fragmented unskilled resources)</a:t>
            </a:r>
          </a:p>
          <a:p>
            <a:pPr lvl="1"/>
            <a:r>
              <a:rPr lang="en-US" sz="1700" dirty="0">
                <a:solidFill>
                  <a:schemeClr val="tx1">
                    <a:alpha val="80000"/>
                  </a:schemeClr>
                </a:solidFill>
              </a:rPr>
              <a:t>It directly increases win rate and revenue</a:t>
            </a:r>
          </a:p>
          <a:p>
            <a:pPr lvl="1"/>
            <a:r>
              <a:rPr lang="en-US" sz="1700" dirty="0">
                <a:solidFill>
                  <a:schemeClr val="tx1">
                    <a:alpha val="80000"/>
                  </a:schemeClr>
                </a:solidFill>
              </a:rPr>
              <a:t>It prevents millions in opportunity cost when done poorly</a:t>
            </a:r>
          </a:p>
          <a:p>
            <a:pPr lvl="1"/>
            <a:r>
              <a:rPr lang="en-US" sz="1700" dirty="0">
                <a:solidFill>
                  <a:schemeClr val="tx1">
                    <a:alpha val="80000"/>
                  </a:schemeClr>
                </a:solidFill>
              </a:rPr>
              <a:t>Our job is not to be the cheapest, our job is to deliver wins</a:t>
            </a:r>
          </a:p>
          <a:p>
            <a:r>
              <a:rPr lang="en-US" sz="1700" b="1" dirty="0">
                <a:solidFill>
                  <a:schemeClr val="tx1">
                    <a:alpha val="80000"/>
                  </a:schemeClr>
                </a:solidFill>
              </a:rPr>
              <a:t>Lower-priced competitors never offer:</a:t>
            </a:r>
          </a:p>
          <a:p>
            <a:pPr lvl="1"/>
            <a:r>
              <a:rPr lang="en-US" sz="1700" dirty="0">
                <a:solidFill>
                  <a:schemeClr val="tx1">
                    <a:alpha val="80000"/>
                  </a:schemeClr>
                </a:solidFill>
              </a:rPr>
              <a:t>Full experienced project management</a:t>
            </a:r>
          </a:p>
          <a:p>
            <a:pPr lvl="1"/>
            <a:r>
              <a:rPr lang="en-US" sz="1700" dirty="0">
                <a:solidFill>
                  <a:schemeClr val="tx1">
                    <a:alpha val="80000"/>
                  </a:schemeClr>
                </a:solidFill>
              </a:rPr>
              <a:t>Comprehensive bid strategy</a:t>
            </a:r>
          </a:p>
          <a:p>
            <a:pPr lvl="1"/>
            <a:r>
              <a:rPr lang="en-US" sz="1700" dirty="0">
                <a:solidFill>
                  <a:schemeClr val="tx1">
                    <a:alpha val="80000"/>
                  </a:schemeClr>
                </a:solidFill>
              </a:rPr>
              <a:t>Multi-layers of peer review</a:t>
            </a:r>
          </a:p>
          <a:p>
            <a:pPr lvl="1"/>
            <a:r>
              <a:rPr lang="en-US" sz="1700" dirty="0">
                <a:solidFill>
                  <a:schemeClr val="tx1">
                    <a:alpha val="80000"/>
                  </a:schemeClr>
                </a:solidFill>
              </a:rPr>
              <a:t>Real writing (not copy/paste or AI-only)</a:t>
            </a:r>
          </a:p>
          <a:p>
            <a:pPr lvl="1"/>
            <a:r>
              <a:rPr lang="en-US" sz="1700" dirty="0">
                <a:solidFill>
                  <a:schemeClr val="tx1">
                    <a:alpha val="80000"/>
                  </a:schemeClr>
                </a:solidFill>
              </a:rPr>
              <a:t>Compliance rigor</a:t>
            </a:r>
          </a:p>
          <a:p>
            <a:pPr lvl="1"/>
            <a:r>
              <a:rPr lang="en-US" sz="1700" dirty="0">
                <a:solidFill>
                  <a:schemeClr val="tx1">
                    <a:alpha val="80000"/>
                  </a:schemeClr>
                </a:solidFill>
              </a:rPr>
              <a:t>A predictable process &amp; proven framework</a:t>
            </a:r>
          </a:p>
          <a:p>
            <a:pPr lvl="1"/>
            <a:r>
              <a:rPr lang="en-US" sz="1700" dirty="0">
                <a:solidFill>
                  <a:schemeClr val="tx1">
                    <a:alpha val="80000"/>
                  </a:schemeClr>
                </a:solidFill>
              </a:rPr>
              <a:t>Our win and down-select rate</a:t>
            </a: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46241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91841E-0622-329D-2948-6D16C11ECAF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1F06963-6374-4B48-844F-071A9BAAAE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9528" y="554152"/>
            <a:ext cx="5742189" cy="5742189"/>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9BC651-79BD-F14C-9281-A27EFC747CE4}"/>
              </a:ext>
            </a:extLst>
          </p:cNvPr>
          <p:cNvSpPr>
            <a:spLocks noGrp="1"/>
          </p:cNvSpPr>
          <p:nvPr>
            <p:ph type="title"/>
          </p:nvPr>
        </p:nvSpPr>
        <p:spPr>
          <a:xfrm>
            <a:off x="1245072" y="1289765"/>
            <a:ext cx="3651101" cy="4270963"/>
          </a:xfrm>
        </p:spPr>
        <p:txBody>
          <a:bodyPr anchor="ctr">
            <a:normAutofit/>
          </a:bodyPr>
          <a:lstStyle/>
          <a:p>
            <a:pPr algn="ctr"/>
            <a:r>
              <a:rPr lang="en-US" sz="5600">
                <a:solidFill>
                  <a:srgbClr val="FFFFFF"/>
                </a:solidFill>
              </a:rPr>
              <a:t>Mindset Shifts, continued</a:t>
            </a:r>
          </a:p>
        </p:txBody>
      </p:sp>
      <p:sp>
        <p:nvSpPr>
          <p:cNvPr id="12"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493" y="374394"/>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2"/>
          </a:solidFill>
          <a:ln w="776" cap="flat">
            <a:noFill/>
            <a:prstDash val="solid"/>
            <a:miter/>
          </a:ln>
        </p:spPr>
        <p:txBody>
          <a:bodyPr rtlCol="0" anchor="ctr"/>
          <a:lstStyle/>
          <a:p>
            <a:endParaRPr lang="en-US"/>
          </a:p>
        </p:txBody>
      </p:sp>
      <p:sp>
        <p:nvSpPr>
          <p:cNvPr id="14"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0109" y="1084507"/>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2"/>
          </a:solidFill>
          <a:ln w="751" cap="flat">
            <a:noFill/>
            <a:prstDash val="solid"/>
            <a:miter/>
          </a:ln>
        </p:spPr>
        <p:txBody>
          <a:bodyPr rtlCol="0" anchor="ctr"/>
          <a:lstStyle/>
          <a:p>
            <a:endParaRPr lang="en-US"/>
          </a:p>
        </p:txBody>
      </p:sp>
      <p:sp>
        <p:nvSpPr>
          <p:cNvPr id="3" name="Content Placeholder 2">
            <a:extLst>
              <a:ext uri="{FF2B5EF4-FFF2-40B4-BE49-F238E27FC236}">
                <a16:creationId xmlns:a16="http://schemas.microsoft.com/office/drawing/2014/main" id="{5B1EE487-1D84-D7D5-70C3-9D16D02DE7C3}"/>
              </a:ext>
            </a:extLst>
          </p:cNvPr>
          <p:cNvSpPr>
            <a:spLocks noGrp="1"/>
          </p:cNvSpPr>
          <p:nvPr>
            <p:ph idx="1"/>
          </p:nvPr>
        </p:nvSpPr>
        <p:spPr>
          <a:xfrm>
            <a:off x="6297233" y="518400"/>
            <a:ext cx="4771607" cy="5837949"/>
          </a:xfrm>
        </p:spPr>
        <p:txBody>
          <a:bodyPr anchor="ctr">
            <a:normAutofit/>
          </a:bodyPr>
          <a:lstStyle/>
          <a:p>
            <a:r>
              <a:rPr lang="en-US" sz="2000" b="1" dirty="0">
                <a:solidFill>
                  <a:schemeClr val="tx1">
                    <a:alpha val="80000"/>
                  </a:schemeClr>
                </a:solidFill>
              </a:rPr>
              <a:t>A higher price creates clarity in the market</a:t>
            </a:r>
          </a:p>
          <a:p>
            <a:pPr lvl="1"/>
            <a:r>
              <a:rPr lang="en-US" sz="2000" dirty="0">
                <a:solidFill>
                  <a:schemeClr val="tx1">
                    <a:alpha val="80000"/>
                  </a:schemeClr>
                </a:solidFill>
              </a:rPr>
              <a:t>Underpricing signals “junior” or “desperate.”</a:t>
            </a:r>
          </a:p>
          <a:p>
            <a:pPr lvl="1"/>
            <a:r>
              <a:rPr lang="en-US" sz="2000" dirty="0">
                <a:solidFill>
                  <a:schemeClr val="tx1">
                    <a:alpha val="80000"/>
                  </a:schemeClr>
                </a:solidFill>
              </a:rPr>
              <a:t>Premium pricing signals “we know what we’re doing.”</a:t>
            </a:r>
          </a:p>
          <a:p>
            <a:r>
              <a:rPr lang="en-US" sz="2000" b="1" dirty="0">
                <a:solidFill>
                  <a:schemeClr val="tx1">
                    <a:alpha val="80000"/>
                  </a:schemeClr>
                </a:solidFill>
              </a:rPr>
              <a:t>Clients don’t buy “hours”, they buy confidence</a:t>
            </a:r>
          </a:p>
          <a:p>
            <a:r>
              <a:rPr lang="en-US" sz="2000" b="1" dirty="0">
                <a:solidFill>
                  <a:schemeClr val="tx1">
                    <a:alpha val="80000"/>
                  </a:schemeClr>
                </a:solidFill>
              </a:rPr>
              <a:t>Treating proposals as revenue assets, not administrative tasks, leads to better outcomes</a:t>
            </a:r>
          </a:p>
        </p:txBody>
      </p:sp>
      <p:sp>
        <p:nvSpPr>
          <p:cNvPr id="16"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36547" y="5751820"/>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2"/>
          </a:solidFill>
          <a:ln w="516" cap="flat">
            <a:noFill/>
            <a:prstDash val="solid"/>
            <a:miter/>
          </a:ln>
        </p:spPr>
        <p:txBody>
          <a:bodyPr rtlCol="0" anchor="ctr"/>
          <a:lstStyle/>
          <a:p>
            <a:endParaRPr lang="en-US"/>
          </a:p>
        </p:txBody>
      </p:sp>
      <p:cxnSp>
        <p:nvCxnSpPr>
          <p:cNvPr id="18" name="Straight Connector 17">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5400000" scaled="0"/>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33241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39B27F-2014-658A-0AAE-D5ED2EA7E51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1A1FA41-E1D1-43CF-8B3B-5E61408908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CC2D84B-6969-4F00-BEBA-81C2EBCD32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5999"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0D282BE-4461-4794-89A5-394723CDF2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1600" y="1371601"/>
            <a:ext cx="3354572" cy="4114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26E9BA-0BF1-ADC1-F7FB-26F22856A236}"/>
              </a:ext>
            </a:extLst>
          </p:cNvPr>
          <p:cNvSpPr>
            <a:spLocks noGrp="1"/>
          </p:cNvSpPr>
          <p:nvPr>
            <p:ph type="title"/>
          </p:nvPr>
        </p:nvSpPr>
        <p:spPr>
          <a:xfrm>
            <a:off x="1798115" y="1808855"/>
            <a:ext cx="2552956" cy="3240290"/>
          </a:xfrm>
        </p:spPr>
        <p:txBody>
          <a:bodyPr>
            <a:normAutofit/>
          </a:bodyPr>
          <a:lstStyle/>
          <a:p>
            <a:pPr algn="ctr"/>
            <a:r>
              <a:rPr lang="en-US" sz="2400">
                <a:solidFill>
                  <a:schemeClr val="tx1">
                    <a:lumMod val="65000"/>
                    <a:lumOff val="35000"/>
                  </a:schemeClr>
                </a:solidFill>
              </a:rPr>
              <a:t>Positioning Statement Default Script</a:t>
            </a:r>
          </a:p>
        </p:txBody>
      </p:sp>
      <p:sp>
        <p:nvSpPr>
          <p:cNvPr id="21" name="Content Placeholder 2">
            <a:extLst>
              <a:ext uri="{FF2B5EF4-FFF2-40B4-BE49-F238E27FC236}">
                <a16:creationId xmlns:a16="http://schemas.microsoft.com/office/drawing/2014/main" id="{97B09728-02C7-8115-E429-D3847C642C80}"/>
              </a:ext>
            </a:extLst>
          </p:cNvPr>
          <p:cNvSpPr>
            <a:spLocks noGrp="1"/>
          </p:cNvSpPr>
          <p:nvPr>
            <p:ph idx="1"/>
          </p:nvPr>
        </p:nvSpPr>
        <p:spPr>
          <a:xfrm>
            <a:off x="6958856" y="871442"/>
            <a:ext cx="4363748" cy="5115116"/>
          </a:xfrm>
        </p:spPr>
        <p:txBody>
          <a:bodyPr anchor="ctr">
            <a:normAutofit/>
          </a:bodyPr>
          <a:lstStyle/>
          <a:p>
            <a:r>
              <a:rPr lang="en-US" sz="2000">
                <a:solidFill>
                  <a:schemeClr val="tx1">
                    <a:lumMod val="65000"/>
                    <a:lumOff val="35000"/>
                  </a:schemeClr>
                </a:solidFill>
              </a:rPr>
              <a:t>We’re not just writing proposals, we’re engineering a win.</a:t>
            </a:r>
          </a:p>
          <a:p>
            <a:r>
              <a:rPr lang="en-US" sz="2000">
                <a:solidFill>
                  <a:schemeClr val="tx1">
                    <a:lumMod val="65000"/>
                    <a:lumOff val="35000"/>
                  </a:schemeClr>
                </a:solidFill>
              </a:rPr>
              <a:t>Our full-service management increases quality, reduces internal stress, and gives leadership confidence that the proposal is compliant, competitive, and compelling.</a:t>
            </a:r>
          </a:p>
          <a:p>
            <a:r>
              <a:rPr lang="en-US" sz="2000">
                <a:solidFill>
                  <a:schemeClr val="tx1">
                    <a:lumMod val="65000"/>
                    <a:lumOff val="35000"/>
                  </a:schemeClr>
                </a:solidFill>
              </a:rPr>
              <a:t>That’s why most clients invest between </a:t>
            </a:r>
            <a:r>
              <a:rPr lang="en-US" sz="2000" b="1">
                <a:solidFill>
                  <a:schemeClr val="tx1">
                    <a:lumMod val="65000"/>
                    <a:lumOff val="35000"/>
                  </a:schemeClr>
                </a:solidFill>
              </a:rPr>
              <a:t>$32K and $52K</a:t>
            </a:r>
            <a:r>
              <a:rPr lang="en-US" sz="2000">
                <a:solidFill>
                  <a:schemeClr val="tx1">
                    <a:lumMod val="65000"/>
                    <a:lumOff val="35000"/>
                  </a:schemeClr>
                </a:solidFill>
              </a:rPr>
              <a:t> for a full-service response.</a:t>
            </a:r>
          </a:p>
          <a:p>
            <a:pPr marL="0" indent="0">
              <a:buNone/>
            </a:pPr>
            <a:endParaRPr lang="en-US" sz="2000">
              <a:solidFill>
                <a:schemeClr val="tx1">
                  <a:lumMod val="65000"/>
                  <a:lumOff val="35000"/>
                </a:schemeClr>
              </a:solidFill>
            </a:endParaRPr>
          </a:p>
        </p:txBody>
      </p:sp>
    </p:spTree>
    <p:extLst>
      <p:ext uri="{BB962C8B-B14F-4D97-AF65-F5344CB8AC3E}">
        <p14:creationId xmlns:p14="http://schemas.microsoft.com/office/powerpoint/2010/main" val="1325319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251DCA9-5263-0C43-39DC-6375E35B2CD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1A1FA41-E1D1-43CF-8B3B-5E61408908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CC2D84B-6969-4F00-BEBA-81C2EBCD32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95999" cy="6858000"/>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0D282BE-4461-4794-89A5-394723CDF2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371600" y="1371601"/>
            <a:ext cx="3354572" cy="411479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FC5275E-6126-4E5E-CE57-F1008C674261}"/>
              </a:ext>
            </a:extLst>
          </p:cNvPr>
          <p:cNvSpPr>
            <a:spLocks noGrp="1"/>
          </p:cNvSpPr>
          <p:nvPr>
            <p:ph type="title"/>
          </p:nvPr>
        </p:nvSpPr>
        <p:spPr>
          <a:xfrm>
            <a:off x="1798115" y="1808855"/>
            <a:ext cx="2552956" cy="3240290"/>
          </a:xfrm>
        </p:spPr>
        <p:txBody>
          <a:bodyPr>
            <a:normAutofit/>
          </a:bodyPr>
          <a:lstStyle/>
          <a:p>
            <a:pPr algn="ctr"/>
            <a:r>
              <a:rPr lang="en-US" sz="2400">
                <a:solidFill>
                  <a:schemeClr val="tx1">
                    <a:lumMod val="65000"/>
                    <a:lumOff val="35000"/>
                  </a:schemeClr>
                </a:solidFill>
              </a:rPr>
              <a:t>Context Anchoring</a:t>
            </a:r>
          </a:p>
        </p:txBody>
      </p:sp>
      <p:sp>
        <p:nvSpPr>
          <p:cNvPr id="3" name="Content Placeholder 2">
            <a:extLst>
              <a:ext uri="{FF2B5EF4-FFF2-40B4-BE49-F238E27FC236}">
                <a16:creationId xmlns:a16="http://schemas.microsoft.com/office/drawing/2014/main" id="{1B039447-C444-2BCD-3027-88EF90130F8D}"/>
              </a:ext>
            </a:extLst>
          </p:cNvPr>
          <p:cNvSpPr>
            <a:spLocks noGrp="1"/>
          </p:cNvSpPr>
          <p:nvPr>
            <p:ph idx="1"/>
          </p:nvPr>
        </p:nvSpPr>
        <p:spPr>
          <a:xfrm>
            <a:off x="6958856" y="871442"/>
            <a:ext cx="4363748" cy="5115116"/>
          </a:xfrm>
        </p:spPr>
        <p:txBody>
          <a:bodyPr anchor="ctr">
            <a:normAutofit/>
          </a:bodyPr>
          <a:lstStyle/>
          <a:p>
            <a:pPr marL="0" indent="0">
              <a:buNone/>
            </a:pPr>
            <a:r>
              <a:rPr lang="en-US" sz="1400" b="1" dirty="0">
                <a:solidFill>
                  <a:schemeClr val="tx1">
                    <a:lumMod val="65000"/>
                    <a:lumOff val="35000"/>
                  </a:schemeClr>
                </a:solidFill>
              </a:rPr>
              <a:t>Before giving the price, always anchor:</a:t>
            </a:r>
          </a:p>
          <a:p>
            <a:r>
              <a:rPr lang="en-US" sz="1400" b="1" dirty="0">
                <a:solidFill>
                  <a:schemeClr val="tx1">
                    <a:lumMod val="65000"/>
                    <a:lumOff val="35000"/>
                  </a:schemeClr>
                </a:solidFill>
              </a:rPr>
              <a:t>Opportunity Value: </a:t>
            </a:r>
            <a:r>
              <a:rPr lang="en-US" sz="1400" dirty="0">
                <a:solidFill>
                  <a:schemeClr val="tx1">
                    <a:lumMod val="65000"/>
                    <a:lumOff val="35000"/>
                  </a:schemeClr>
                </a:solidFill>
              </a:rPr>
              <a:t>This is a $250K to $2M opportunity with a multi-year tail.</a:t>
            </a:r>
          </a:p>
          <a:p>
            <a:r>
              <a:rPr lang="en-US" sz="1400" b="1" dirty="0">
                <a:solidFill>
                  <a:schemeClr val="tx1">
                    <a:lumMod val="65000"/>
                    <a:lumOff val="35000"/>
                  </a:schemeClr>
                </a:solidFill>
              </a:rPr>
              <a:t>Risks of doing it wrong: </a:t>
            </a:r>
            <a:r>
              <a:rPr lang="en-US" sz="1400" dirty="0">
                <a:solidFill>
                  <a:schemeClr val="tx1">
                    <a:lumMod val="65000"/>
                    <a:lumOff val="35000"/>
                  </a:schemeClr>
                </a:solidFill>
              </a:rPr>
              <a:t>Missing one compliance point or one strategic differentiator can be a disqualifier.</a:t>
            </a:r>
          </a:p>
          <a:p>
            <a:r>
              <a:rPr lang="en-US" sz="1400" b="1" dirty="0">
                <a:solidFill>
                  <a:schemeClr val="tx1">
                    <a:lumMod val="65000"/>
                    <a:lumOff val="35000"/>
                  </a:schemeClr>
                </a:solidFill>
              </a:rPr>
              <a:t>Our credentials:</a:t>
            </a:r>
            <a:endParaRPr lang="en-US" sz="1400" dirty="0">
              <a:solidFill>
                <a:schemeClr val="tx1">
                  <a:lumMod val="65000"/>
                  <a:lumOff val="35000"/>
                </a:schemeClr>
              </a:solidFill>
            </a:endParaRPr>
          </a:p>
          <a:p>
            <a:pPr lvl="1"/>
            <a:r>
              <a:rPr lang="en-US" sz="1400" dirty="0">
                <a:solidFill>
                  <a:schemeClr val="tx1">
                    <a:lumMod val="65000"/>
                    <a:lumOff val="35000"/>
                  </a:schemeClr>
                </a:solidFill>
              </a:rPr>
              <a:t>76% to 78% win rate</a:t>
            </a:r>
          </a:p>
          <a:p>
            <a:pPr lvl="1"/>
            <a:r>
              <a:rPr lang="en-US" sz="1400" dirty="0">
                <a:solidFill>
                  <a:schemeClr val="tx1">
                    <a:lumMod val="65000"/>
                    <a:lumOff val="35000"/>
                  </a:schemeClr>
                </a:solidFill>
              </a:rPr>
              <a:t>92% </a:t>
            </a:r>
            <a:r>
              <a:rPr lang="en-US" sz="1400" dirty="0" err="1">
                <a:solidFill>
                  <a:schemeClr val="tx1">
                    <a:lumMod val="65000"/>
                    <a:lumOff val="35000"/>
                  </a:schemeClr>
                </a:solidFill>
              </a:rPr>
              <a:t>downselect</a:t>
            </a:r>
            <a:r>
              <a:rPr lang="en-US" sz="1400" dirty="0">
                <a:solidFill>
                  <a:schemeClr val="tx1">
                    <a:lumMod val="65000"/>
                    <a:lumOff val="35000"/>
                  </a:schemeClr>
                </a:solidFill>
              </a:rPr>
              <a:t> rate</a:t>
            </a:r>
          </a:p>
          <a:p>
            <a:pPr lvl="1"/>
            <a:r>
              <a:rPr lang="en-US" sz="1400" dirty="0">
                <a:solidFill>
                  <a:schemeClr val="tx1">
                    <a:lumMod val="65000"/>
                    <a:lumOff val="35000"/>
                  </a:schemeClr>
                </a:solidFill>
              </a:rPr>
              <a:t>$500M in client wins</a:t>
            </a:r>
          </a:p>
          <a:p>
            <a:pPr lvl="1"/>
            <a:r>
              <a:rPr lang="en-US" sz="1400" dirty="0">
                <a:solidFill>
                  <a:schemeClr val="tx1">
                    <a:lumMod val="65000"/>
                    <a:lumOff val="35000"/>
                  </a:schemeClr>
                </a:solidFill>
              </a:rPr>
              <a:t>4x4 framework</a:t>
            </a:r>
          </a:p>
          <a:p>
            <a:pPr lvl="1"/>
            <a:r>
              <a:rPr lang="en-US" sz="1400" dirty="0">
                <a:solidFill>
                  <a:schemeClr val="tx1">
                    <a:lumMod val="65000"/>
                    <a:lumOff val="35000"/>
                  </a:schemeClr>
                </a:solidFill>
              </a:rPr>
              <a:t>Full team that would cost you upwards of $400k annually</a:t>
            </a:r>
          </a:p>
          <a:p>
            <a:r>
              <a:rPr lang="en-US" sz="1400" b="1" dirty="0">
                <a:solidFill>
                  <a:schemeClr val="tx1">
                    <a:lumMod val="65000"/>
                    <a:lumOff val="35000"/>
                  </a:schemeClr>
                </a:solidFill>
              </a:rPr>
              <a:t>Other firms’ pricing: </a:t>
            </a:r>
            <a:r>
              <a:rPr lang="en-US" sz="1400" dirty="0">
                <a:solidFill>
                  <a:schemeClr val="tx1">
                    <a:lumMod val="65000"/>
                    <a:lumOff val="35000"/>
                  </a:schemeClr>
                </a:solidFill>
              </a:rPr>
              <a:t>Most high-end consultancies charge $35K–$55K for the same scope.</a:t>
            </a:r>
          </a:p>
          <a:p>
            <a:r>
              <a:rPr lang="en-US" sz="1400" dirty="0">
                <a:solidFill>
                  <a:schemeClr val="tx1">
                    <a:lumMod val="65000"/>
                    <a:lumOff val="35000"/>
                  </a:schemeClr>
                </a:solidFill>
              </a:rPr>
              <a:t>THEN give our price: For this one, the investment is </a:t>
            </a:r>
            <a:r>
              <a:rPr lang="en-US" sz="1400" b="1" dirty="0">
                <a:solidFill>
                  <a:schemeClr val="tx1">
                    <a:lumMod val="65000"/>
                    <a:lumOff val="35000"/>
                  </a:schemeClr>
                </a:solidFill>
              </a:rPr>
              <a:t>$</a:t>
            </a:r>
            <a:r>
              <a:rPr lang="en-US" sz="1400" b="1" dirty="0" err="1">
                <a:solidFill>
                  <a:schemeClr val="tx1">
                    <a:lumMod val="65000"/>
                    <a:lumOff val="35000"/>
                  </a:schemeClr>
                </a:solidFill>
              </a:rPr>
              <a:t>xya</a:t>
            </a:r>
            <a:r>
              <a:rPr lang="en-US" sz="1400" dirty="0">
                <a:solidFill>
                  <a:schemeClr val="tx1">
                    <a:lumMod val="65000"/>
                    <a:lumOff val="35000"/>
                  </a:schemeClr>
                </a:solidFill>
              </a:rPr>
              <a:t>.</a:t>
            </a:r>
          </a:p>
          <a:p>
            <a:r>
              <a:rPr lang="en-US" sz="1400" dirty="0">
                <a:solidFill>
                  <a:schemeClr val="tx1">
                    <a:lumMod val="65000"/>
                    <a:lumOff val="35000"/>
                  </a:schemeClr>
                </a:solidFill>
              </a:rPr>
              <a:t>When prospects hear the price after </a:t>
            </a:r>
            <a:r>
              <a:rPr lang="en-US" sz="1400" i="1" dirty="0">
                <a:solidFill>
                  <a:schemeClr val="tx1">
                    <a:lumMod val="65000"/>
                    <a:lumOff val="35000"/>
                  </a:schemeClr>
                </a:solidFill>
              </a:rPr>
              <a:t>context</a:t>
            </a:r>
            <a:r>
              <a:rPr lang="en-US" sz="1400" dirty="0">
                <a:solidFill>
                  <a:schemeClr val="tx1">
                    <a:lumMod val="65000"/>
                    <a:lumOff val="35000"/>
                  </a:schemeClr>
                </a:solidFill>
              </a:rPr>
              <a:t>, they say: “Oh… okay, yeah, that makes sense.”</a:t>
            </a:r>
          </a:p>
          <a:p>
            <a:endParaRPr lang="en-US" sz="1400" dirty="0">
              <a:solidFill>
                <a:schemeClr val="tx1">
                  <a:lumMod val="65000"/>
                  <a:lumOff val="35000"/>
                </a:schemeClr>
              </a:solidFill>
            </a:endParaRPr>
          </a:p>
        </p:txBody>
      </p:sp>
    </p:spTree>
    <p:extLst>
      <p:ext uri="{BB962C8B-B14F-4D97-AF65-F5344CB8AC3E}">
        <p14:creationId xmlns:p14="http://schemas.microsoft.com/office/powerpoint/2010/main" val="30931893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2659FDB4-FCBE-4A89-B46D-43D4FA5446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313"/>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81F0E7E1-11F4-4DB5-3FFB-F04ECBC8CE74}"/>
              </a:ext>
            </a:extLst>
          </p:cNvPr>
          <p:cNvSpPr>
            <a:spLocks noGrp="1"/>
          </p:cNvSpPr>
          <p:nvPr>
            <p:ph type="title"/>
          </p:nvPr>
        </p:nvSpPr>
        <p:spPr>
          <a:xfrm>
            <a:off x="479394" y="1070800"/>
            <a:ext cx="3939688" cy="5583126"/>
          </a:xfrm>
        </p:spPr>
        <p:txBody>
          <a:bodyPr>
            <a:normAutofit/>
          </a:bodyPr>
          <a:lstStyle/>
          <a:p>
            <a:pPr algn="r"/>
            <a:r>
              <a:rPr lang="en-US" sz="5400" dirty="0"/>
              <a:t>Objection 1: Price is higher than we expected</a:t>
            </a:r>
          </a:p>
        </p:txBody>
      </p:sp>
      <p:cxnSp>
        <p:nvCxnSpPr>
          <p:cNvPr id="29" name="Straight Connector 28">
            <a:extLst>
              <a:ext uri="{FF2B5EF4-FFF2-40B4-BE49-F238E27FC236}">
                <a16:creationId xmlns:a16="http://schemas.microsoft.com/office/drawing/2014/main" id="{C8F51B3F-8331-4E4A-AE96-D47B1006EE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728053" y="1132114"/>
            <a:ext cx="0" cy="5717573"/>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graphicFrame>
        <p:nvGraphicFramePr>
          <p:cNvPr id="12" name="Content Placeholder 2">
            <a:extLst>
              <a:ext uri="{FF2B5EF4-FFF2-40B4-BE49-F238E27FC236}">
                <a16:creationId xmlns:a16="http://schemas.microsoft.com/office/drawing/2014/main" id="{02EEE824-5BB8-E21A-3646-42D091809808}"/>
              </a:ext>
            </a:extLst>
          </p:cNvPr>
          <p:cNvGraphicFramePr>
            <a:graphicFrameLocks noGrp="1"/>
          </p:cNvGraphicFramePr>
          <p:nvPr>
            <p:ph idx="1"/>
            <p:extLst>
              <p:ext uri="{D42A27DB-BD31-4B8C-83A1-F6EECF244321}">
                <p14:modId xmlns:p14="http://schemas.microsoft.com/office/powerpoint/2010/main" val="2862481109"/>
              </p:ext>
            </p:extLst>
          </p:nvPr>
        </p:nvGraphicFramePr>
        <p:xfrm>
          <a:off x="5108535" y="1070800"/>
          <a:ext cx="6245265" cy="5589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834018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CEFAA-EE59-8DD2-9D90-74649DA700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C85B1A-CD25-488F-931C-5CAE90E15926}"/>
              </a:ext>
            </a:extLst>
          </p:cNvPr>
          <p:cNvSpPr>
            <a:spLocks noGrp="1"/>
          </p:cNvSpPr>
          <p:nvPr>
            <p:ph type="title"/>
          </p:nvPr>
        </p:nvSpPr>
        <p:spPr>
          <a:xfrm>
            <a:off x="479394" y="1070800"/>
            <a:ext cx="3939688" cy="5583126"/>
          </a:xfrm>
        </p:spPr>
        <p:txBody>
          <a:bodyPr>
            <a:normAutofit/>
          </a:bodyPr>
          <a:lstStyle/>
          <a:p>
            <a:pPr algn="r"/>
            <a:r>
              <a:rPr lang="en-US" sz="5400" dirty="0"/>
              <a:t>Objection 2: Can you give a discount? </a:t>
            </a:r>
          </a:p>
        </p:txBody>
      </p:sp>
      <p:graphicFrame>
        <p:nvGraphicFramePr>
          <p:cNvPr id="14" name="Content Placeholder 2">
            <a:extLst>
              <a:ext uri="{FF2B5EF4-FFF2-40B4-BE49-F238E27FC236}">
                <a16:creationId xmlns:a16="http://schemas.microsoft.com/office/drawing/2014/main" id="{9694D572-C705-296F-B192-CB0169A2DE54}"/>
              </a:ext>
            </a:extLst>
          </p:cNvPr>
          <p:cNvGraphicFramePr>
            <a:graphicFrameLocks/>
          </p:cNvGraphicFramePr>
          <p:nvPr>
            <p:extLst>
              <p:ext uri="{D42A27DB-BD31-4B8C-83A1-F6EECF244321}">
                <p14:modId xmlns:p14="http://schemas.microsoft.com/office/powerpoint/2010/main" val="2454049322"/>
              </p:ext>
            </p:extLst>
          </p:nvPr>
        </p:nvGraphicFramePr>
        <p:xfrm>
          <a:off x="5093208" y="620392"/>
          <a:ext cx="6263640" cy="550468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6" name="Straight Connector 5">
            <a:extLst>
              <a:ext uri="{FF2B5EF4-FFF2-40B4-BE49-F238E27FC236}">
                <a16:creationId xmlns:a16="http://schemas.microsoft.com/office/drawing/2014/main" id="{951A56C3-9B70-AE94-B4BE-EAA5EBE6E317}"/>
              </a:ext>
            </a:extLst>
          </p:cNvPr>
          <p:cNvCxnSpPr/>
          <p:nvPr/>
        </p:nvCxnSpPr>
        <p:spPr>
          <a:xfrm>
            <a:off x="4839752" y="1535788"/>
            <a:ext cx="0" cy="5360102"/>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931889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C193F-90C3-6621-54D6-5B61261660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453D24-0491-F0C2-A477-E14DA47F7F69}"/>
              </a:ext>
            </a:extLst>
          </p:cNvPr>
          <p:cNvSpPr>
            <a:spLocks noGrp="1"/>
          </p:cNvSpPr>
          <p:nvPr>
            <p:ph type="title"/>
          </p:nvPr>
        </p:nvSpPr>
        <p:spPr>
          <a:xfrm>
            <a:off x="479394" y="1070800"/>
            <a:ext cx="3939688" cy="5583126"/>
          </a:xfrm>
        </p:spPr>
        <p:txBody>
          <a:bodyPr>
            <a:normAutofit/>
          </a:bodyPr>
          <a:lstStyle/>
          <a:p>
            <a:pPr algn="r"/>
            <a:r>
              <a:rPr lang="en-US" sz="5400" dirty="0"/>
              <a:t>Objection 3: We have internal people who can do most of it</a:t>
            </a:r>
          </a:p>
        </p:txBody>
      </p:sp>
      <p:grpSp>
        <p:nvGrpSpPr>
          <p:cNvPr id="3" name="Group 2">
            <a:extLst>
              <a:ext uri="{FF2B5EF4-FFF2-40B4-BE49-F238E27FC236}">
                <a16:creationId xmlns:a16="http://schemas.microsoft.com/office/drawing/2014/main" id="{9564CC71-0A00-BA0A-D807-B8ACB2E1FA35}"/>
              </a:ext>
            </a:extLst>
          </p:cNvPr>
          <p:cNvGrpSpPr/>
          <p:nvPr/>
        </p:nvGrpSpPr>
        <p:grpSpPr>
          <a:xfrm>
            <a:off x="5108535" y="1166997"/>
            <a:ext cx="6245265" cy="5492467"/>
            <a:chOff x="5108535" y="3067190"/>
            <a:chExt cx="6245265" cy="3592274"/>
          </a:xfrm>
        </p:grpSpPr>
        <p:sp>
          <p:nvSpPr>
            <p:cNvPr id="7" name="Rectangle: Rounded Corners 6">
              <a:extLst>
                <a:ext uri="{FF2B5EF4-FFF2-40B4-BE49-F238E27FC236}">
                  <a16:creationId xmlns:a16="http://schemas.microsoft.com/office/drawing/2014/main" id="{CA4B993F-DF64-D554-C261-C0BB5D2D6E65}"/>
                </a:ext>
              </a:extLst>
            </p:cNvPr>
            <p:cNvSpPr/>
            <p:nvPr/>
          </p:nvSpPr>
          <p:spPr>
            <a:xfrm>
              <a:off x="5108535" y="3067190"/>
              <a:ext cx="6245265" cy="1876755"/>
            </a:xfrm>
            <a:prstGeom prst="roundRect">
              <a:avLst>
                <a:gd name="adj" fmla="val 10000"/>
              </a:avLst>
            </a:prstGeom>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8" name="Rectangle 7" descr="Hierarchy">
              <a:extLst>
                <a:ext uri="{FF2B5EF4-FFF2-40B4-BE49-F238E27FC236}">
                  <a16:creationId xmlns:a16="http://schemas.microsoft.com/office/drawing/2014/main" id="{7B08444B-E06F-4FF4-3C84-1FFAD02060FD}"/>
                </a:ext>
              </a:extLst>
            </p:cNvPr>
            <p:cNvSpPr/>
            <p:nvPr/>
          </p:nvSpPr>
          <p:spPr>
            <a:xfrm>
              <a:off x="5591496" y="3426417"/>
              <a:ext cx="878111" cy="655146"/>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9" name="Freeform: Shape 8">
              <a:extLst>
                <a:ext uri="{FF2B5EF4-FFF2-40B4-BE49-F238E27FC236}">
                  <a16:creationId xmlns:a16="http://schemas.microsoft.com/office/drawing/2014/main" id="{6F10E283-7BD9-5BF6-7C07-E117D1673C1F}"/>
                </a:ext>
              </a:extLst>
            </p:cNvPr>
            <p:cNvSpPr/>
            <p:nvPr/>
          </p:nvSpPr>
          <p:spPr>
            <a:xfrm>
              <a:off x="6952569" y="3067190"/>
              <a:ext cx="4401230" cy="1876756"/>
            </a:xfrm>
            <a:custGeom>
              <a:avLst/>
              <a:gdLst>
                <a:gd name="csX0" fmla="*/ 0 w 4401230"/>
                <a:gd name="csY0" fmla="*/ 0 h 1596566"/>
                <a:gd name="csX1" fmla="*/ 4401230 w 4401230"/>
                <a:gd name="csY1" fmla="*/ 0 h 1596566"/>
                <a:gd name="csX2" fmla="*/ 4401230 w 4401230"/>
                <a:gd name="csY2" fmla="*/ 1596566 h 1596566"/>
                <a:gd name="csX3" fmla="*/ 0 w 4401230"/>
                <a:gd name="csY3" fmla="*/ 1596566 h 1596566"/>
                <a:gd name="csX4" fmla="*/ 0 w 4401230"/>
                <a:gd name="csY4" fmla="*/ 0 h 1596566"/>
              </a:gdLst>
              <a:ahLst/>
              <a:cxnLst>
                <a:cxn ang="0">
                  <a:pos x="csX0" y="csY0"/>
                </a:cxn>
                <a:cxn ang="0">
                  <a:pos x="csX1" y="csY1"/>
                </a:cxn>
                <a:cxn ang="0">
                  <a:pos x="csX2" y="csY2"/>
                </a:cxn>
                <a:cxn ang="0">
                  <a:pos x="csX3" y="csY3"/>
                </a:cxn>
                <a:cxn ang="0">
                  <a:pos x="csX4" y="csY4"/>
                </a:cxn>
              </a:cxnLst>
              <a:rect l="l" t="t" r="r" b="b"/>
              <a:pathLst>
                <a:path w="4401230" h="1596566">
                  <a:moveTo>
                    <a:pt x="0" y="0"/>
                  </a:moveTo>
                  <a:lnTo>
                    <a:pt x="4401230" y="0"/>
                  </a:lnTo>
                  <a:lnTo>
                    <a:pt x="4401230" y="1596566"/>
                  </a:lnTo>
                  <a:lnTo>
                    <a:pt x="0" y="159656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68970" tIns="168970" rIns="168970" bIns="168970" numCol="1" spcCol="1270" anchor="ctr" anchorCtr="0">
              <a:noAutofit/>
            </a:bodyPr>
            <a:lstStyle/>
            <a:p>
              <a:pPr lvl="0">
                <a:lnSpc>
                  <a:spcPct val="100000"/>
                </a:lnSpc>
              </a:pPr>
              <a:r>
                <a:rPr lang="en-US" sz="1600" dirty="0"/>
                <a:t>Excellent, when we take ownership of the response, we still partner closely with them. But most internal teams struggle not because they can’t write, but because they’re already overloaded and don’t have the bandwidth or the RFP-specific discipline. Our job is to create structure, manage timelines, gather information, ensure compliance, and produce a proposal that rises above your competitors. Internal + us is actually the best combination for success</a:t>
              </a:r>
            </a:p>
          </p:txBody>
        </p:sp>
        <p:sp>
          <p:nvSpPr>
            <p:cNvPr id="10" name="Rectangle: Rounded Corners 9">
              <a:extLst>
                <a:ext uri="{FF2B5EF4-FFF2-40B4-BE49-F238E27FC236}">
                  <a16:creationId xmlns:a16="http://schemas.microsoft.com/office/drawing/2014/main" id="{92CBD992-1956-B91B-90CC-4C88738D2C26}"/>
                </a:ext>
              </a:extLst>
            </p:cNvPr>
            <p:cNvSpPr/>
            <p:nvPr/>
          </p:nvSpPr>
          <p:spPr>
            <a:xfrm>
              <a:off x="5108535" y="5062898"/>
              <a:ext cx="6245265" cy="1596566"/>
            </a:xfrm>
            <a:prstGeom prst="roundRect">
              <a:avLst>
                <a:gd name="adj" fmla="val 10000"/>
              </a:avLst>
            </a:prstGeom>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3" name="Freeform: Shape 12">
              <a:extLst>
                <a:ext uri="{FF2B5EF4-FFF2-40B4-BE49-F238E27FC236}">
                  <a16:creationId xmlns:a16="http://schemas.microsoft.com/office/drawing/2014/main" id="{EA51E162-0959-B8FD-5A3C-4FC601D4218A}"/>
                </a:ext>
              </a:extLst>
            </p:cNvPr>
            <p:cNvSpPr/>
            <p:nvPr/>
          </p:nvSpPr>
          <p:spPr>
            <a:xfrm>
              <a:off x="6952569" y="5062898"/>
              <a:ext cx="4401230" cy="1596566"/>
            </a:xfrm>
            <a:custGeom>
              <a:avLst/>
              <a:gdLst>
                <a:gd name="csX0" fmla="*/ 0 w 4401230"/>
                <a:gd name="csY0" fmla="*/ 0 h 1596566"/>
                <a:gd name="csX1" fmla="*/ 4401230 w 4401230"/>
                <a:gd name="csY1" fmla="*/ 0 h 1596566"/>
                <a:gd name="csX2" fmla="*/ 4401230 w 4401230"/>
                <a:gd name="csY2" fmla="*/ 1596566 h 1596566"/>
                <a:gd name="csX3" fmla="*/ 0 w 4401230"/>
                <a:gd name="csY3" fmla="*/ 1596566 h 1596566"/>
                <a:gd name="csX4" fmla="*/ 0 w 4401230"/>
                <a:gd name="csY4" fmla="*/ 0 h 1596566"/>
              </a:gdLst>
              <a:ahLst/>
              <a:cxnLst>
                <a:cxn ang="0">
                  <a:pos x="csX0" y="csY0"/>
                </a:cxn>
                <a:cxn ang="0">
                  <a:pos x="csX1" y="csY1"/>
                </a:cxn>
                <a:cxn ang="0">
                  <a:pos x="csX2" y="csY2"/>
                </a:cxn>
                <a:cxn ang="0">
                  <a:pos x="csX3" y="csY3"/>
                </a:cxn>
                <a:cxn ang="0">
                  <a:pos x="csX4" y="csY4"/>
                </a:cxn>
              </a:cxnLst>
              <a:rect l="l" t="t" r="r" b="b"/>
              <a:pathLst>
                <a:path w="4401230" h="1596566">
                  <a:moveTo>
                    <a:pt x="0" y="0"/>
                  </a:moveTo>
                  <a:lnTo>
                    <a:pt x="4401230" y="0"/>
                  </a:lnTo>
                  <a:lnTo>
                    <a:pt x="4401230" y="1596566"/>
                  </a:lnTo>
                  <a:lnTo>
                    <a:pt x="0" y="159656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68970" tIns="168970" rIns="168970" bIns="168970" numCol="1" spcCol="1270" anchor="ctr" anchorCtr="0">
              <a:noAutofit/>
            </a:bodyPr>
            <a:lstStyle/>
            <a:p>
              <a:pPr lvl="0"/>
              <a:r>
                <a:rPr lang="en-US" sz="1600" dirty="0"/>
                <a:t>Great, that means your team then owns the response, and we can provide some support to them: Content Refinement or Strategic Review instead</a:t>
              </a:r>
            </a:p>
          </p:txBody>
        </p:sp>
      </p:grpSp>
      <p:sp>
        <p:nvSpPr>
          <p:cNvPr id="14" name="Rectangle 13" descr="Light Bulb and Gear">
            <a:extLst>
              <a:ext uri="{FF2B5EF4-FFF2-40B4-BE49-F238E27FC236}">
                <a16:creationId xmlns:a16="http://schemas.microsoft.com/office/drawing/2014/main" id="{A811C1A7-0BF1-2D5E-EDA6-9E3A2B639343}"/>
              </a:ext>
            </a:extLst>
          </p:cNvPr>
          <p:cNvSpPr/>
          <p:nvPr/>
        </p:nvSpPr>
        <p:spPr>
          <a:xfrm>
            <a:off x="5460656" y="4728547"/>
            <a:ext cx="1270687" cy="1270687"/>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p:spPr>
        <p:style>
          <a:lnRef idx="2">
            <a:schemeClr val="lt1">
              <a:alpha val="0"/>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12821939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77AA4-E6F9-50ED-704E-C3AA7A307B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A73150-2FF1-6BD4-94E1-2BC18BF8DCF2}"/>
              </a:ext>
            </a:extLst>
          </p:cNvPr>
          <p:cNvSpPr>
            <a:spLocks noGrp="1"/>
          </p:cNvSpPr>
          <p:nvPr>
            <p:ph type="title"/>
          </p:nvPr>
        </p:nvSpPr>
        <p:spPr>
          <a:xfrm>
            <a:off x="479394" y="1070800"/>
            <a:ext cx="3939688" cy="5583126"/>
          </a:xfrm>
        </p:spPr>
        <p:txBody>
          <a:bodyPr>
            <a:normAutofit/>
          </a:bodyPr>
          <a:lstStyle/>
          <a:p>
            <a:pPr algn="r"/>
            <a:r>
              <a:rPr lang="en-US" sz="5400" dirty="0"/>
              <a:t>Objection 4: We got a lower quote from another firm</a:t>
            </a:r>
          </a:p>
        </p:txBody>
      </p:sp>
      <p:grpSp>
        <p:nvGrpSpPr>
          <p:cNvPr id="3" name="Group 2">
            <a:extLst>
              <a:ext uri="{FF2B5EF4-FFF2-40B4-BE49-F238E27FC236}">
                <a16:creationId xmlns:a16="http://schemas.microsoft.com/office/drawing/2014/main" id="{D41D0ECE-026E-5BAF-F36D-D9A8305824DD}"/>
              </a:ext>
            </a:extLst>
          </p:cNvPr>
          <p:cNvGrpSpPr/>
          <p:nvPr/>
        </p:nvGrpSpPr>
        <p:grpSpPr>
          <a:xfrm>
            <a:off x="5174209" y="1142208"/>
            <a:ext cx="6245266" cy="5148927"/>
            <a:chOff x="5108534" y="1071481"/>
            <a:chExt cx="6245266" cy="5148927"/>
          </a:xfrm>
        </p:grpSpPr>
        <p:sp>
          <p:nvSpPr>
            <p:cNvPr id="4" name="Rectangle: Rounded Corners 3">
              <a:extLst>
                <a:ext uri="{FF2B5EF4-FFF2-40B4-BE49-F238E27FC236}">
                  <a16:creationId xmlns:a16="http://schemas.microsoft.com/office/drawing/2014/main" id="{024962A7-9C6A-F583-DE04-E1F70D4EEFAC}"/>
                </a:ext>
              </a:extLst>
            </p:cNvPr>
            <p:cNvSpPr/>
            <p:nvPr/>
          </p:nvSpPr>
          <p:spPr>
            <a:xfrm>
              <a:off x="5108535" y="1071482"/>
              <a:ext cx="6245265" cy="3217610"/>
            </a:xfrm>
            <a:prstGeom prst="roundRect">
              <a:avLst>
                <a:gd name="adj" fmla="val 10000"/>
              </a:avLst>
            </a:prstGeom>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6" name="Freeform: Shape 5">
              <a:extLst>
                <a:ext uri="{FF2B5EF4-FFF2-40B4-BE49-F238E27FC236}">
                  <a16:creationId xmlns:a16="http://schemas.microsoft.com/office/drawing/2014/main" id="{F5DB4B41-DACE-8C54-0AA2-9EBD59F54BE7}"/>
                </a:ext>
              </a:extLst>
            </p:cNvPr>
            <p:cNvSpPr/>
            <p:nvPr/>
          </p:nvSpPr>
          <p:spPr>
            <a:xfrm>
              <a:off x="6952569" y="1071481"/>
              <a:ext cx="4401230" cy="2954909"/>
            </a:xfrm>
            <a:custGeom>
              <a:avLst/>
              <a:gdLst>
                <a:gd name="csX0" fmla="*/ 0 w 4401230"/>
                <a:gd name="csY0" fmla="*/ 0 h 1596566"/>
                <a:gd name="csX1" fmla="*/ 4401230 w 4401230"/>
                <a:gd name="csY1" fmla="*/ 0 h 1596566"/>
                <a:gd name="csX2" fmla="*/ 4401230 w 4401230"/>
                <a:gd name="csY2" fmla="*/ 1596566 h 1596566"/>
                <a:gd name="csX3" fmla="*/ 0 w 4401230"/>
                <a:gd name="csY3" fmla="*/ 1596566 h 1596566"/>
                <a:gd name="csX4" fmla="*/ 0 w 4401230"/>
                <a:gd name="csY4" fmla="*/ 0 h 1596566"/>
              </a:gdLst>
              <a:ahLst/>
              <a:cxnLst>
                <a:cxn ang="0">
                  <a:pos x="csX0" y="csY0"/>
                </a:cxn>
                <a:cxn ang="0">
                  <a:pos x="csX1" y="csY1"/>
                </a:cxn>
                <a:cxn ang="0">
                  <a:pos x="csX2" y="csY2"/>
                </a:cxn>
                <a:cxn ang="0">
                  <a:pos x="csX3" y="csY3"/>
                </a:cxn>
                <a:cxn ang="0">
                  <a:pos x="csX4" y="csY4"/>
                </a:cxn>
              </a:cxnLst>
              <a:rect l="l" t="t" r="r" b="b"/>
              <a:pathLst>
                <a:path w="4401230" h="1596566">
                  <a:moveTo>
                    <a:pt x="0" y="0"/>
                  </a:moveTo>
                  <a:lnTo>
                    <a:pt x="4401230" y="0"/>
                  </a:lnTo>
                  <a:lnTo>
                    <a:pt x="4401230" y="1596566"/>
                  </a:lnTo>
                  <a:lnTo>
                    <a:pt x="0" y="159656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68970" tIns="168970" rIns="168970" bIns="168970" numCol="1" spcCol="1270" anchor="ctr" anchorCtr="0">
              <a:noAutofit/>
            </a:bodyPr>
            <a:lstStyle/>
            <a:p>
              <a:pPr marL="0" lvl="0" indent="0" algn="l" defTabSz="755650">
                <a:lnSpc>
                  <a:spcPct val="100000"/>
                </a:lnSpc>
                <a:spcBef>
                  <a:spcPct val="0"/>
                </a:spcBef>
                <a:spcAft>
                  <a:spcPct val="35000"/>
                </a:spcAft>
                <a:buNone/>
              </a:pPr>
              <a:r>
                <a:rPr lang="en-US" sz="1700" kern="1200"/>
                <a:t>That’s not uncommon. Most lower-priced vendors either:</a:t>
              </a:r>
              <a:endParaRPr lang="en-US" sz="1700"/>
            </a:p>
            <a:p>
              <a:pPr lvl="0">
                <a:buFont typeface="Arial" panose="020B0604020202020204" pitchFamily="34" charset="0"/>
                <a:buChar char="•"/>
              </a:pPr>
              <a:r>
                <a:rPr lang="en-US" sz="1600"/>
                <a:t> Don’t include a well-rounded team for project management, SME interviews, editorial review, or compliance. </a:t>
              </a:r>
            </a:p>
            <a:p>
              <a:pPr lvl="0"/>
              <a:endParaRPr lang="en-US" sz="1600"/>
            </a:p>
            <a:p>
              <a:pPr lvl="0">
                <a:buFont typeface="Arial" panose="020B0604020202020204" pitchFamily="34" charset="0"/>
                <a:buChar char="•"/>
              </a:pPr>
              <a:r>
                <a:rPr lang="en-US" sz="1600"/>
                <a:t> Deliver just a document, not a competitive, strategic proposal.</a:t>
              </a:r>
            </a:p>
            <a:p>
              <a:pPr lvl="0"/>
              <a:endParaRPr lang="en-US" sz="1600"/>
            </a:p>
            <a:p>
              <a:pPr marL="114300" lvl="0" indent="-114300">
                <a:buFont typeface="Arial" panose="020B0604020202020204" pitchFamily="34" charset="0"/>
                <a:buChar char="•"/>
              </a:pPr>
              <a:r>
                <a:rPr lang="en-US" sz="1600"/>
                <a:t>Over-use AI</a:t>
              </a:r>
            </a:p>
          </p:txBody>
        </p:sp>
        <p:sp>
          <p:nvSpPr>
            <p:cNvPr id="10" name="Rectangle: Rounded Corners 9">
              <a:extLst>
                <a:ext uri="{FF2B5EF4-FFF2-40B4-BE49-F238E27FC236}">
                  <a16:creationId xmlns:a16="http://schemas.microsoft.com/office/drawing/2014/main" id="{33430C1B-F79F-644A-ECC0-54CBDCF23364}"/>
                </a:ext>
              </a:extLst>
            </p:cNvPr>
            <p:cNvSpPr/>
            <p:nvPr/>
          </p:nvSpPr>
          <p:spPr>
            <a:xfrm>
              <a:off x="5108534" y="4623842"/>
              <a:ext cx="6245265" cy="1596566"/>
            </a:xfrm>
            <a:prstGeom prst="roundRect">
              <a:avLst>
                <a:gd name="adj" fmla="val 10000"/>
              </a:avLst>
            </a:prstGeom>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a:lstStyle/>
            <a:p>
              <a:endParaRPr lang="en-US"/>
            </a:p>
          </p:txBody>
        </p:sp>
      </p:grpSp>
      <p:sp>
        <p:nvSpPr>
          <p:cNvPr id="14" name="Rectangle 13" descr="Office Worker">
            <a:extLst>
              <a:ext uri="{FF2B5EF4-FFF2-40B4-BE49-F238E27FC236}">
                <a16:creationId xmlns:a16="http://schemas.microsoft.com/office/drawing/2014/main" id="{D607307B-3887-4932-71B3-84A018A98097}"/>
              </a:ext>
            </a:extLst>
          </p:cNvPr>
          <p:cNvSpPr/>
          <p:nvPr/>
        </p:nvSpPr>
        <p:spPr>
          <a:xfrm>
            <a:off x="5846630" y="2249045"/>
            <a:ext cx="741234" cy="741234"/>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5" name="Rectangle 14" descr="Handshake">
            <a:extLst>
              <a:ext uri="{FF2B5EF4-FFF2-40B4-BE49-F238E27FC236}">
                <a16:creationId xmlns:a16="http://schemas.microsoft.com/office/drawing/2014/main" id="{9F75C17E-9D39-9E54-C35B-226B7E93ECB6}"/>
              </a:ext>
            </a:extLst>
          </p:cNvPr>
          <p:cNvSpPr/>
          <p:nvPr/>
        </p:nvSpPr>
        <p:spPr>
          <a:xfrm>
            <a:off x="5725383" y="5096038"/>
            <a:ext cx="741234" cy="741234"/>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6" name="Freeform: Shape 15">
            <a:extLst>
              <a:ext uri="{FF2B5EF4-FFF2-40B4-BE49-F238E27FC236}">
                <a16:creationId xmlns:a16="http://schemas.microsoft.com/office/drawing/2014/main" id="{587BCC13-F822-DA3F-17AB-30F89AAEC3A8}"/>
              </a:ext>
            </a:extLst>
          </p:cNvPr>
          <p:cNvSpPr/>
          <p:nvPr/>
        </p:nvSpPr>
        <p:spPr>
          <a:xfrm>
            <a:off x="7017791" y="4876251"/>
            <a:ext cx="4401230" cy="1233201"/>
          </a:xfrm>
          <a:custGeom>
            <a:avLst/>
            <a:gdLst>
              <a:gd name="csX0" fmla="*/ 0 w 4401230"/>
              <a:gd name="csY0" fmla="*/ 0 h 1596566"/>
              <a:gd name="csX1" fmla="*/ 4401230 w 4401230"/>
              <a:gd name="csY1" fmla="*/ 0 h 1596566"/>
              <a:gd name="csX2" fmla="*/ 4401230 w 4401230"/>
              <a:gd name="csY2" fmla="*/ 1596566 h 1596566"/>
              <a:gd name="csX3" fmla="*/ 0 w 4401230"/>
              <a:gd name="csY3" fmla="*/ 1596566 h 1596566"/>
              <a:gd name="csX4" fmla="*/ 0 w 4401230"/>
              <a:gd name="csY4" fmla="*/ 0 h 1596566"/>
            </a:gdLst>
            <a:ahLst/>
            <a:cxnLst>
              <a:cxn ang="0">
                <a:pos x="csX0" y="csY0"/>
              </a:cxn>
              <a:cxn ang="0">
                <a:pos x="csX1" y="csY1"/>
              </a:cxn>
              <a:cxn ang="0">
                <a:pos x="csX2" y="csY2"/>
              </a:cxn>
              <a:cxn ang="0">
                <a:pos x="csX3" y="csY3"/>
              </a:cxn>
              <a:cxn ang="0">
                <a:pos x="csX4" y="csY4"/>
              </a:cxn>
            </a:cxnLst>
            <a:rect l="l" t="t" r="r" b="b"/>
            <a:pathLst>
              <a:path w="4401230" h="1596566">
                <a:moveTo>
                  <a:pt x="0" y="0"/>
                </a:moveTo>
                <a:lnTo>
                  <a:pt x="4401230" y="0"/>
                </a:lnTo>
                <a:lnTo>
                  <a:pt x="4401230" y="1596566"/>
                </a:lnTo>
                <a:lnTo>
                  <a:pt x="0" y="159656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68970" tIns="168970" rIns="168970" bIns="168970" numCol="1" spcCol="1270" anchor="ctr" anchorCtr="0">
            <a:noAutofit/>
          </a:bodyPr>
          <a:lstStyle/>
          <a:p>
            <a:pPr marL="0" lvl="0" indent="0" algn="l" defTabSz="755650">
              <a:lnSpc>
                <a:spcPct val="100000"/>
              </a:lnSpc>
              <a:spcBef>
                <a:spcPct val="0"/>
              </a:spcBef>
              <a:spcAft>
                <a:spcPct val="35000"/>
              </a:spcAft>
              <a:buNone/>
            </a:pPr>
            <a:r>
              <a:rPr lang="en-US" sz="1600" dirty="0"/>
              <a:t>Our clients come to us because they can’t afford a proposal that doesn’t win, or doesn’t align for them to win in the future</a:t>
            </a:r>
          </a:p>
        </p:txBody>
      </p:sp>
    </p:spTree>
    <p:extLst>
      <p:ext uri="{BB962C8B-B14F-4D97-AF65-F5344CB8AC3E}">
        <p14:creationId xmlns:p14="http://schemas.microsoft.com/office/powerpoint/2010/main" val="38407776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380F3-FBED-3CDF-FB2E-5D59224B8F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419756-9BE2-766D-7F42-BCABCB03791A}"/>
              </a:ext>
            </a:extLst>
          </p:cNvPr>
          <p:cNvSpPr>
            <a:spLocks noGrp="1"/>
          </p:cNvSpPr>
          <p:nvPr>
            <p:ph type="title"/>
          </p:nvPr>
        </p:nvSpPr>
        <p:spPr>
          <a:xfrm>
            <a:off x="479394" y="1070800"/>
            <a:ext cx="3939688" cy="5583126"/>
          </a:xfrm>
        </p:spPr>
        <p:txBody>
          <a:bodyPr>
            <a:normAutofit/>
          </a:bodyPr>
          <a:lstStyle/>
          <a:p>
            <a:pPr algn="r"/>
            <a:r>
              <a:rPr lang="en-US" sz="5400" dirty="0"/>
              <a:t>Objection 5: We’re not sure the ROI is there</a:t>
            </a:r>
          </a:p>
        </p:txBody>
      </p:sp>
      <p:grpSp>
        <p:nvGrpSpPr>
          <p:cNvPr id="3" name="Group 2">
            <a:extLst>
              <a:ext uri="{FF2B5EF4-FFF2-40B4-BE49-F238E27FC236}">
                <a16:creationId xmlns:a16="http://schemas.microsoft.com/office/drawing/2014/main" id="{80429F76-F635-C276-C017-33495E77CC68}"/>
              </a:ext>
            </a:extLst>
          </p:cNvPr>
          <p:cNvGrpSpPr/>
          <p:nvPr/>
        </p:nvGrpSpPr>
        <p:grpSpPr>
          <a:xfrm>
            <a:off x="5189365" y="1567599"/>
            <a:ext cx="6245265" cy="3722802"/>
            <a:chOff x="5148950" y="985042"/>
            <a:chExt cx="6245265" cy="3217610"/>
          </a:xfrm>
        </p:grpSpPr>
        <p:sp>
          <p:nvSpPr>
            <p:cNvPr id="4" name="Rectangle: Rounded Corners 3">
              <a:extLst>
                <a:ext uri="{FF2B5EF4-FFF2-40B4-BE49-F238E27FC236}">
                  <a16:creationId xmlns:a16="http://schemas.microsoft.com/office/drawing/2014/main" id="{9D336CAF-CFB6-BF50-C47E-4B819A841955}"/>
                </a:ext>
              </a:extLst>
            </p:cNvPr>
            <p:cNvSpPr/>
            <p:nvPr/>
          </p:nvSpPr>
          <p:spPr>
            <a:xfrm>
              <a:off x="5148950" y="985042"/>
              <a:ext cx="6245265" cy="3217610"/>
            </a:xfrm>
            <a:prstGeom prst="roundRect">
              <a:avLst>
                <a:gd name="adj" fmla="val 10000"/>
              </a:avLst>
            </a:prstGeom>
          </p:spPr>
          <p:style>
            <a:lnRef idx="0">
              <a:schemeClr val="dk1">
                <a:hueOff val="0"/>
                <a:satOff val="0"/>
                <a:lumOff val="0"/>
                <a:alphaOff val="0"/>
              </a:schemeClr>
            </a:lnRef>
            <a:fillRef idx="1">
              <a:schemeClr val="bg1">
                <a:lumMod val="95000"/>
                <a:hueOff val="0"/>
                <a:satOff val="0"/>
                <a:lumOff val="0"/>
                <a:alphaOff val="0"/>
              </a:schemeClr>
            </a:fillRef>
            <a:effectRef idx="0">
              <a:schemeClr val="bg1">
                <a:lumMod val="95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6" name="Freeform: Shape 5">
              <a:extLst>
                <a:ext uri="{FF2B5EF4-FFF2-40B4-BE49-F238E27FC236}">
                  <a16:creationId xmlns:a16="http://schemas.microsoft.com/office/drawing/2014/main" id="{742D033F-89D5-DA9A-415A-D291E5D2D5D5}"/>
                </a:ext>
              </a:extLst>
            </p:cNvPr>
            <p:cNvSpPr/>
            <p:nvPr/>
          </p:nvSpPr>
          <p:spPr>
            <a:xfrm>
              <a:off x="6668553" y="1071481"/>
              <a:ext cx="4685246" cy="2954909"/>
            </a:xfrm>
            <a:custGeom>
              <a:avLst/>
              <a:gdLst>
                <a:gd name="csX0" fmla="*/ 0 w 4401230"/>
                <a:gd name="csY0" fmla="*/ 0 h 1596566"/>
                <a:gd name="csX1" fmla="*/ 4401230 w 4401230"/>
                <a:gd name="csY1" fmla="*/ 0 h 1596566"/>
                <a:gd name="csX2" fmla="*/ 4401230 w 4401230"/>
                <a:gd name="csY2" fmla="*/ 1596566 h 1596566"/>
                <a:gd name="csX3" fmla="*/ 0 w 4401230"/>
                <a:gd name="csY3" fmla="*/ 1596566 h 1596566"/>
                <a:gd name="csX4" fmla="*/ 0 w 4401230"/>
                <a:gd name="csY4" fmla="*/ 0 h 1596566"/>
              </a:gdLst>
              <a:ahLst/>
              <a:cxnLst>
                <a:cxn ang="0">
                  <a:pos x="csX0" y="csY0"/>
                </a:cxn>
                <a:cxn ang="0">
                  <a:pos x="csX1" y="csY1"/>
                </a:cxn>
                <a:cxn ang="0">
                  <a:pos x="csX2" y="csY2"/>
                </a:cxn>
                <a:cxn ang="0">
                  <a:pos x="csX3" y="csY3"/>
                </a:cxn>
                <a:cxn ang="0">
                  <a:pos x="csX4" y="csY4"/>
                </a:cxn>
              </a:cxnLst>
              <a:rect l="l" t="t" r="r" b="b"/>
              <a:pathLst>
                <a:path w="4401230" h="1596566">
                  <a:moveTo>
                    <a:pt x="0" y="0"/>
                  </a:moveTo>
                  <a:lnTo>
                    <a:pt x="4401230" y="0"/>
                  </a:lnTo>
                  <a:lnTo>
                    <a:pt x="4401230" y="1596566"/>
                  </a:lnTo>
                  <a:lnTo>
                    <a:pt x="0" y="1596566"/>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168970" tIns="168970" rIns="168970" bIns="168970" numCol="1" spcCol="1270" anchor="ctr" anchorCtr="0">
              <a:noAutofit/>
            </a:bodyPr>
            <a:lstStyle/>
            <a:p>
              <a:r>
                <a:rPr lang="en-US" dirty="0"/>
                <a:t>If this opportunity is worth $___ to your organization, the question becomes:</a:t>
              </a:r>
            </a:p>
            <a:p>
              <a:endParaRPr lang="en-US" dirty="0"/>
            </a:p>
            <a:p>
              <a:pPr marL="742950" lvl="1" indent="-285750">
                <a:buFont typeface="Arial" panose="020B0604020202020204" pitchFamily="34" charset="0"/>
                <a:buChar char="•"/>
              </a:pPr>
              <a:r>
                <a:rPr lang="en-US" dirty="0"/>
                <a:t>What is the cost of submitting a mediocre proposal?</a:t>
              </a:r>
            </a:p>
            <a:p>
              <a:pPr marL="742950" lvl="1" indent="-285750">
                <a:buFont typeface="Arial" panose="020B0604020202020204" pitchFamily="34" charset="0"/>
                <a:buChar char="•"/>
              </a:pPr>
              <a:r>
                <a:rPr lang="en-US" dirty="0"/>
                <a:t>Most clients see a single win pay for years of investment in proposal development</a:t>
              </a:r>
            </a:p>
            <a:p>
              <a:pPr marL="742950" lvl="1" indent="-285750">
                <a:buFont typeface="Arial" panose="020B0604020202020204" pitchFamily="34" charset="0"/>
                <a:buChar char="•"/>
              </a:pPr>
              <a:r>
                <a:rPr lang="en-US" dirty="0"/>
                <a:t>Our job is to make sure you’re submitting the highest-quality, most competitive version of your organization possible</a:t>
              </a:r>
            </a:p>
          </p:txBody>
        </p:sp>
      </p:grpSp>
      <p:sp>
        <p:nvSpPr>
          <p:cNvPr id="5" name="Rectangle 4" descr="Dollar">
            <a:extLst>
              <a:ext uri="{FF2B5EF4-FFF2-40B4-BE49-F238E27FC236}">
                <a16:creationId xmlns:a16="http://schemas.microsoft.com/office/drawing/2014/main" id="{743D74CC-89F5-A6A6-0699-5DBF77D9B67F}"/>
              </a:ext>
            </a:extLst>
          </p:cNvPr>
          <p:cNvSpPr/>
          <p:nvPr/>
        </p:nvSpPr>
        <p:spPr>
          <a:xfrm>
            <a:off x="5656944" y="3076628"/>
            <a:ext cx="878111" cy="791428"/>
          </a:xfrm>
          <a:prstGeom prst="rect">
            <a:avLst/>
          </a:prstGeom>
          <a: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p:spPr>
        <p:style>
          <a:lnRef idx="2">
            <a:scrgbClr r="0" g="0" b="0"/>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Tree>
    <p:extLst>
      <p:ext uri="{BB962C8B-B14F-4D97-AF65-F5344CB8AC3E}">
        <p14:creationId xmlns:p14="http://schemas.microsoft.com/office/powerpoint/2010/main" val="28382395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ink xmlns="b84bd6f0-b398-4376-98cb-965c75119255">
      <Url xsi:nil="true"/>
      <Description xsi:nil="true"/>
    </Link>
    <FolderID xmlns="b84bd6f0-b398-4376-98cb-965c75119255" xsi:nil="true"/>
    <IndexNotes xmlns="b84bd6f0-b398-4376-98cb-965c75119255" xsi:nil="true"/>
    <TaxCatchAll xmlns="552914ee-e64f-4582-b9a1-99fdf20bc0e0" xsi:nil="true"/>
    <lcf76f155ced4ddcb4097134ff3c332f xmlns="b84bd6f0-b398-4376-98cb-965c75119255">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3E9FF52EB6D854AB561DEBF8EA02427" ma:contentTypeVersion="21" ma:contentTypeDescription="Create a new document." ma:contentTypeScope="" ma:versionID="75d23e90778dd441fd4f6e0162e50a4d">
  <xsd:schema xmlns:xsd="http://www.w3.org/2001/XMLSchema" xmlns:xs="http://www.w3.org/2001/XMLSchema" xmlns:p="http://schemas.microsoft.com/office/2006/metadata/properties" xmlns:ns2="552914ee-e64f-4582-b9a1-99fdf20bc0e0" xmlns:ns3="b84bd6f0-b398-4376-98cb-965c75119255" targetNamespace="http://schemas.microsoft.com/office/2006/metadata/properties" ma:root="true" ma:fieldsID="da8c49745affb346c3c3b93acdf4eb7a" ns2:_="" ns3:_="">
    <xsd:import namespace="552914ee-e64f-4582-b9a1-99fdf20bc0e0"/>
    <xsd:import namespace="b84bd6f0-b398-4376-98cb-965c7511925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ObjectDetectorVersions"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LengthInSeconds" minOccurs="0"/>
                <xsd:element ref="ns3:MediaServiceDateTaken" minOccurs="0"/>
                <xsd:element ref="ns3:MediaServiceLocation" minOccurs="0"/>
                <xsd:element ref="ns3:Link" minOccurs="0"/>
                <xsd:element ref="ns3:MediaServiceSearchProperties" minOccurs="0"/>
                <xsd:element ref="ns3:FolderID" minOccurs="0"/>
                <xsd:element ref="ns3:IndexNote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52914ee-e64f-4582-b9a1-99fdf20bc0e0"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86543f0e-33fc-4d99-bb33-9ab4fab2a159}" ma:internalName="TaxCatchAll" ma:showField="CatchAllData" ma:web="552914ee-e64f-4582-b9a1-99fdf20bc0e0">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b84bd6f0-b398-4376-98cb-965c7511925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dfccae0a-b261-4970-ad9a-9d76fc0e4a80"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Link" ma:index="22" nillable="true" ma:displayName="Link" ma:format="Hyperlink" ma:internalName="Link">
      <xsd:complexType>
        <xsd:complexContent>
          <xsd:extension base="dms:URL">
            <xsd:sequence>
              <xsd:element name="Url" type="dms:ValidUrl" minOccurs="0" nillable="true"/>
              <xsd:element name="Description" type="xsd:string" nillable="true"/>
            </xsd:sequence>
          </xsd:extension>
        </xsd:complexContent>
      </xsd:complexType>
    </xsd:element>
    <xsd:element name="MediaServiceSearchProperties" ma:index="23" nillable="true" ma:displayName="MediaServiceSearchProperties" ma:hidden="true" ma:internalName="MediaServiceSearchProperties" ma:readOnly="true">
      <xsd:simpleType>
        <xsd:restriction base="dms:Note"/>
      </xsd:simpleType>
    </xsd:element>
    <xsd:element name="FolderID" ma:index="24" nillable="true" ma:displayName="Folder ID" ma:format="Dropdown" ma:indexed="true" ma:internalName="FolderID">
      <xsd:simpleType>
        <xsd:restriction base="dms:Text">
          <xsd:maxLength value="7"/>
        </xsd:restriction>
      </xsd:simpleType>
    </xsd:element>
    <xsd:element name="IndexNotes" ma:index="25" nillable="true" ma:displayName="Index Notes" ma:format="Dropdown" ma:internalName="IndexNotes">
      <xsd:simpleType>
        <xsd:restriction base="dms:Note">
          <xsd:maxLength value="255"/>
        </xsd:restriction>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520BF15-E140-4239-8397-AC5A565C1E18}">
  <ds:schemaRefs>
    <ds:schemaRef ds:uri="http://schemas.microsoft.com/office/2006/metadata/properties"/>
    <ds:schemaRef ds:uri="http://schemas.microsoft.com/office/infopath/2007/PartnerControls"/>
    <ds:schemaRef ds:uri="b84bd6f0-b398-4376-98cb-965c75119255"/>
    <ds:schemaRef ds:uri="552914ee-e64f-4582-b9a1-99fdf20bc0e0"/>
  </ds:schemaRefs>
</ds:datastoreItem>
</file>

<file path=customXml/itemProps2.xml><?xml version="1.0" encoding="utf-8"?>
<ds:datastoreItem xmlns:ds="http://schemas.openxmlformats.org/officeDocument/2006/customXml" ds:itemID="{12D2855D-84FC-4327-89CF-BCAE7DB92E0F}">
  <ds:schemaRefs>
    <ds:schemaRef ds:uri="http://schemas.microsoft.com/sharepoint/v3/contenttype/forms"/>
  </ds:schemaRefs>
</ds:datastoreItem>
</file>

<file path=customXml/itemProps3.xml><?xml version="1.0" encoding="utf-8"?>
<ds:datastoreItem xmlns:ds="http://schemas.openxmlformats.org/officeDocument/2006/customXml" ds:itemID="{FF1B68C5-E74E-4A49-A2F7-83C76E96268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52914ee-e64f-4582-b9a1-99fdf20bc0e0"/>
    <ds:schemaRef ds:uri="b84bd6f0-b398-4376-98cb-965c7511925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17737</TotalTime>
  <Words>3079</Words>
  <Application>Microsoft Office PowerPoint</Application>
  <PresentationFormat>Widescreen</PresentationFormat>
  <Paragraphs>258</Paragraphs>
  <Slides>23</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Aptos Display</vt:lpstr>
      <vt:lpstr>Arial</vt:lpstr>
      <vt:lpstr>Helvetica</vt:lpstr>
      <vt:lpstr>Wingdings</vt:lpstr>
      <vt:lpstr>Office Theme</vt:lpstr>
      <vt:lpstr>Wine &amp; Champagne Client Descriptions</vt:lpstr>
      <vt:lpstr>Wine vs Champagne Clients</vt:lpstr>
      <vt:lpstr>Wine Clients</vt:lpstr>
      <vt:lpstr>Wine Clients DESCRIPTION</vt:lpstr>
      <vt:lpstr>WINE Clients OFFERINGS</vt:lpstr>
      <vt:lpstr>Champagne Clients</vt:lpstr>
      <vt:lpstr>Champagne Clients DESCRIPTION</vt:lpstr>
      <vt:lpstr>Champagne Clients OFFERINGS</vt:lpstr>
      <vt:lpstr>Full Response Mgmt: What They Get</vt:lpstr>
      <vt:lpstr>Full Response Mgmt: New Pricing</vt:lpstr>
      <vt:lpstr>DOWNSell #1: Content Refinement (Evaluator-Aligned Rewriting)</vt:lpstr>
      <vt:lpstr>DOWNSell #1: Content Refinement Pricing</vt:lpstr>
      <vt:lpstr>DOWNSell #2: Strategic &amp; Compliance Review</vt:lpstr>
      <vt:lpstr>DOWNSell #2: Strategic &amp; Compliance Review Pricing</vt:lpstr>
      <vt:lpstr>Mindset Shifts</vt:lpstr>
      <vt:lpstr>Mindset Shifts, continued</vt:lpstr>
      <vt:lpstr>Positioning Statement Default Script</vt:lpstr>
      <vt:lpstr>Context Anchoring</vt:lpstr>
      <vt:lpstr>Objection 1: Price is higher than we expected</vt:lpstr>
      <vt:lpstr>Objection 2: Can you give a discount? </vt:lpstr>
      <vt:lpstr>Objection 3: We have internal people who can do most of it</vt:lpstr>
      <vt:lpstr>Objection 4: We got a lower quote from another firm</vt:lpstr>
      <vt:lpstr>Objection 5: We’re not sure the ROI is there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Lisa Rehurek | The RFP Success Company</dc:creator>
  <cp:lastModifiedBy>Lisa Rehurek | The RFP Success Company</cp:lastModifiedBy>
  <cp:revision>2</cp:revision>
  <dcterms:created xsi:type="dcterms:W3CDTF">2026-01-05T23:48:58Z</dcterms:created>
  <dcterms:modified xsi:type="dcterms:W3CDTF">2026-02-16T23:55:48Z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0x010100A3E9FF52EB6D854AB561DEBF8EA02427</vt:lpwstr>
  </property>
  <property fmtid="{D5CDD505-2E9C-101B-9397-08002B2CF9AE}" pid="3" name="MediaServiceImageTags">
    <vt:lpwstr/>
  </property>
</Properties>
</file>